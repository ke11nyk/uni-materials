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265" r:id="rId11"/>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82" d="100"/>
          <a:sy n="82" d="100"/>
        </p:scale>
        <p:origin x="350"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83183363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6.png"/><Relationship Id="rId13" Type="http://schemas.openxmlformats.org/officeDocument/2006/relationships/image" Target="../media/image11.png"/><Relationship Id="rId3" Type="http://schemas.openxmlformats.org/officeDocument/2006/relationships/image" Target="../media/image1.png"/><Relationship Id="rId7" Type="http://schemas.openxmlformats.org/officeDocument/2006/relationships/image" Target="../media/image5.png"/><Relationship Id="rId12" Type="http://schemas.openxmlformats.org/officeDocument/2006/relationships/image" Target="../media/image10.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4.png"/><Relationship Id="rId11" Type="http://schemas.openxmlformats.org/officeDocument/2006/relationships/image" Target="../media/image9.png"/><Relationship Id="rId5" Type="http://schemas.openxmlformats.org/officeDocument/2006/relationships/image" Target="../media/image3.png"/><Relationship Id="rId10" Type="http://schemas.openxmlformats.org/officeDocument/2006/relationships/image" Target="../media/image8.png"/><Relationship Id="rId4" Type="http://schemas.openxmlformats.org/officeDocument/2006/relationships/image" Target="../media/image2.png"/><Relationship Id="rId9" Type="http://schemas.openxmlformats.org/officeDocument/2006/relationships/image" Target="../media/image7.png"/></Relationships>
</file>

<file path=ppt/slides/_rels/slide2.xml.rels><?xml version="1.0" encoding="UTF-8" standalone="yes"?>
<Relationships xmlns="http://schemas.openxmlformats.org/package/2006/relationships"><Relationship Id="rId8" Type="http://schemas.openxmlformats.org/officeDocument/2006/relationships/image" Target="../media/image17.png"/><Relationship Id="rId3" Type="http://schemas.openxmlformats.org/officeDocument/2006/relationships/image" Target="../media/image12.png"/><Relationship Id="rId7" Type="http://schemas.openxmlformats.org/officeDocument/2006/relationships/image" Target="../media/image16.png"/><Relationship Id="rId12" Type="http://schemas.openxmlformats.org/officeDocument/2006/relationships/image" Target="../media/image21.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15.png"/><Relationship Id="rId11" Type="http://schemas.openxmlformats.org/officeDocument/2006/relationships/image" Target="../media/image20.png"/><Relationship Id="rId5" Type="http://schemas.openxmlformats.org/officeDocument/2006/relationships/image" Target="../media/image14.png"/><Relationship Id="rId10" Type="http://schemas.openxmlformats.org/officeDocument/2006/relationships/image" Target="../media/image19.png"/><Relationship Id="rId4" Type="http://schemas.openxmlformats.org/officeDocument/2006/relationships/image" Target="../media/image13.png"/><Relationship Id="rId9" Type="http://schemas.openxmlformats.org/officeDocument/2006/relationships/image" Target="../media/image18.png"/></Relationships>
</file>

<file path=ppt/slides/_rels/slide3.xml.rels><?xml version="1.0" encoding="UTF-8" standalone="yes"?>
<Relationships xmlns="http://schemas.openxmlformats.org/package/2006/relationships"><Relationship Id="rId8" Type="http://schemas.openxmlformats.org/officeDocument/2006/relationships/image" Target="../media/image26.png"/><Relationship Id="rId13" Type="http://schemas.openxmlformats.org/officeDocument/2006/relationships/image" Target="../media/image31.png"/><Relationship Id="rId18" Type="http://schemas.openxmlformats.org/officeDocument/2006/relationships/image" Target="../media/image36.png"/><Relationship Id="rId3" Type="http://schemas.openxmlformats.org/officeDocument/2006/relationships/image" Target="../media/image12.png"/><Relationship Id="rId7" Type="http://schemas.openxmlformats.org/officeDocument/2006/relationships/image" Target="../media/image25.png"/><Relationship Id="rId12" Type="http://schemas.openxmlformats.org/officeDocument/2006/relationships/image" Target="../media/image30.png"/><Relationship Id="rId17" Type="http://schemas.openxmlformats.org/officeDocument/2006/relationships/image" Target="../media/image35.png"/><Relationship Id="rId2" Type="http://schemas.openxmlformats.org/officeDocument/2006/relationships/notesSlide" Target="../notesSlides/notesSlide3.xml"/><Relationship Id="rId16" Type="http://schemas.openxmlformats.org/officeDocument/2006/relationships/image" Target="../media/image34.png"/><Relationship Id="rId20" Type="http://schemas.openxmlformats.org/officeDocument/2006/relationships/image" Target="../media/image38.png"/><Relationship Id="rId1" Type="http://schemas.openxmlformats.org/officeDocument/2006/relationships/slideLayout" Target="../slideLayouts/slideLayout1.xml"/><Relationship Id="rId6" Type="http://schemas.openxmlformats.org/officeDocument/2006/relationships/image" Target="../media/image24.png"/><Relationship Id="rId11" Type="http://schemas.openxmlformats.org/officeDocument/2006/relationships/image" Target="../media/image29.png"/><Relationship Id="rId5" Type="http://schemas.openxmlformats.org/officeDocument/2006/relationships/image" Target="../media/image23.png"/><Relationship Id="rId15" Type="http://schemas.openxmlformats.org/officeDocument/2006/relationships/image" Target="../media/image33.png"/><Relationship Id="rId10" Type="http://schemas.openxmlformats.org/officeDocument/2006/relationships/image" Target="../media/image28.png"/><Relationship Id="rId19" Type="http://schemas.openxmlformats.org/officeDocument/2006/relationships/image" Target="../media/image37.png"/><Relationship Id="rId4" Type="http://schemas.openxmlformats.org/officeDocument/2006/relationships/image" Target="../media/image22.png"/><Relationship Id="rId9" Type="http://schemas.openxmlformats.org/officeDocument/2006/relationships/image" Target="../media/image27.png"/><Relationship Id="rId14" Type="http://schemas.openxmlformats.org/officeDocument/2006/relationships/image" Target="../media/image32.png"/></Relationships>
</file>

<file path=ppt/slides/_rels/slide4.xml.rels><?xml version="1.0" encoding="UTF-8" standalone="yes"?>
<Relationships xmlns="http://schemas.openxmlformats.org/package/2006/relationships"><Relationship Id="rId8" Type="http://schemas.openxmlformats.org/officeDocument/2006/relationships/image" Target="../media/image42.png"/><Relationship Id="rId13" Type="http://schemas.openxmlformats.org/officeDocument/2006/relationships/image" Target="../media/image47.png"/><Relationship Id="rId3" Type="http://schemas.openxmlformats.org/officeDocument/2006/relationships/image" Target="../media/image12.png"/><Relationship Id="rId7" Type="http://schemas.openxmlformats.org/officeDocument/2006/relationships/image" Target="../media/image41.png"/><Relationship Id="rId12" Type="http://schemas.openxmlformats.org/officeDocument/2006/relationships/image" Target="../media/image46.pn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40.png"/><Relationship Id="rId11" Type="http://schemas.openxmlformats.org/officeDocument/2006/relationships/image" Target="../media/image45.png"/><Relationship Id="rId5" Type="http://schemas.openxmlformats.org/officeDocument/2006/relationships/image" Target="../media/image39.png"/><Relationship Id="rId15" Type="http://schemas.openxmlformats.org/officeDocument/2006/relationships/image" Target="../media/image49.png"/><Relationship Id="rId10" Type="http://schemas.openxmlformats.org/officeDocument/2006/relationships/image" Target="../media/image44.png"/><Relationship Id="rId4" Type="http://schemas.openxmlformats.org/officeDocument/2006/relationships/image" Target="../media/image22.png"/><Relationship Id="rId9" Type="http://schemas.openxmlformats.org/officeDocument/2006/relationships/image" Target="../media/image43.png"/><Relationship Id="rId14" Type="http://schemas.openxmlformats.org/officeDocument/2006/relationships/image" Target="../media/image48.png"/></Relationships>
</file>

<file path=ppt/slides/_rels/slide5.xml.rels><?xml version="1.0" encoding="UTF-8" standalone="yes"?>
<Relationships xmlns="http://schemas.openxmlformats.org/package/2006/relationships"><Relationship Id="rId8" Type="http://schemas.openxmlformats.org/officeDocument/2006/relationships/image" Target="../media/image54.png"/><Relationship Id="rId13" Type="http://schemas.openxmlformats.org/officeDocument/2006/relationships/image" Target="../media/image59.png"/><Relationship Id="rId18" Type="http://schemas.openxmlformats.org/officeDocument/2006/relationships/image" Target="../media/image64.png"/><Relationship Id="rId3" Type="http://schemas.openxmlformats.org/officeDocument/2006/relationships/image" Target="../media/image12.png"/><Relationship Id="rId7" Type="http://schemas.openxmlformats.org/officeDocument/2006/relationships/image" Target="../media/image53.png"/><Relationship Id="rId12" Type="http://schemas.openxmlformats.org/officeDocument/2006/relationships/image" Target="../media/image58.png"/><Relationship Id="rId17" Type="http://schemas.openxmlformats.org/officeDocument/2006/relationships/image" Target="../media/image63.png"/><Relationship Id="rId2" Type="http://schemas.openxmlformats.org/officeDocument/2006/relationships/notesSlide" Target="../notesSlides/notesSlide5.xml"/><Relationship Id="rId16" Type="http://schemas.openxmlformats.org/officeDocument/2006/relationships/image" Target="../media/image62.png"/><Relationship Id="rId1" Type="http://schemas.openxmlformats.org/officeDocument/2006/relationships/slideLayout" Target="../slideLayouts/slideLayout1.xml"/><Relationship Id="rId6" Type="http://schemas.openxmlformats.org/officeDocument/2006/relationships/image" Target="../media/image52.png"/><Relationship Id="rId11" Type="http://schemas.openxmlformats.org/officeDocument/2006/relationships/image" Target="../media/image57.png"/><Relationship Id="rId5" Type="http://schemas.openxmlformats.org/officeDocument/2006/relationships/image" Target="../media/image51.png"/><Relationship Id="rId15" Type="http://schemas.openxmlformats.org/officeDocument/2006/relationships/image" Target="../media/image61.png"/><Relationship Id="rId10" Type="http://schemas.openxmlformats.org/officeDocument/2006/relationships/image" Target="../media/image56.png"/><Relationship Id="rId4" Type="http://schemas.openxmlformats.org/officeDocument/2006/relationships/image" Target="../media/image50.png"/><Relationship Id="rId9" Type="http://schemas.openxmlformats.org/officeDocument/2006/relationships/image" Target="../media/image55.png"/><Relationship Id="rId14" Type="http://schemas.openxmlformats.org/officeDocument/2006/relationships/image" Target="../media/image60.png"/></Relationships>
</file>

<file path=ppt/slides/_rels/slide6.xml.rels><?xml version="1.0" encoding="UTF-8" standalone="yes"?>
<Relationships xmlns="http://schemas.openxmlformats.org/package/2006/relationships"><Relationship Id="rId8" Type="http://schemas.openxmlformats.org/officeDocument/2006/relationships/image" Target="../media/image69.png"/><Relationship Id="rId13" Type="http://schemas.openxmlformats.org/officeDocument/2006/relationships/image" Target="../media/image74.png"/><Relationship Id="rId3" Type="http://schemas.openxmlformats.org/officeDocument/2006/relationships/image" Target="../media/image12.png"/><Relationship Id="rId7" Type="http://schemas.openxmlformats.org/officeDocument/2006/relationships/image" Target="../media/image68.png"/><Relationship Id="rId12" Type="http://schemas.openxmlformats.org/officeDocument/2006/relationships/image" Target="../media/image73.png"/><Relationship Id="rId2" Type="http://schemas.openxmlformats.org/officeDocument/2006/relationships/notesSlide" Target="../notesSlides/notesSlide6.xml"/><Relationship Id="rId16" Type="http://schemas.openxmlformats.org/officeDocument/2006/relationships/image" Target="../media/image77.png"/><Relationship Id="rId1" Type="http://schemas.openxmlformats.org/officeDocument/2006/relationships/slideLayout" Target="../slideLayouts/slideLayout1.xml"/><Relationship Id="rId6" Type="http://schemas.openxmlformats.org/officeDocument/2006/relationships/image" Target="../media/image67.png"/><Relationship Id="rId11" Type="http://schemas.openxmlformats.org/officeDocument/2006/relationships/image" Target="../media/image72.png"/><Relationship Id="rId5" Type="http://schemas.openxmlformats.org/officeDocument/2006/relationships/image" Target="../media/image66.png"/><Relationship Id="rId15" Type="http://schemas.openxmlformats.org/officeDocument/2006/relationships/image" Target="../media/image76.png"/><Relationship Id="rId10" Type="http://schemas.openxmlformats.org/officeDocument/2006/relationships/image" Target="../media/image71.png"/><Relationship Id="rId4" Type="http://schemas.openxmlformats.org/officeDocument/2006/relationships/image" Target="../media/image65.png"/><Relationship Id="rId9" Type="http://schemas.openxmlformats.org/officeDocument/2006/relationships/image" Target="../media/image70.png"/><Relationship Id="rId14" Type="http://schemas.openxmlformats.org/officeDocument/2006/relationships/image" Target="../media/image75.png"/></Relationships>
</file>

<file path=ppt/slides/_rels/slide7.xml.rels><?xml version="1.0" encoding="UTF-8" standalone="yes"?>
<Relationships xmlns="http://schemas.openxmlformats.org/package/2006/relationships"><Relationship Id="rId8" Type="http://schemas.openxmlformats.org/officeDocument/2006/relationships/image" Target="../media/image82.png"/><Relationship Id="rId13" Type="http://schemas.openxmlformats.org/officeDocument/2006/relationships/image" Target="../media/image87.png"/><Relationship Id="rId3" Type="http://schemas.openxmlformats.org/officeDocument/2006/relationships/image" Target="../media/image12.png"/><Relationship Id="rId7" Type="http://schemas.openxmlformats.org/officeDocument/2006/relationships/image" Target="../media/image81.png"/><Relationship Id="rId12" Type="http://schemas.openxmlformats.org/officeDocument/2006/relationships/image" Target="../media/image86.png"/><Relationship Id="rId2" Type="http://schemas.openxmlformats.org/officeDocument/2006/relationships/notesSlide" Target="../notesSlides/notesSlide7.xml"/><Relationship Id="rId16" Type="http://schemas.openxmlformats.org/officeDocument/2006/relationships/image" Target="../media/image90.png"/><Relationship Id="rId1" Type="http://schemas.openxmlformats.org/officeDocument/2006/relationships/slideLayout" Target="../slideLayouts/slideLayout1.xml"/><Relationship Id="rId6" Type="http://schemas.openxmlformats.org/officeDocument/2006/relationships/image" Target="../media/image80.png"/><Relationship Id="rId11" Type="http://schemas.openxmlformats.org/officeDocument/2006/relationships/image" Target="../media/image85.png"/><Relationship Id="rId5" Type="http://schemas.openxmlformats.org/officeDocument/2006/relationships/image" Target="../media/image79.png"/><Relationship Id="rId15" Type="http://schemas.openxmlformats.org/officeDocument/2006/relationships/image" Target="../media/image89.png"/><Relationship Id="rId10" Type="http://schemas.openxmlformats.org/officeDocument/2006/relationships/image" Target="../media/image84.png"/><Relationship Id="rId4" Type="http://schemas.openxmlformats.org/officeDocument/2006/relationships/image" Target="../media/image78.png"/><Relationship Id="rId9" Type="http://schemas.openxmlformats.org/officeDocument/2006/relationships/image" Target="../media/image83.png"/><Relationship Id="rId14" Type="http://schemas.openxmlformats.org/officeDocument/2006/relationships/image" Target="../media/image88.png"/></Relationships>
</file>

<file path=ppt/slides/_rels/slide8.xml.rels><?xml version="1.0" encoding="UTF-8" standalone="yes"?>
<Relationships xmlns="http://schemas.openxmlformats.org/package/2006/relationships"><Relationship Id="rId8" Type="http://schemas.openxmlformats.org/officeDocument/2006/relationships/image" Target="../media/image94.png"/><Relationship Id="rId13" Type="http://schemas.openxmlformats.org/officeDocument/2006/relationships/image" Target="../media/image99.png"/><Relationship Id="rId18" Type="http://schemas.openxmlformats.org/officeDocument/2006/relationships/image" Target="../media/image104.png"/><Relationship Id="rId3" Type="http://schemas.openxmlformats.org/officeDocument/2006/relationships/image" Target="../media/image12.png"/><Relationship Id="rId21" Type="http://schemas.openxmlformats.org/officeDocument/2006/relationships/image" Target="../media/image107.png"/><Relationship Id="rId7" Type="http://schemas.openxmlformats.org/officeDocument/2006/relationships/image" Target="../media/image93.png"/><Relationship Id="rId12" Type="http://schemas.openxmlformats.org/officeDocument/2006/relationships/image" Target="../media/image98.png"/><Relationship Id="rId17" Type="http://schemas.openxmlformats.org/officeDocument/2006/relationships/image" Target="../media/image103.png"/><Relationship Id="rId2" Type="http://schemas.openxmlformats.org/officeDocument/2006/relationships/notesSlide" Target="../notesSlides/notesSlide8.xml"/><Relationship Id="rId16" Type="http://schemas.openxmlformats.org/officeDocument/2006/relationships/image" Target="../media/image102.png"/><Relationship Id="rId20" Type="http://schemas.openxmlformats.org/officeDocument/2006/relationships/image" Target="../media/image106.png"/><Relationship Id="rId1" Type="http://schemas.openxmlformats.org/officeDocument/2006/relationships/slideLayout" Target="../slideLayouts/slideLayout1.xml"/><Relationship Id="rId6" Type="http://schemas.openxmlformats.org/officeDocument/2006/relationships/image" Target="../media/image92.png"/><Relationship Id="rId11" Type="http://schemas.openxmlformats.org/officeDocument/2006/relationships/image" Target="../media/image97.png"/><Relationship Id="rId5" Type="http://schemas.openxmlformats.org/officeDocument/2006/relationships/image" Target="../media/image91.png"/><Relationship Id="rId15" Type="http://schemas.openxmlformats.org/officeDocument/2006/relationships/image" Target="../media/image101.png"/><Relationship Id="rId10" Type="http://schemas.openxmlformats.org/officeDocument/2006/relationships/image" Target="../media/image96.png"/><Relationship Id="rId19" Type="http://schemas.openxmlformats.org/officeDocument/2006/relationships/image" Target="../media/image105.png"/><Relationship Id="rId4" Type="http://schemas.openxmlformats.org/officeDocument/2006/relationships/image" Target="../media/image50.png"/><Relationship Id="rId9" Type="http://schemas.openxmlformats.org/officeDocument/2006/relationships/image" Target="../media/image95.png"/><Relationship Id="rId14" Type="http://schemas.openxmlformats.org/officeDocument/2006/relationships/image" Target="../media/image100.png"/><Relationship Id="rId22" Type="http://schemas.openxmlformats.org/officeDocument/2006/relationships/image" Target="../media/image108.png"/></Relationships>
</file>

<file path=ppt/slides/_rels/slide9.xml.rels><?xml version="1.0" encoding="UTF-8" standalone="yes"?>
<Relationships xmlns="http://schemas.openxmlformats.org/package/2006/relationships"><Relationship Id="rId8" Type="http://schemas.openxmlformats.org/officeDocument/2006/relationships/image" Target="../media/image111.png"/><Relationship Id="rId13" Type="http://schemas.openxmlformats.org/officeDocument/2006/relationships/image" Target="../media/image116.png"/><Relationship Id="rId3" Type="http://schemas.openxmlformats.org/officeDocument/2006/relationships/image" Target="../media/image12.png"/><Relationship Id="rId7" Type="http://schemas.openxmlformats.org/officeDocument/2006/relationships/image" Target="../media/image19.png"/><Relationship Id="rId12" Type="http://schemas.openxmlformats.org/officeDocument/2006/relationships/image" Target="../media/image115.png"/><Relationship Id="rId2" Type="http://schemas.openxmlformats.org/officeDocument/2006/relationships/notesSlide" Target="../notesSlides/notesSlide9.xml"/><Relationship Id="rId1" Type="http://schemas.openxmlformats.org/officeDocument/2006/relationships/slideLayout" Target="../slideLayouts/slideLayout1.xml"/><Relationship Id="rId6" Type="http://schemas.openxmlformats.org/officeDocument/2006/relationships/image" Target="../media/image110.png"/><Relationship Id="rId11" Type="http://schemas.openxmlformats.org/officeDocument/2006/relationships/image" Target="../media/image114.png"/><Relationship Id="rId5" Type="http://schemas.openxmlformats.org/officeDocument/2006/relationships/image" Target="../media/image109.png"/><Relationship Id="rId15" Type="http://schemas.openxmlformats.org/officeDocument/2006/relationships/image" Target="../media/image118.png"/><Relationship Id="rId10" Type="http://schemas.openxmlformats.org/officeDocument/2006/relationships/image" Target="../media/image113.png"/><Relationship Id="rId4" Type="http://schemas.openxmlformats.org/officeDocument/2006/relationships/image" Target="../media/image50.png"/><Relationship Id="rId9" Type="http://schemas.openxmlformats.org/officeDocument/2006/relationships/image" Target="../media/image112.png"/><Relationship Id="rId14" Type="http://schemas.openxmlformats.org/officeDocument/2006/relationships/image" Target="../media/image117.png"/></Relationships>
</file>

<file path=ppt/slides/_rels/slide10.xml.rels><?xml version="1.0" encoding="UTF-8" standalone="yes"?>
<Relationships xmlns="http://schemas.openxmlformats.org/package/2006/relationships"><Relationship Id="rId8" Type="http://schemas.openxmlformats.org/officeDocument/2006/relationships/image" Target="../media/image124.png"/><Relationship Id="rId13" Type="http://schemas.openxmlformats.org/officeDocument/2006/relationships/image" Target="../media/image129.png"/><Relationship Id="rId3" Type="http://schemas.openxmlformats.org/officeDocument/2006/relationships/image" Target="../media/image119.png"/><Relationship Id="rId7" Type="http://schemas.openxmlformats.org/officeDocument/2006/relationships/image" Target="../media/image123.png"/><Relationship Id="rId12" Type="http://schemas.openxmlformats.org/officeDocument/2006/relationships/image" Target="../media/image128.png"/><Relationship Id="rId2" Type="http://schemas.openxmlformats.org/officeDocument/2006/relationships/notesSlide" Target="../notesSlides/notesSlide10.xml"/><Relationship Id="rId1" Type="http://schemas.openxmlformats.org/officeDocument/2006/relationships/slideLayout" Target="../slideLayouts/slideLayout1.xml"/><Relationship Id="rId6" Type="http://schemas.openxmlformats.org/officeDocument/2006/relationships/image" Target="../media/image122.png"/><Relationship Id="rId11" Type="http://schemas.openxmlformats.org/officeDocument/2006/relationships/image" Target="../media/image127.png"/><Relationship Id="rId5" Type="http://schemas.openxmlformats.org/officeDocument/2006/relationships/image" Target="../media/image121.png"/><Relationship Id="rId10" Type="http://schemas.openxmlformats.org/officeDocument/2006/relationships/image" Target="../media/image126.png"/><Relationship Id="rId4" Type="http://schemas.openxmlformats.org/officeDocument/2006/relationships/image" Target="../media/image120.png"/><Relationship Id="rId9" Type="http://schemas.openxmlformats.org/officeDocument/2006/relationships/image" Target="../media/image125.png"/></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2192000" cy="6858000"/>
          </a:xfrm>
          <a:prstGeom prst="rect">
            <a:avLst/>
          </a:prstGeom>
        </p:spPr>
      </p:pic>
      <p:pic>
        <p:nvPicPr>
          <p:cNvPr id="3" name="Image 1" descr="preencoded.png"/>
          <p:cNvPicPr>
            <a:picLocks noChangeAspect="1"/>
          </p:cNvPicPr>
          <p:nvPr/>
        </p:nvPicPr>
        <p:blipFill>
          <a:blip r:embed="rId4"/>
          <a:stretch>
            <a:fillRect/>
          </a:stretch>
        </p:blipFill>
        <p:spPr>
          <a:xfrm>
            <a:off x="0" y="0"/>
            <a:ext cx="2381250" cy="2381250"/>
          </a:xfrm>
          <a:prstGeom prst="rect">
            <a:avLst/>
          </a:prstGeom>
        </p:spPr>
      </p:pic>
      <p:pic>
        <p:nvPicPr>
          <p:cNvPr id="4" name="Image 2" descr="preencoded.png"/>
          <p:cNvPicPr>
            <a:picLocks noChangeAspect="1"/>
          </p:cNvPicPr>
          <p:nvPr/>
        </p:nvPicPr>
        <p:blipFill>
          <a:blip r:embed="rId5"/>
          <a:stretch>
            <a:fillRect/>
          </a:stretch>
        </p:blipFill>
        <p:spPr>
          <a:xfrm>
            <a:off x="9810750" y="4000500"/>
            <a:ext cx="1905000" cy="1905000"/>
          </a:xfrm>
          <a:prstGeom prst="rect">
            <a:avLst/>
          </a:prstGeom>
        </p:spPr>
      </p:pic>
      <p:pic>
        <p:nvPicPr>
          <p:cNvPr id="5" name="Image 3" descr="preencoded.png"/>
          <p:cNvPicPr>
            <a:picLocks noChangeAspect="1"/>
          </p:cNvPicPr>
          <p:nvPr/>
        </p:nvPicPr>
        <p:blipFill>
          <a:blip r:embed="rId6"/>
          <a:stretch>
            <a:fillRect/>
          </a:stretch>
        </p:blipFill>
        <p:spPr>
          <a:xfrm>
            <a:off x="1905000" y="5715000"/>
            <a:ext cx="1428750" cy="1428750"/>
          </a:xfrm>
          <a:prstGeom prst="rect">
            <a:avLst/>
          </a:prstGeom>
        </p:spPr>
      </p:pic>
      <p:pic>
        <p:nvPicPr>
          <p:cNvPr id="6" name="Image 4" descr="preencoded.png"/>
          <p:cNvPicPr>
            <a:picLocks noChangeAspect="1"/>
          </p:cNvPicPr>
          <p:nvPr/>
        </p:nvPicPr>
        <p:blipFill>
          <a:blip r:embed="rId7"/>
          <a:stretch>
            <a:fillRect/>
          </a:stretch>
        </p:blipFill>
        <p:spPr>
          <a:xfrm>
            <a:off x="0" y="0"/>
            <a:ext cx="12192000" cy="6858000"/>
          </a:xfrm>
          <a:prstGeom prst="rect">
            <a:avLst/>
          </a:prstGeom>
        </p:spPr>
      </p:pic>
      <p:pic>
        <p:nvPicPr>
          <p:cNvPr id="7" name="Image 5" descr="preencoded.png"/>
          <p:cNvPicPr>
            <a:picLocks noChangeAspect="1"/>
          </p:cNvPicPr>
          <p:nvPr/>
        </p:nvPicPr>
        <p:blipFill>
          <a:blip r:embed="rId8"/>
          <a:stretch>
            <a:fillRect/>
          </a:stretch>
        </p:blipFill>
        <p:spPr>
          <a:xfrm>
            <a:off x="1637556" y="1943100"/>
            <a:ext cx="8916888" cy="2971800"/>
          </a:xfrm>
          <a:prstGeom prst="rect">
            <a:avLst/>
          </a:prstGeom>
        </p:spPr>
      </p:pic>
      <p:pic>
        <p:nvPicPr>
          <p:cNvPr id="8" name="Image 6" descr="preencoded.png"/>
          <p:cNvPicPr>
            <a:picLocks noChangeAspect="1"/>
          </p:cNvPicPr>
          <p:nvPr/>
        </p:nvPicPr>
        <p:blipFill>
          <a:blip r:embed="rId9"/>
          <a:stretch>
            <a:fillRect/>
          </a:stretch>
        </p:blipFill>
        <p:spPr>
          <a:xfrm>
            <a:off x="5638800" y="3009900"/>
            <a:ext cx="914400" cy="38100"/>
          </a:xfrm>
          <a:prstGeom prst="rect">
            <a:avLst/>
          </a:prstGeom>
        </p:spPr>
      </p:pic>
      <p:pic>
        <p:nvPicPr>
          <p:cNvPr id="9" name="Image 7" descr="preencoded.png"/>
          <p:cNvPicPr>
            <a:picLocks noChangeAspect="1"/>
          </p:cNvPicPr>
          <p:nvPr/>
        </p:nvPicPr>
        <p:blipFill>
          <a:blip r:embed="rId10"/>
          <a:stretch>
            <a:fillRect/>
          </a:stretch>
        </p:blipFill>
        <p:spPr>
          <a:xfrm>
            <a:off x="5029200" y="3924300"/>
            <a:ext cx="609600" cy="609600"/>
          </a:xfrm>
          <a:prstGeom prst="rect">
            <a:avLst/>
          </a:prstGeom>
        </p:spPr>
      </p:pic>
      <p:pic>
        <p:nvPicPr>
          <p:cNvPr id="10" name="Image 8" descr="preencoded.png"/>
          <p:cNvPicPr>
            <a:picLocks noChangeAspect="1"/>
          </p:cNvPicPr>
          <p:nvPr/>
        </p:nvPicPr>
        <p:blipFill>
          <a:blip r:embed="rId11"/>
          <a:stretch>
            <a:fillRect/>
          </a:stretch>
        </p:blipFill>
        <p:spPr>
          <a:xfrm>
            <a:off x="5791200" y="3924300"/>
            <a:ext cx="609600" cy="609600"/>
          </a:xfrm>
          <a:prstGeom prst="rect">
            <a:avLst/>
          </a:prstGeom>
        </p:spPr>
      </p:pic>
      <p:pic>
        <p:nvPicPr>
          <p:cNvPr id="11" name="Image 9" descr="preencoded.png"/>
          <p:cNvPicPr>
            <a:picLocks noChangeAspect="1"/>
          </p:cNvPicPr>
          <p:nvPr/>
        </p:nvPicPr>
        <p:blipFill>
          <a:blip r:embed="rId12"/>
          <a:stretch>
            <a:fillRect/>
          </a:stretch>
        </p:blipFill>
        <p:spPr>
          <a:xfrm>
            <a:off x="6553200" y="3924300"/>
            <a:ext cx="609600" cy="609600"/>
          </a:xfrm>
          <a:prstGeom prst="rect">
            <a:avLst/>
          </a:prstGeom>
        </p:spPr>
      </p:pic>
      <p:pic>
        <p:nvPicPr>
          <p:cNvPr id="12" name="Image 10" descr="preencoded.png"/>
          <p:cNvPicPr>
            <a:picLocks noChangeAspect="1"/>
          </p:cNvPicPr>
          <p:nvPr/>
        </p:nvPicPr>
        <p:blipFill>
          <a:blip r:embed="rId13"/>
          <a:stretch>
            <a:fillRect/>
          </a:stretch>
        </p:blipFill>
        <p:spPr>
          <a:xfrm>
            <a:off x="10492234" y="6438900"/>
            <a:ext cx="1394966" cy="190500"/>
          </a:xfrm>
          <a:prstGeom prst="rect">
            <a:avLst/>
          </a:prstGeom>
        </p:spPr>
      </p:pic>
      <p:sp>
        <p:nvSpPr>
          <p:cNvPr id="13" name="Text 0"/>
          <p:cNvSpPr/>
          <p:nvPr/>
        </p:nvSpPr>
        <p:spPr>
          <a:xfrm>
            <a:off x="1477387" y="2324100"/>
            <a:ext cx="9237226" cy="457200"/>
          </a:xfrm>
          <a:prstGeom prst="rect">
            <a:avLst/>
          </a:prstGeom>
          <a:noFill/>
          <a:ln/>
        </p:spPr>
        <p:txBody>
          <a:bodyPr vert="horz" wrap="square" lIns="0" tIns="0" rIns="0" bIns="0" rtlCol="0" anchor="t"/>
          <a:lstStyle/>
          <a:p>
            <a:pPr marL="0" indent="0" algn="ctr">
              <a:lnSpc>
                <a:spcPts val="3600"/>
              </a:lnSpc>
              <a:buNone/>
            </a:pPr>
            <a:r>
              <a:rPr lang="en-US" sz="3600" b="1" kern="0" spc="-72" dirty="0">
                <a:solidFill>
                  <a:srgbClr val="FFFFFF"/>
                </a:solidFill>
                <a:latin typeface="ui-sans-serif" pitchFamily="34" charset="0"/>
                <a:ea typeface="ui-sans-serif" pitchFamily="34" charset="-122"/>
                <a:cs typeface="ui-sans-serif" pitchFamily="34" charset="-120"/>
              </a:rPr>
              <a:t>Alan Turing and the Turing Test</a:t>
            </a:r>
            <a:endParaRPr lang="en-US" sz="3600" dirty="0"/>
          </a:p>
        </p:txBody>
      </p:sp>
      <p:sp>
        <p:nvSpPr>
          <p:cNvPr id="14" name="Text 1"/>
          <p:cNvSpPr/>
          <p:nvPr/>
        </p:nvSpPr>
        <p:spPr>
          <a:xfrm>
            <a:off x="1477387" y="3276600"/>
            <a:ext cx="9237226" cy="342900"/>
          </a:xfrm>
          <a:prstGeom prst="rect">
            <a:avLst/>
          </a:prstGeom>
          <a:noFill/>
          <a:ln/>
        </p:spPr>
        <p:txBody>
          <a:bodyPr vert="horz" wrap="square" lIns="0" tIns="0" rIns="0" bIns="0" rtlCol="0" anchor="t"/>
          <a:lstStyle/>
          <a:p>
            <a:pPr marL="0" indent="0" algn="ctr">
              <a:lnSpc>
                <a:spcPts val="2700"/>
              </a:lnSpc>
              <a:buNone/>
            </a:pPr>
            <a:r>
              <a:rPr lang="en-US" sz="2250" dirty="0">
                <a:solidFill>
                  <a:srgbClr val="99F6E4"/>
                </a:solidFill>
                <a:latin typeface="ui-sans-serif" pitchFamily="34" charset="0"/>
                <a:ea typeface="ui-sans-serif" pitchFamily="34" charset="-122"/>
                <a:cs typeface="ui-sans-serif" pitchFamily="34" charset="-120"/>
              </a:rPr>
              <a:t>Relevance in the Age of ChatGPT and Generative AI</a:t>
            </a:r>
            <a:endParaRPr lang="en-US" sz="22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2192000" cy="6858000"/>
          </a:xfrm>
          <a:prstGeom prst="rect">
            <a:avLst/>
          </a:prstGeom>
        </p:spPr>
      </p:pic>
      <p:pic>
        <p:nvPicPr>
          <p:cNvPr id="3" name="Image 1" descr="preencoded.png"/>
          <p:cNvPicPr>
            <a:picLocks noChangeAspect="1"/>
          </p:cNvPicPr>
          <p:nvPr/>
        </p:nvPicPr>
        <p:blipFill>
          <a:blip r:embed="rId4"/>
          <a:stretch>
            <a:fillRect/>
          </a:stretch>
        </p:blipFill>
        <p:spPr>
          <a:xfrm>
            <a:off x="457200" y="1219200"/>
            <a:ext cx="11277600" cy="990600"/>
          </a:xfrm>
          <a:prstGeom prst="rect">
            <a:avLst/>
          </a:prstGeom>
        </p:spPr>
      </p:pic>
      <p:pic>
        <p:nvPicPr>
          <p:cNvPr id="4" name="Image 2" descr="preencoded.png"/>
          <p:cNvPicPr>
            <a:picLocks noChangeAspect="1"/>
          </p:cNvPicPr>
          <p:nvPr/>
        </p:nvPicPr>
        <p:blipFill>
          <a:blip r:embed="rId5"/>
          <a:stretch>
            <a:fillRect/>
          </a:stretch>
        </p:blipFill>
        <p:spPr>
          <a:xfrm>
            <a:off x="1949351" y="2514600"/>
            <a:ext cx="571500" cy="571500"/>
          </a:xfrm>
          <a:prstGeom prst="rect">
            <a:avLst/>
          </a:prstGeom>
        </p:spPr>
      </p:pic>
      <p:pic>
        <p:nvPicPr>
          <p:cNvPr id="5" name="Image 3" descr="preencoded.png"/>
          <p:cNvPicPr>
            <a:picLocks noChangeAspect="1"/>
          </p:cNvPicPr>
          <p:nvPr/>
        </p:nvPicPr>
        <p:blipFill>
          <a:blip r:embed="rId6"/>
          <a:stretch>
            <a:fillRect/>
          </a:stretch>
        </p:blipFill>
        <p:spPr>
          <a:xfrm>
            <a:off x="2092226" y="2628900"/>
            <a:ext cx="285750" cy="342900"/>
          </a:xfrm>
          <a:prstGeom prst="rect">
            <a:avLst/>
          </a:prstGeom>
        </p:spPr>
      </p:pic>
      <p:pic>
        <p:nvPicPr>
          <p:cNvPr id="6" name="Image 4" descr="preencoded.png"/>
          <p:cNvPicPr>
            <a:picLocks noChangeAspect="1"/>
          </p:cNvPicPr>
          <p:nvPr/>
        </p:nvPicPr>
        <p:blipFill>
          <a:blip r:embed="rId7"/>
          <a:stretch>
            <a:fillRect/>
          </a:stretch>
        </p:blipFill>
        <p:spPr>
          <a:xfrm>
            <a:off x="5810101" y="2514600"/>
            <a:ext cx="571500" cy="571500"/>
          </a:xfrm>
          <a:prstGeom prst="rect">
            <a:avLst/>
          </a:prstGeom>
        </p:spPr>
      </p:pic>
      <p:pic>
        <p:nvPicPr>
          <p:cNvPr id="7" name="Image 5" descr="preencoded.png"/>
          <p:cNvPicPr>
            <a:picLocks noChangeAspect="1"/>
          </p:cNvPicPr>
          <p:nvPr/>
        </p:nvPicPr>
        <p:blipFill>
          <a:blip r:embed="rId8"/>
          <a:stretch>
            <a:fillRect/>
          </a:stretch>
        </p:blipFill>
        <p:spPr>
          <a:xfrm>
            <a:off x="5952976" y="2628900"/>
            <a:ext cx="285750" cy="342900"/>
          </a:xfrm>
          <a:prstGeom prst="rect">
            <a:avLst/>
          </a:prstGeom>
        </p:spPr>
      </p:pic>
      <p:pic>
        <p:nvPicPr>
          <p:cNvPr id="8" name="Image 6" descr="preencoded.png"/>
          <p:cNvPicPr>
            <a:picLocks noChangeAspect="1"/>
          </p:cNvPicPr>
          <p:nvPr/>
        </p:nvPicPr>
        <p:blipFill>
          <a:blip r:embed="rId9"/>
          <a:stretch>
            <a:fillRect/>
          </a:stretch>
        </p:blipFill>
        <p:spPr>
          <a:xfrm>
            <a:off x="9671000" y="2514600"/>
            <a:ext cx="571500" cy="571500"/>
          </a:xfrm>
          <a:prstGeom prst="rect">
            <a:avLst/>
          </a:prstGeom>
        </p:spPr>
      </p:pic>
      <p:pic>
        <p:nvPicPr>
          <p:cNvPr id="9" name="Image 7" descr="preencoded.png"/>
          <p:cNvPicPr>
            <a:picLocks noChangeAspect="1"/>
          </p:cNvPicPr>
          <p:nvPr/>
        </p:nvPicPr>
        <p:blipFill>
          <a:blip r:embed="rId10"/>
          <a:stretch>
            <a:fillRect/>
          </a:stretch>
        </p:blipFill>
        <p:spPr>
          <a:xfrm>
            <a:off x="9813875" y="2628900"/>
            <a:ext cx="285750" cy="342900"/>
          </a:xfrm>
          <a:prstGeom prst="rect">
            <a:avLst/>
          </a:prstGeom>
        </p:spPr>
      </p:pic>
      <p:pic>
        <p:nvPicPr>
          <p:cNvPr id="10" name="Image 8" descr="preencoded.png"/>
          <p:cNvPicPr>
            <a:picLocks noChangeAspect="1"/>
          </p:cNvPicPr>
          <p:nvPr/>
        </p:nvPicPr>
        <p:blipFill>
          <a:blip r:embed="rId11"/>
          <a:stretch>
            <a:fillRect/>
          </a:stretch>
        </p:blipFill>
        <p:spPr>
          <a:xfrm>
            <a:off x="457200" y="5905500"/>
            <a:ext cx="11277600" cy="38100"/>
          </a:xfrm>
          <a:prstGeom prst="rect">
            <a:avLst/>
          </a:prstGeom>
        </p:spPr>
      </p:pic>
      <p:pic>
        <p:nvPicPr>
          <p:cNvPr id="11" name="Image 9" descr="preencoded.png"/>
          <p:cNvPicPr>
            <a:picLocks noChangeAspect="1"/>
          </p:cNvPicPr>
          <p:nvPr/>
        </p:nvPicPr>
        <p:blipFill>
          <a:blip r:embed="rId12"/>
          <a:stretch>
            <a:fillRect/>
          </a:stretch>
        </p:blipFill>
        <p:spPr>
          <a:xfrm>
            <a:off x="400050" y="5867400"/>
            <a:ext cx="114300" cy="114300"/>
          </a:xfrm>
          <a:prstGeom prst="rect">
            <a:avLst/>
          </a:prstGeom>
        </p:spPr>
      </p:pic>
      <p:pic>
        <p:nvPicPr>
          <p:cNvPr id="12" name="Image 10" descr="preencoded.png"/>
          <p:cNvPicPr>
            <a:picLocks noChangeAspect="1"/>
          </p:cNvPicPr>
          <p:nvPr/>
        </p:nvPicPr>
        <p:blipFill>
          <a:blip r:embed="rId12"/>
          <a:stretch>
            <a:fillRect/>
          </a:stretch>
        </p:blipFill>
        <p:spPr>
          <a:xfrm>
            <a:off x="5362129" y="5867400"/>
            <a:ext cx="114300" cy="114300"/>
          </a:xfrm>
          <a:prstGeom prst="rect">
            <a:avLst/>
          </a:prstGeom>
        </p:spPr>
      </p:pic>
      <p:pic>
        <p:nvPicPr>
          <p:cNvPr id="13" name="Image 11" descr="preencoded.png"/>
          <p:cNvPicPr>
            <a:picLocks noChangeAspect="1"/>
          </p:cNvPicPr>
          <p:nvPr/>
        </p:nvPicPr>
        <p:blipFill>
          <a:blip r:embed="rId12"/>
          <a:stretch>
            <a:fillRect/>
          </a:stretch>
        </p:blipFill>
        <p:spPr>
          <a:xfrm>
            <a:off x="11677650" y="5867400"/>
            <a:ext cx="114300" cy="114300"/>
          </a:xfrm>
          <a:prstGeom prst="rect">
            <a:avLst/>
          </a:prstGeom>
        </p:spPr>
      </p:pic>
      <p:sp>
        <p:nvSpPr>
          <p:cNvPr id="14" name="Text 0"/>
          <p:cNvSpPr/>
          <p:nvPr/>
        </p:nvSpPr>
        <p:spPr>
          <a:xfrm>
            <a:off x="457200" y="457200"/>
            <a:ext cx="11277600" cy="457200"/>
          </a:xfrm>
          <a:prstGeom prst="rect">
            <a:avLst/>
          </a:prstGeom>
          <a:noFill/>
          <a:ln/>
        </p:spPr>
        <p:txBody>
          <a:bodyPr vert="horz" wrap="square" lIns="0" tIns="0" rIns="0" bIns="0" rtlCol="0" anchor="t"/>
          <a:lstStyle/>
          <a:p>
            <a:pPr marL="0" indent="0">
              <a:lnSpc>
                <a:spcPts val="3600"/>
              </a:lnSpc>
              <a:buNone/>
            </a:pPr>
            <a:r>
              <a:rPr lang="en-US" sz="3600" b="1" dirty="0">
                <a:solidFill>
                  <a:srgbClr val="1E3A8A"/>
                </a:solidFill>
                <a:latin typeface="Segoe UI" pitchFamily="34" charset="0"/>
                <a:ea typeface="Segoe UI" pitchFamily="34" charset="-122"/>
                <a:cs typeface="Segoe UI" pitchFamily="34" charset="-120"/>
              </a:rPr>
              <a:t>Who Was Alan Turing?</a:t>
            </a:r>
            <a:endParaRPr lang="en-US" sz="3600" dirty="0"/>
          </a:p>
        </p:txBody>
      </p:sp>
      <p:sp>
        <p:nvSpPr>
          <p:cNvPr id="15" name="Text 1"/>
          <p:cNvSpPr/>
          <p:nvPr/>
        </p:nvSpPr>
        <p:spPr>
          <a:xfrm>
            <a:off x="685800" y="1447800"/>
            <a:ext cx="10820400" cy="533400"/>
          </a:xfrm>
          <a:prstGeom prst="rect">
            <a:avLst/>
          </a:prstGeom>
          <a:noFill/>
          <a:ln/>
        </p:spPr>
        <p:txBody>
          <a:bodyPr vert="horz" wrap="square" lIns="0" tIns="0" rIns="0" bIns="0" rtlCol="0" anchor="t"/>
          <a:lstStyle/>
          <a:p>
            <a:pPr marL="0" indent="0">
              <a:lnSpc>
                <a:spcPts val="2100"/>
              </a:lnSpc>
              <a:buNone/>
            </a:pPr>
            <a:r>
              <a:rPr lang="en-US" sz="1500" dirty="0">
                <a:solidFill>
                  <a:srgbClr val="1E293B"/>
                </a:solidFill>
                <a:latin typeface="ui-sans-serif" pitchFamily="34" charset="0"/>
                <a:ea typeface="ui-sans-serif" pitchFamily="34" charset="-122"/>
                <a:cs typeface="ui-sans-serif" pitchFamily="34" charset="-120"/>
              </a:rPr>
              <a:t>Alan Turing was a British mathematician, logician, and cryptanalyst who lived from 1912 to 1954. His groundbreaking work laid the foundation for modern computing and artificial intelligence.</a:t>
            </a:r>
            <a:endParaRPr lang="en-US" sz="1500" dirty="0"/>
          </a:p>
        </p:txBody>
      </p:sp>
      <p:sp>
        <p:nvSpPr>
          <p:cNvPr id="16" name="Text 2"/>
          <p:cNvSpPr/>
          <p:nvPr/>
        </p:nvSpPr>
        <p:spPr>
          <a:xfrm>
            <a:off x="785813" y="3238500"/>
            <a:ext cx="2898577" cy="266700"/>
          </a:xfrm>
          <a:prstGeom prst="rect">
            <a:avLst/>
          </a:prstGeom>
          <a:noFill/>
          <a:ln/>
        </p:spPr>
        <p:txBody>
          <a:bodyPr vert="horz" wrap="square" lIns="0" tIns="0" rIns="0" bIns="0" rtlCol="0" anchor="t"/>
          <a:lstStyle/>
          <a:p>
            <a:pPr marL="0" indent="0" algn="ctr">
              <a:lnSpc>
                <a:spcPts val="2100"/>
              </a:lnSpc>
              <a:buNone/>
            </a:pPr>
            <a:r>
              <a:rPr lang="en-US" sz="1500" b="1" dirty="0">
                <a:solidFill>
                  <a:srgbClr val="1E293B"/>
                </a:solidFill>
                <a:latin typeface="ui-sans-serif" pitchFamily="34" charset="0"/>
                <a:ea typeface="ui-sans-serif" pitchFamily="34" charset="-122"/>
                <a:cs typeface="ui-sans-serif" pitchFamily="34" charset="-120"/>
              </a:rPr>
              <a:t>Cryptographic Pioneer</a:t>
            </a:r>
            <a:endParaRPr lang="en-US" sz="1500" dirty="0"/>
          </a:p>
        </p:txBody>
      </p:sp>
      <p:sp>
        <p:nvSpPr>
          <p:cNvPr id="17" name="Text 3"/>
          <p:cNvSpPr/>
          <p:nvPr/>
        </p:nvSpPr>
        <p:spPr>
          <a:xfrm>
            <a:off x="457200" y="3581400"/>
            <a:ext cx="3555950" cy="685800"/>
          </a:xfrm>
          <a:prstGeom prst="rect">
            <a:avLst/>
          </a:prstGeom>
          <a:noFill/>
          <a:ln/>
        </p:spPr>
        <p:txBody>
          <a:bodyPr vert="horz" wrap="square" lIns="0" tIns="0" rIns="0" bIns="0" rtlCol="0" anchor="t"/>
          <a:lstStyle/>
          <a:p>
            <a:pPr marL="0" indent="0" algn="ctr">
              <a:lnSpc>
                <a:spcPts val="1800"/>
              </a:lnSpc>
              <a:buNone/>
            </a:pPr>
            <a:r>
              <a:rPr lang="en-US" sz="1200" dirty="0">
                <a:solidFill>
                  <a:srgbClr val="1E293B"/>
                </a:solidFill>
                <a:latin typeface="ui-sans-serif" pitchFamily="34" charset="0"/>
                <a:ea typeface="ui-sans-serif" pitchFamily="34" charset="-122"/>
                <a:cs typeface="ui-sans-serif" pitchFamily="34" charset="-120"/>
              </a:rPr>
              <a:t>Played a crucial role in breaking the German Enigma code during World War II, potentially shortening the war by several years.</a:t>
            </a:r>
            <a:endParaRPr lang="en-US" sz="1200" dirty="0"/>
          </a:p>
        </p:txBody>
      </p:sp>
      <p:sp>
        <p:nvSpPr>
          <p:cNvPr id="18" name="Text 4"/>
          <p:cNvSpPr/>
          <p:nvPr/>
        </p:nvSpPr>
        <p:spPr>
          <a:xfrm>
            <a:off x="4303127" y="3238500"/>
            <a:ext cx="3585448" cy="266700"/>
          </a:xfrm>
          <a:prstGeom prst="rect">
            <a:avLst/>
          </a:prstGeom>
          <a:noFill/>
          <a:ln/>
        </p:spPr>
        <p:txBody>
          <a:bodyPr vert="horz" wrap="square" lIns="0" tIns="0" rIns="0" bIns="0" rtlCol="0" anchor="t"/>
          <a:lstStyle/>
          <a:p>
            <a:pPr marL="0" indent="0" algn="ctr">
              <a:lnSpc>
                <a:spcPts val="2100"/>
              </a:lnSpc>
              <a:buNone/>
            </a:pPr>
            <a:r>
              <a:rPr lang="en-US" sz="1500" b="1" dirty="0">
                <a:solidFill>
                  <a:srgbClr val="1E293B"/>
                </a:solidFill>
                <a:latin typeface="ui-sans-serif" pitchFamily="34" charset="0"/>
                <a:ea typeface="ui-sans-serif" pitchFamily="34" charset="-122"/>
                <a:cs typeface="ui-sans-serif" pitchFamily="34" charset="-120"/>
              </a:rPr>
              <a:t>Father of Computer Science</a:t>
            </a:r>
            <a:endParaRPr lang="en-US" sz="1500" dirty="0"/>
          </a:p>
        </p:txBody>
      </p:sp>
      <p:sp>
        <p:nvSpPr>
          <p:cNvPr id="19" name="Text 5"/>
          <p:cNvSpPr/>
          <p:nvPr/>
        </p:nvSpPr>
        <p:spPr>
          <a:xfrm>
            <a:off x="4317950" y="3581400"/>
            <a:ext cx="3555950" cy="685800"/>
          </a:xfrm>
          <a:prstGeom prst="rect">
            <a:avLst/>
          </a:prstGeom>
          <a:noFill/>
          <a:ln/>
        </p:spPr>
        <p:txBody>
          <a:bodyPr vert="horz" wrap="square" lIns="0" tIns="0" rIns="0" bIns="0" rtlCol="0" anchor="t"/>
          <a:lstStyle/>
          <a:p>
            <a:pPr marL="0" indent="0" algn="ctr">
              <a:lnSpc>
                <a:spcPts val="1800"/>
              </a:lnSpc>
              <a:buNone/>
            </a:pPr>
            <a:r>
              <a:rPr lang="en-US" sz="1200" dirty="0">
                <a:solidFill>
                  <a:srgbClr val="1E293B"/>
                </a:solidFill>
                <a:latin typeface="ui-sans-serif" pitchFamily="34" charset="0"/>
                <a:ea typeface="ui-sans-serif" pitchFamily="34" charset="-122"/>
                <a:cs typeface="ui-sans-serif" pitchFamily="34" charset="-120"/>
              </a:rPr>
              <a:t>Formulated the concept of the universal Turing machine and laid the groundwork for theoretical computer science.</a:t>
            </a:r>
            <a:endParaRPr lang="en-US" sz="1200" dirty="0"/>
          </a:p>
        </p:txBody>
      </p:sp>
      <p:sp>
        <p:nvSpPr>
          <p:cNvPr id="20" name="Text 6"/>
          <p:cNvSpPr/>
          <p:nvPr/>
        </p:nvSpPr>
        <p:spPr>
          <a:xfrm>
            <a:off x="9199513" y="3238500"/>
            <a:ext cx="1514475" cy="266700"/>
          </a:xfrm>
          <a:prstGeom prst="rect">
            <a:avLst/>
          </a:prstGeom>
          <a:noFill/>
          <a:ln/>
        </p:spPr>
        <p:txBody>
          <a:bodyPr vert="horz" wrap="square" lIns="0" tIns="0" rIns="0" bIns="0" rtlCol="0" anchor="t"/>
          <a:lstStyle/>
          <a:p>
            <a:pPr marL="0" indent="0" algn="ctr">
              <a:lnSpc>
                <a:spcPts val="2100"/>
              </a:lnSpc>
              <a:buNone/>
            </a:pPr>
            <a:r>
              <a:rPr lang="en-US" sz="1500" b="1" dirty="0">
                <a:solidFill>
                  <a:srgbClr val="1E293B"/>
                </a:solidFill>
                <a:latin typeface="ui-sans-serif" pitchFamily="34" charset="0"/>
                <a:ea typeface="ui-sans-serif" pitchFamily="34" charset="-122"/>
                <a:cs typeface="ui-sans-serif" pitchFamily="34" charset="-120"/>
              </a:rPr>
              <a:t>Father of AI</a:t>
            </a:r>
            <a:endParaRPr lang="en-US" sz="1500" dirty="0"/>
          </a:p>
        </p:txBody>
      </p:sp>
      <p:sp>
        <p:nvSpPr>
          <p:cNvPr id="21" name="Text 7"/>
          <p:cNvSpPr/>
          <p:nvPr/>
        </p:nvSpPr>
        <p:spPr>
          <a:xfrm>
            <a:off x="8178701" y="3581400"/>
            <a:ext cx="3556099" cy="685800"/>
          </a:xfrm>
          <a:prstGeom prst="rect">
            <a:avLst/>
          </a:prstGeom>
          <a:noFill/>
          <a:ln/>
        </p:spPr>
        <p:txBody>
          <a:bodyPr vert="horz" wrap="square" lIns="0" tIns="0" rIns="0" bIns="0" rtlCol="0" anchor="t"/>
          <a:lstStyle/>
          <a:p>
            <a:pPr marL="0" indent="0" algn="ctr">
              <a:lnSpc>
                <a:spcPts val="1800"/>
              </a:lnSpc>
              <a:buNone/>
            </a:pPr>
            <a:r>
              <a:rPr lang="en-US" sz="1200" dirty="0">
                <a:solidFill>
                  <a:srgbClr val="1E293B"/>
                </a:solidFill>
                <a:latin typeface="ui-sans-serif" pitchFamily="34" charset="0"/>
                <a:ea typeface="ui-sans-serif" pitchFamily="34" charset="-122"/>
                <a:cs typeface="ui-sans-serif" pitchFamily="34" charset="-120"/>
              </a:rPr>
              <a:t>Proposed the Turing Test in 1950, establishing a benchmark for machine intelligence that remains influential today.</a:t>
            </a:r>
            <a:endParaRPr lang="en-US" sz="1200" dirty="0"/>
          </a:p>
        </p:txBody>
      </p:sp>
      <p:sp>
        <p:nvSpPr>
          <p:cNvPr id="22" name="Text 8"/>
          <p:cNvSpPr/>
          <p:nvPr/>
        </p:nvSpPr>
        <p:spPr>
          <a:xfrm>
            <a:off x="457200" y="5524500"/>
            <a:ext cx="11277600" cy="266700"/>
          </a:xfrm>
          <a:prstGeom prst="rect">
            <a:avLst/>
          </a:prstGeom>
          <a:noFill/>
          <a:ln/>
        </p:spPr>
        <p:txBody>
          <a:bodyPr vert="horz" wrap="square" lIns="0" tIns="0" rIns="0" bIns="0" rtlCol="0" anchor="t"/>
          <a:lstStyle/>
          <a:p>
            <a:pPr marL="0" indent="0">
              <a:lnSpc>
                <a:spcPts val="2100"/>
              </a:lnSpc>
              <a:buNone/>
            </a:pPr>
            <a:r>
              <a:rPr lang="en-US" sz="1500" b="1" dirty="0">
                <a:solidFill>
                  <a:srgbClr val="1E293B"/>
                </a:solidFill>
                <a:latin typeface="ui-sans-serif" pitchFamily="34" charset="0"/>
                <a:ea typeface="ui-sans-serif" pitchFamily="34" charset="-122"/>
                <a:cs typeface="ui-sans-serif" pitchFamily="34" charset="-120"/>
              </a:rPr>
              <a:t>Timeline</a:t>
            </a:r>
            <a:endParaRPr lang="en-US" sz="1500" dirty="0"/>
          </a:p>
        </p:txBody>
      </p:sp>
      <p:sp>
        <p:nvSpPr>
          <p:cNvPr id="23" name="Text 9"/>
          <p:cNvSpPr/>
          <p:nvPr/>
        </p:nvSpPr>
        <p:spPr>
          <a:xfrm>
            <a:off x="457200" y="6019800"/>
            <a:ext cx="407372" cy="381000"/>
          </a:xfrm>
          <a:prstGeom prst="rect">
            <a:avLst/>
          </a:prstGeom>
          <a:noFill/>
          <a:ln/>
        </p:spPr>
        <p:txBody>
          <a:bodyPr vert="horz" wrap="square" lIns="0" tIns="0" rIns="0" bIns="0" rtlCol="0" anchor="t"/>
          <a:lstStyle/>
          <a:p>
            <a:pPr marL="0" indent="0">
              <a:lnSpc>
                <a:spcPts val="1500"/>
              </a:lnSpc>
              <a:buNone/>
            </a:pPr>
            <a:r>
              <a:rPr lang="en-US" sz="1050" dirty="0">
                <a:solidFill>
                  <a:srgbClr val="1E293B"/>
                </a:solidFill>
                <a:latin typeface="ui-sans-serif" pitchFamily="34" charset="0"/>
                <a:ea typeface="ui-sans-serif" pitchFamily="34" charset="-122"/>
                <a:cs typeface="ui-sans-serif" pitchFamily="34" charset="-120"/>
              </a:rPr>
              <a:t>1912</a:t>
            </a:r>
            <a:endParaRPr lang="en-US" sz="1050" dirty="0"/>
          </a:p>
        </p:txBody>
      </p:sp>
      <p:sp>
        <p:nvSpPr>
          <p:cNvPr id="24" name="Text 10"/>
          <p:cNvSpPr/>
          <p:nvPr/>
        </p:nvSpPr>
        <p:spPr>
          <a:xfrm>
            <a:off x="5273725" y="6019800"/>
            <a:ext cx="407372" cy="381000"/>
          </a:xfrm>
          <a:prstGeom prst="rect">
            <a:avLst/>
          </a:prstGeom>
          <a:noFill/>
          <a:ln/>
        </p:spPr>
        <p:txBody>
          <a:bodyPr vert="horz" wrap="square" lIns="0" tIns="0" rIns="0" bIns="0" rtlCol="0" anchor="t"/>
          <a:lstStyle/>
          <a:p>
            <a:pPr marL="0" indent="0">
              <a:lnSpc>
                <a:spcPts val="1500"/>
              </a:lnSpc>
              <a:buNone/>
            </a:pPr>
            <a:r>
              <a:rPr lang="en-US" sz="1050" dirty="0">
                <a:solidFill>
                  <a:srgbClr val="1E293B"/>
                </a:solidFill>
                <a:latin typeface="ui-sans-serif" pitchFamily="34" charset="0"/>
                <a:ea typeface="ui-sans-serif" pitchFamily="34" charset="-122"/>
                <a:cs typeface="ui-sans-serif" pitchFamily="34" charset="-120"/>
              </a:rPr>
              <a:t>1954</a:t>
            </a:r>
            <a:endParaRPr lang="en-US" sz="1050" dirty="0"/>
          </a:p>
        </p:txBody>
      </p:sp>
      <p:sp>
        <p:nvSpPr>
          <p:cNvPr id="25" name="Text 11"/>
          <p:cNvSpPr/>
          <p:nvPr/>
        </p:nvSpPr>
        <p:spPr>
          <a:xfrm>
            <a:off x="10090249" y="6019800"/>
            <a:ext cx="1644402" cy="381000"/>
          </a:xfrm>
          <a:prstGeom prst="rect">
            <a:avLst/>
          </a:prstGeom>
          <a:noFill/>
          <a:ln/>
        </p:spPr>
        <p:txBody>
          <a:bodyPr vert="horz" wrap="square" lIns="0" tIns="0" rIns="0" bIns="0" rtlCol="0" anchor="t"/>
          <a:lstStyle/>
          <a:p>
            <a:pPr marL="0" indent="0">
              <a:lnSpc>
                <a:spcPts val="1500"/>
              </a:lnSpc>
              <a:buNone/>
            </a:pPr>
            <a:r>
              <a:rPr lang="en-US" sz="1050" b="1" dirty="0">
                <a:solidFill>
                  <a:srgbClr val="1D4ED8"/>
                </a:solidFill>
                <a:latin typeface="ui-sans-serif" pitchFamily="34" charset="0"/>
                <a:ea typeface="ui-sans-serif" pitchFamily="34" charset="-122"/>
                <a:cs typeface="ui-sans-serif" pitchFamily="34" charset="-120"/>
              </a:rPr>
              <a:t>1942-1945
Enigma Codebreaking</a:t>
            </a:r>
            <a:endParaRPr lang="en-US" sz="10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2192000" cy="6858000"/>
          </a:xfrm>
          <a:prstGeom prst="rect">
            <a:avLst/>
          </a:prstGeom>
        </p:spPr>
      </p:pic>
      <p:pic>
        <p:nvPicPr>
          <p:cNvPr id="3" name="Image 1" descr="preencoded.png"/>
          <p:cNvPicPr>
            <a:picLocks noChangeAspect="1"/>
          </p:cNvPicPr>
          <p:nvPr/>
        </p:nvPicPr>
        <p:blipFill>
          <a:blip r:embed="rId4"/>
          <a:stretch>
            <a:fillRect/>
          </a:stretch>
        </p:blipFill>
        <p:spPr>
          <a:xfrm>
            <a:off x="381000" y="1066800"/>
            <a:ext cx="11430000" cy="838200"/>
          </a:xfrm>
          <a:prstGeom prst="rect">
            <a:avLst/>
          </a:prstGeom>
        </p:spPr>
      </p:pic>
      <p:pic>
        <p:nvPicPr>
          <p:cNvPr id="4" name="Image 2" descr="preencoded.png"/>
          <p:cNvPicPr>
            <a:picLocks noChangeAspect="1"/>
          </p:cNvPicPr>
          <p:nvPr/>
        </p:nvPicPr>
        <p:blipFill>
          <a:blip r:embed="rId5"/>
          <a:stretch>
            <a:fillRect/>
          </a:stretch>
        </p:blipFill>
        <p:spPr>
          <a:xfrm>
            <a:off x="381000" y="2133600"/>
            <a:ext cx="5600700" cy="1066800"/>
          </a:xfrm>
          <a:prstGeom prst="rect">
            <a:avLst/>
          </a:prstGeom>
        </p:spPr>
      </p:pic>
      <p:pic>
        <p:nvPicPr>
          <p:cNvPr id="5" name="Image 3" descr="preencoded.png"/>
          <p:cNvPicPr>
            <a:picLocks noChangeAspect="1"/>
          </p:cNvPicPr>
          <p:nvPr/>
        </p:nvPicPr>
        <p:blipFill>
          <a:blip r:embed="rId6"/>
          <a:stretch>
            <a:fillRect/>
          </a:stretch>
        </p:blipFill>
        <p:spPr>
          <a:xfrm>
            <a:off x="533400" y="2286000"/>
            <a:ext cx="381000" cy="381000"/>
          </a:xfrm>
          <a:prstGeom prst="rect">
            <a:avLst/>
          </a:prstGeom>
        </p:spPr>
      </p:pic>
      <p:pic>
        <p:nvPicPr>
          <p:cNvPr id="6" name="Image 4" descr="preencoded.png"/>
          <p:cNvPicPr>
            <a:picLocks noChangeAspect="1"/>
          </p:cNvPicPr>
          <p:nvPr/>
        </p:nvPicPr>
        <p:blipFill>
          <a:blip r:embed="rId7"/>
          <a:stretch>
            <a:fillRect/>
          </a:stretch>
        </p:blipFill>
        <p:spPr>
          <a:xfrm>
            <a:off x="614363" y="2343150"/>
            <a:ext cx="219075" cy="266700"/>
          </a:xfrm>
          <a:prstGeom prst="rect">
            <a:avLst/>
          </a:prstGeom>
        </p:spPr>
      </p:pic>
      <p:pic>
        <p:nvPicPr>
          <p:cNvPr id="7" name="Image 5" descr="preencoded.png"/>
          <p:cNvPicPr>
            <a:picLocks noChangeAspect="1"/>
          </p:cNvPicPr>
          <p:nvPr/>
        </p:nvPicPr>
        <p:blipFill>
          <a:blip r:embed="rId8"/>
          <a:stretch>
            <a:fillRect/>
          </a:stretch>
        </p:blipFill>
        <p:spPr>
          <a:xfrm>
            <a:off x="381000" y="3352800"/>
            <a:ext cx="5600700" cy="1295400"/>
          </a:xfrm>
          <a:prstGeom prst="rect">
            <a:avLst/>
          </a:prstGeom>
        </p:spPr>
      </p:pic>
      <p:pic>
        <p:nvPicPr>
          <p:cNvPr id="8" name="Image 6" descr="preencoded.png"/>
          <p:cNvPicPr>
            <a:picLocks noChangeAspect="1"/>
          </p:cNvPicPr>
          <p:nvPr/>
        </p:nvPicPr>
        <p:blipFill>
          <a:blip r:embed="rId9"/>
          <a:stretch>
            <a:fillRect/>
          </a:stretch>
        </p:blipFill>
        <p:spPr>
          <a:xfrm>
            <a:off x="533400" y="3505200"/>
            <a:ext cx="381000" cy="381000"/>
          </a:xfrm>
          <a:prstGeom prst="rect">
            <a:avLst/>
          </a:prstGeom>
        </p:spPr>
      </p:pic>
      <p:pic>
        <p:nvPicPr>
          <p:cNvPr id="9" name="Image 7" descr="preencoded.png"/>
          <p:cNvPicPr>
            <a:picLocks noChangeAspect="1"/>
          </p:cNvPicPr>
          <p:nvPr/>
        </p:nvPicPr>
        <p:blipFill>
          <a:blip r:embed="rId10"/>
          <a:stretch>
            <a:fillRect/>
          </a:stretch>
        </p:blipFill>
        <p:spPr>
          <a:xfrm>
            <a:off x="638175" y="3562350"/>
            <a:ext cx="171450" cy="266700"/>
          </a:xfrm>
          <a:prstGeom prst="rect">
            <a:avLst/>
          </a:prstGeom>
        </p:spPr>
      </p:pic>
      <p:pic>
        <p:nvPicPr>
          <p:cNvPr id="10" name="Image 8" descr="preencoded.png"/>
          <p:cNvPicPr>
            <a:picLocks noChangeAspect="1"/>
          </p:cNvPicPr>
          <p:nvPr/>
        </p:nvPicPr>
        <p:blipFill>
          <a:blip r:embed="rId8"/>
          <a:stretch>
            <a:fillRect/>
          </a:stretch>
        </p:blipFill>
        <p:spPr>
          <a:xfrm>
            <a:off x="6210300" y="2133600"/>
            <a:ext cx="5600700" cy="1295400"/>
          </a:xfrm>
          <a:prstGeom prst="rect">
            <a:avLst/>
          </a:prstGeom>
        </p:spPr>
      </p:pic>
      <p:pic>
        <p:nvPicPr>
          <p:cNvPr id="11" name="Image 9" descr="preencoded.png"/>
          <p:cNvPicPr>
            <a:picLocks noChangeAspect="1"/>
          </p:cNvPicPr>
          <p:nvPr/>
        </p:nvPicPr>
        <p:blipFill>
          <a:blip r:embed="rId11"/>
          <a:stretch>
            <a:fillRect/>
          </a:stretch>
        </p:blipFill>
        <p:spPr>
          <a:xfrm>
            <a:off x="6362700" y="2286000"/>
            <a:ext cx="381000" cy="381000"/>
          </a:xfrm>
          <a:prstGeom prst="rect">
            <a:avLst/>
          </a:prstGeom>
        </p:spPr>
      </p:pic>
      <p:pic>
        <p:nvPicPr>
          <p:cNvPr id="12" name="Image 10" descr="preencoded.png"/>
          <p:cNvPicPr>
            <a:picLocks noChangeAspect="1"/>
          </p:cNvPicPr>
          <p:nvPr/>
        </p:nvPicPr>
        <p:blipFill>
          <a:blip r:embed="rId12"/>
          <a:stretch>
            <a:fillRect/>
          </a:stretch>
        </p:blipFill>
        <p:spPr>
          <a:xfrm>
            <a:off x="6467475" y="2343150"/>
            <a:ext cx="171450" cy="266700"/>
          </a:xfrm>
          <a:prstGeom prst="rect">
            <a:avLst/>
          </a:prstGeom>
        </p:spPr>
      </p:pic>
      <p:pic>
        <p:nvPicPr>
          <p:cNvPr id="13" name="Image 11" descr="preencoded.png"/>
          <p:cNvPicPr>
            <a:picLocks noChangeAspect="1"/>
          </p:cNvPicPr>
          <p:nvPr/>
        </p:nvPicPr>
        <p:blipFill>
          <a:blip r:embed="rId13"/>
          <a:stretch>
            <a:fillRect/>
          </a:stretch>
        </p:blipFill>
        <p:spPr>
          <a:xfrm>
            <a:off x="6210300" y="3581400"/>
            <a:ext cx="5600700" cy="1295400"/>
          </a:xfrm>
          <a:prstGeom prst="rect">
            <a:avLst/>
          </a:prstGeom>
        </p:spPr>
      </p:pic>
      <p:pic>
        <p:nvPicPr>
          <p:cNvPr id="14" name="Image 12" descr="preencoded.png"/>
          <p:cNvPicPr>
            <a:picLocks noChangeAspect="1"/>
          </p:cNvPicPr>
          <p:nvPr/>
        </p:nvPicPr>
        <p:blipFill>
          <a:blip r:embed="rId14"/>
          <a:stretch>
            <a:fillRect/>
          </a:stretch>
        </p:blipFill>
        <p:spPr>
          <a:xfrm>
            <a:off x="6362700" y="3733800"/>
            <a:ext cx="381000" cy="381000"/>
          </a:xfrm>
          <a:prstGeom prst="rect">
            <a:avLst/>
          </a:prstGeom>
        </p:spPr>
      </p:pic>
      <p:pic>
        <p:nvPicPr>
          <p:cNvPr id="15" name="Image 13" descr="preencoded.png"/>
          <p:cNvPicPr>
            <a:picLocks noChangeAspect="1"/>
          </p:cNvPicPr>
          <p:nvPr/>
        </p:nvPicPr>
        <p:blipFill>
          <a:blip r:embed="rId15"/>
          <a:stretch>
            <a:fillRect/>
          </a:stretch>
        </p:blipFill>
        <p:spPr>
          <a:xfrm>
            <a:off x="6467475" y="3790950"/>
            <a:ext cx="171450" cy="266700"/>
          </a:xfrm>
          <a:prstGeom prst="rect">
            <a:avLst/>
          </a:prstGeom>
        </p:spPr>
      </p:pic>
      <p:pic>
        <p:nvPicPr>
          <p:cNvPr id="16" name="Image 14" descr="preencoded.png"/>
          <p:cNvPicPr>
            <a:picLocks noChangeAspect="1"/>
          </p:cNvPicPr>
          <p:nvPr/>
        </p:nvPicPr>
        <p:blipFill>
          <a:blip r:embed="rId16"/>
          <a:stretch>
            <a:fillRect/>
          </a:stretch>
        </p:blipFill>
        <p:spPr>
          <a:xfrm>
            <a:off x="389037" y="5143500"/>
            <a:ext cx="533400" cy="533400"/>
          </a:xfrm>
          <a:prstGeom prst="rect">
            <a:avLst/>
          </a:prstGeom>
        </p:spPr>
      </p:pic>
      <p:pic>
        <p:nvPicPr>
          <p:cNvPr id="17" name="Image 15" descr="preencoded.png"/>
          <p:cNvPicPr>
            <a:picLocks noChangeAspect="1"/>
          </p:cNvPicPr>
          <p:nvPr/>
        </p:nvPicPr>
        <p:blipFill>
          <a:blip r:embed="rId17"/>
          <a:stretch>
            <a:fillRect/>
          </a:stretch>
        </p:blipFill>
        <p:spPr>
          <a:xfrm>
            <a:off x="570012" y="5276850"/>
            <a:ext cx="171450" cy="266700"/>
          </a:xfrm>
          <a:prstGeom prst="rect">
            <a:avLst/>
          </a:prstGeom>
        </p:spPr>
      </p:pic>
      <p:pic>
        <p:nvPicPr>
          <p:cNvPr id="18" name="Image 16" descr="preencoded.png"/>
          <p:cNvPicPr>
            <a:picLocks noChangeAspect="1"/>
          </p:cNvPicPr>
          <p:nvPr/>
        </p:nvPicPr>
        <p:blipFill>
          <a:blip r:embed="rId18"/>
          <a:stretch>
            <a:fillRect/>
          </a:stretch>
        </p:blipFill>
        <p:spPr>
          <a:xfrm>
            <a:off x="11225213" y="5143500"/>
            <a:ext cx="533400" cy="533400"/>
          </a:xfrm>
          <a:prstGeom prst="rect">
            <a:avLst/>
          </a:prstGeom>
        </p:spPr>
      </p:pic>
      <p:pic>
        <p:nvPicPr>
          <p:cNvPr id="19" name="Image 17" descr="preencoded.png"/>
          <p:cNvPicPr>
            <a:picLocks noChangeAspect="1"/>
          </p:cNvPicPr>
          <p:nvPr/>
        </p:nvPicPr>
        <p:blipFill>
          <a:blip r:embed="rId19"/>
          <a:stretch>
            <a:fillRect/>
          </a:stretch>
        </p:blipFill>
        <p:spPr>
          <a:xfrm>
            <a:off x="11372850" y="5276850"/>
            <a:ext cx="238125" cy="266700"/>
          </a:xfrm>
          <a:prstGeom prst="rect">
            <a:avLst/>
          </a:prstGeom>
        </p:spPr>
      </p:pic>
      <p:pic>
        <p:nvPicPr>
          <p:cNvPr id="20" name="Image 18" descr="preencoded.png"/>
          <p:cNvPicPr>
            <a:picLocks noChangeAspect="1"/>
          </p:cNvPicPr>
          <p:nvPr/>
        </p:nvPicPr>
        <p:blipFill>
          <a:blip r:embed="rId20"/>
          <a:stretch>
            <a:fillRect/>
          </a:stretch>
        </p:blipFill>
        <p:spPr>
          <a:xfrm>
            <a:off x="381000" y="5934075"/>
            <a:ext cx="11430000" cy="19050"/>
          </a:xfrm>
          <a:prstGeom prst="rect">
            <a:avLst/>
          </a:prstGeom>
        </p:spPr>
      </p:pic>
      <p:sp>
        <p:nvSpPr>
          <p:cNvPr id="21" name="Text 0"/>
          <p:cNvSpPr/>
          <p:nvPr/>
        </p:nvSpPr>
        <p:spPr>
          <a:xfrm>
            <a:off x="381000" y="381000"/>
            <a:ext cx="13716000" cy="457200"/>
          </a:xfrm>
          <a:prstGeom prst="rect">
            <a:avLst/>
          </a:prstGeom>
          <a:noFill/>
          <a:ln/>
        </p:spPr>
        <p:txBody>
          <a:bodyPr vert="horz" wrap="square" lIns="0" tIns="0" rIns="0" bIns="0" rtlCol="0" anchor="t"/>
          <a:lstStyle/>
          <a:p>
            <a:pPr marL="0" indent="0">
              <a:lnSpc>
                <a:spcPts val="3600"/>
              </a:lnSpc>
              <a:buNone/>
            </a:pPr>
            <a:r>
              <a:rPr lang="en-US" sz="3600" b="1" dirty="0">
                <a:solidFill>
                  <a:srgbClr val="1E3A8A"/>
                </a:solidFill>
                <a:latin typeface="Segoe UI" pitchFamily="34" charset="0"/>
                <a:ea typeface="Segoe UI" pitchFamily="34" charset="-122"/>
                <a:cs typeface="Segoe UI" pitchFamily="34" charset="-120"/>
              </a:rPr>
              <a:t>The Turing Test: A Revolutionary Idea</a:t>
            </a:r>
            <a:endParaRPr lang="en-US" sz="3600" dirty="0"/>
          </a:p>
        </p:txBody>
      </p:sp>
      <p:sp>
        <p:nvSpPr>
          <p:cNvPr id="22" name="Text 1"/>
          <p:cNvSpPr/>
          <p:nvPr/>
        </p:nvSpPr>
        <p:spPr>
          <a:xfrm>
            <a:off x="533400" y="1219200"/>
            <a:ext cx="11125200" cy="533400"/>
          </a:xfrm>
          <a:prstGeom prst="rect">
            <a:avLst/>
          </a:prstGeom>
          <a:noFill/>
          <a:ln/>
        </p:spPr>
        <p:txBody>
          <a:bodyPr vert="horz" wrap="square" lIns="0" tIns="0" rIns="0" bIns="0" rtlCol="0" anchor="t"/>
          <a:lstStyle/>
          <a:p>
            <a:pPr marL="0" indent="0">
              <a:lnSpc>
                <a:spcPts val="2100"/>
              </a:lnSpc>
              <a:buNone/>
            </a:pPr>
            <a:r>
              <a:rPr lang="en-US" sz="1500" dirty="0">
                <a:solidFill>
                  <a:srgbClr val="1E293B"/>
                </a:solidFill>
                <a:latin typeface="ui-sans-serif" pitchFamily="34" charset="0"/>
                <a:ea typeface="ui-sans-serif" pitchFamily="34" charset="-122"/>
                <a:cs typeface="ui-sans-serif" pitchFamily="34" charset="-120"/>
              </a:rPr>
              <a:t>In 1950, Turing posed the question "Can machines think?" Instead of getting caught up in philosophical debates about consciousness, he proposed a practical test.</a:t>
            </a:r>
            <a:endParaRPr lang="en-US" sz="1500" dirty="0"/>
          </a:p>
        </p:txBody>
      </p:sp>
      <p:sp>
        <p:nvSpPr>
          <p:cNvPr id="23" name="Text 2"/>
          <p:cNvSpPr/>
          <p:nvPr/>
        </p:nvSpPr>
        <p:spPr>
          <a:xfrm>
            <a:off x="1028700" y="2286000"/>
            <a:ext cx="4800600" cy="266700"/>
          </a:xfrm>
          <a:prstGeom prst="rect">
            <a:avLst/>
          </a:prstGeom>
          <a:noFill/>
          <a:ln/>
        </p:spPr>
        <p:txBody>
          <a:bodyPr vert="horz" wrap="square" lIns="0" tIns="0" rIns="0" bIns="0" rtlCol="0" anchor="t"/>
          <a:lstStyle/>
          <a:p>
            <a:pPr marL="0" indent="0">
              <a:lnSpc>
                <a:spcPts val="2100"/>
              </a:lnSpc>
              <a:buNone/>
            </a:pPr>
            <a:r>
              <a:rPr lang="en-US" sz="1500" b="1" dirty="0">
                <a:solidFill>
                  <a:srgbClr val="1E293B"/>
                </a:solidFill>
                <a:latin typeface="ui-sans-serif" pitchFamily="34" charset="0"/>
                <a:ea typeface="ui-sans-serif" pitchFamily="34" charset="-122"/>
                <a:cs typeface="ui-sans-serif" pitchFamily="34" charset="-120"/>
              </a:rPr>
              <a:t>The "Imitation Game"</a:t>
            </a:r>
            <a:endParaRPr lang="en-US" sz="1500" dirty="0"/>
          </a:p>
        </p:txBody>
      </p:sp>
      <p:sp>
        <p:nvSpPr>
          <p:cNvPr id="24" name="Text 3"/>
          <p:cNvSpPr/>
          <p:nvPr/>
        </p:nvSpPr>
        <p:spPr>
          <a:xfrm>
            <a:off x="1028700" y="2590800"/>
            <a:ext cx="4800600" cy="457200"/>
          </a:xfrm>
          <a:prstGeom prst="rect">
            <a:avLst/>
          </a:prstGeom>
          <a:noFill/>
          <a:ln/>
        </p:spPr>
        <p:txBody>
          <a:bodyPr vert="horz" wrap="square" lIns="0" tIns="0" rIns="0" bIns="0" rtlCol="0" anchor="t"/>
          <a:lstStyle/>
          <a:p>
            <a:pPr marL="0" indent="0">
              <a:lnSpc>
                <a:spcPts val="1800"/>
              </a:lnSpc>
              <a:buNone/>
            </a:pPr>
            <a:r>
              <a:rPr lang="en-US" sz="1200" dirty="0">
                <a:solidFill>
                  <a:srgbClr val="1E293B"/>
                </a:solidFill>
                <a:latin typeface="ui-sans-serif" pitchFamily="34" charset="0"/>
                <a:ea typeface="ui-sans-serif" pitchFamily="34" charset="-122"/>
                <a:cs typeface="ui-sans-serif" pitchFamily="34" charset="-120"/>
              </a:rPr>
              <a:t>Originally called the "Imitation Game," the test has humans converse with both a human and a machine through text.</a:t>
            </a:r>
            <a:endParaRPr lang="en-US" sz="1200" dirty="0"/>
          </a:p>
        </p:txBody>
      </p:sp>
      <p:sp>
        <p:nvSpPr>
          <p:cNvPr id="25" name="Text 4"/>
          <p:cNvSpPr/>
          <p:nvPr/>
        </p:nvSpPr>
        <p:spPr>
          <a:xfrm>
            <a:off x="1028700" y="3505200"/>
            <a:ext cx="4800600" cy="266700"/>
          </a:xfrm>
          <a:prstGeom prst="rect">
            <a:avLst/>
          </a:prstGeom>
          <a:noFill/>
          <a:ln/>
        </p:spPr>
        <p:txBody>
          <a:bodyPr vert="horz" wrap="square" lIns="0" tIns="0" rIns="0" bIns="0" rtlCol="0" anchor="t"/>
          <a:lstStyle/>
          <a:p>
            <a:pPr marL="0" indent="0">
              <a:lnSpc>
                <a:spcPts val="2100"/>
              </a:lnSpc>
              <a:buNone/>
            </a:pPr>
            <a:r>
              <a:rPr lang="en-US" sz="1500" b="1" dirty="0">
                <a:solidFill>
                  <a:srgbClr val="1E293B"/>
                </a:solidFill>
                <a:latin typeface="ui-sans-serif" pitchFamily="34" charset="0"/>
                <a:ea typeface="ui-sans-serif" pitchFamily="34" charset="-122"/>
                <a:cs typeface="ui-sans-serif" pitchFamily="34" charset="-120"/>
              </a:rPr>
              <a:t>Philosophical Shift</a:t>
            </a:r>
            <a:endParaRPr lang="en-US" sz="1500" dirty="0"/>
          </a:p>
        </p:txBody>
      </p:sp>
      <p:sp>
        <p:nvSpPr>
          <p:cNvPr id="26" name="Text 5"/>
          <p:cNvSpPr/>
          <p:nvPr/>
        </p:nvSpPr>
        <p:spPr>
          <a:xfrm>
            <a:off x="1028700" y="3810000"/>
            <a:ext cx="4800600" cy="685800"/>
          </a:xfrm>
          <a:prstGeom prst="rect">
            <a:avLst/>
          </a:prstGeom>
          <a:noFill/>
          <a:ln/>
        </p:spPr>
        <p:txBody>
          <a:bodyPr vert="horz" wrap="square" lIns="0" tIns="0" rIns="0" bIns="0" rtlCol="0" anchor="t"/>
          <a:lstStyle/>
          <a:p>
            <a:pPr marL="0" indent="0">
              <a:lnSpc>
                <a:spcPts val="1800"/>
              </a:lnSpc>
              <a:buNone/>
            </a:pPr>
            <a:r>
              <a:rPr lang="en-US" sz="1200" dirty="0">
                <a:solidFill>
                  <a:srgbClr val="1E293B"/>
                </a:solidFill>
                <a:latin typeface="ui-sans-serif" pitchFamily="34" charset="0"/>
                <a:ea typeface="ui-sans-serif" pitchFamily="34" charset="-122"/>
                <a:cs typeface="ui-sans-serif" pitchFamily="34" charset="-120"/>
              </a:rPr>
              <a:t>Turing shifted the conversation from "what is thinking?" to "what does thinking look like?" This pragmatic approach remains valuable today.</a:t>
            </a:r>
            <a:endParaRPr lang="en-US" sz="1200" dirty="0"/>
          </a:p>
        </p:txBody>
      </p:sp>
      <p:sp>
        <p:nvSpPr>
          <p:cNvPr id="27" name="Text 6"/>
          <p:cNvSpPr/>
          <p:nvPr/>
        </p:nvSpPr>
        <p:spPr>
          <a:xfrm>
            <a:off x="6858000" y="2286000"/>
            <a:ext cx="4800600" cy="266700"/>
          </a:xfrm>
          <a:prstGeom prst="rect">
            <a:avLst/>
          </a:prstGeom>
          <a:noFill/>
          <a:ln/>
        </p:spPr>
        <p:txBody>
          <a:bodyPr vert="horz" wrap="square" lIns="0" tIns="0" rIns="0" bIns="0" rtlCol="0" anchor="t"/>
          <a:lstStyle/>
          <a:p>
            <a:pPr marL="0" indent="0">
              <a:lnSpc>
                <a:spcPts val="2100"/>
              </a:lnSpc>
              <a:buNone/>
            </a:pPr>
            <a:r>
              <a:rPr lang="en-US" sz="1500" b="1" dirty="0">
                <a:solidFill>
                  <a:srgbClr val="1E293B"/>
                </a:solidFill>
                <a:latin typeface="ui-sans-serif" pitchFamily="34" charset="0"/>
                <a:ea typeface="ui-sans-serif" pitchFamily="34" charset="-122"/>
                <a:cs typeface="ui-sans-serif" pitchFamily="34" charset="-120"/>
              </a:rPr>
              <a:t>Behavioral Criterion</a:t>
            </a:r>
            <a:endParaRPr lang="en-US" sz="1500" dirty="0"/>
          </a:p>
        </p:txBody>
      </p:sp>
      <p:sp>
        <p:nvSpPr>
          <p:cNvPr id="28" name="Text 7"/>
          <p:cNvSpPr/>
          <p:nvPr/>
        </p:nvSpPr>
        <p:spPr>
          <a:xfrm>
            <a:off x="6858000" y="2590800"/>
            <a:ext cx="4800600" cy="685800"/>
          </a:xfrm>
          <a:prstGeom prst="rect">
            <a:avLst/>
          </a:prstGeom>
          <a:noFill/>
          <a:ln/>
        </p:spPr>
        <p:txBody>
          <a:bodyPr vert="horz" wrap="square" lIns="0" tIns="0" rIns="0" bIns="0" rtlCol="0" anchor="t"/>
          <a:lstStyle/>
          <a:p>
            <a:pPr marL="0" indent="0">
              <a:lnSpc>
                <a:spcPts val="1800"/>
              </a:lnSpc>
              <a:buNone/>
            </a:pPr>
            <a:r>
              <a:rPr lang="en-US" sz="1200" dirty="0">
                <a:solidFill>
                  <a:srgbClr val="1E293B"/>
                </a:solidFill>
                <a:latin typeface="ui-sans-serif" pitchFamily="34" charset="0"/>
                <a:ea typeface="ui-sans-serif" pitchFamily="34" charset="-122"/>
                <a:cs typeface="ui-sans-serif" pitchFamily="34" charset="-120"/>
              </a:rPr>
              <a:t>Turing proposed a behavioral criterion for machine intelligence based on conversation, not defining intelligence or consciousness.</a:t>
            </a:r>
            <a:endParaRPr lang="en-US" sz="1200" dirty="0"/>
          </a:p>
        </p:txBody>
      </p:sp>
      <p:sp>
        <p:nvSpPr>
          <p:cNvPr id="29" name="Text 8"/>
          <p:cNvSpPr/>
          <p:nvPr/>
        </p:nvSpPr>
        <p:spPr>
          <a:xfrm>
            <a:off x="6858000" y="3733800"/>
            <a:ext cx="4800600" cy="266700"/>
          </a:xfrm>
          <a:prstGeom prst="rect">
            <a:avLst/>
          </a:prstGeom>
          <a:noFill/>
          <a:ln/>
        </p:spPr>
        <p:txBody>
          <a:bodyPr vert="horz" wrap="square" lIns="0" tIns="0" rIns="0" bIns="0" rtlCol="0" anchor="t"/>
          <a:lstStyle/>
          <a:p>
            <a:pPr marL="0" indent="0">
              <a:lnSpc>
                <a:spcPts val="2100"/>
              </a:lnSpc>
              <a:buNone/>
            </a:pPr>
            <a:r>
              <a:rPr lang="en-US" sz="1500" b="1" dirty="0">
                <a:solidFill>
                  <a:srgbClr val="1E293B"/>
                </a:solidFill>
                <a:latin typeface="ui-sans-serif" pitchFamily="34" charset="0"/>
                <a:ea typeface="ui-sans-serif" pitchFamily="34" charset="-122"/>
                <a:cs typeface="ui-sans-serif" pitchFamily="34" charset="-120"/>
              </a:rPr>
              <a:t>Lasting Impact</a:t>
            </a:r>
            <a:endParaRPr lang="en-US" sz="1500" dirty="0"/>
          </a:p>
        </p:txBody>
      </p:sp>
      <p:sp>
        <p:nvSpPr>
          <p:cNvPr id="30" name="Text 9"/>
          <p:cNvSpPr/>
          <p:nvPr/>
        </p:nvSpPr>
        <p:spPr>
          <a:xfrm>
            <a:off x="6858000" y="4038600"/>
            <a:ext cx="4800600" cy="685800"/>
          </a:xfrm>
          <a:prstGeom prst="rect">
            <a:avLst/>
          </a:prstGeom>
          <a:noFill/>
          <a:ln/>
        </p:spPr>
        <p:txBody>
          <a:bodyPr vert="horz" wrap="square" lIns="0" tIns="0" rIns="0" bIns="0" rtlCol="0" anchor="t"/>
          <a:lstStyle/>
          <a:p>
            <a:pPr marL="0" indent="0">
              <a:lnSpc>
                <a:spcPts val="1800"/>
              </a:lnSpc>
              <a:buNone/>
            </a:pPr>
            <a:r>
              <a:rPr lang="en-US" sz="1200" dirty="0">
                <a:solidFill>
                  <a:srgbClr val="1E293B"/>
                </a:solidFill>
                <a:latin typeface="ui-sans-serif" pitchFamily="34" charset="0"/>
                <a:ea typeface="ui-sans-serif" pitchFamily="34" charset="-122"/>
                <a:cs typeface="ui-sans-serif" pitchFamily="34" charset="-120"/>
              </a:rPr>
              <a:t>The test established conversational ability as a benchmark for AI development that many modern systems are still evaluated against.</a:t>
            </a:r>
            <a:endParaRPr lang="en-US" sz="1200" dirty="0"/>
          </a:p>
        </p:txBody>
      </p:sp>
      <p:sp>
        <p:nvSpPr>
          <p:cNvPr id="31" name="Text 10"/>
          <p:cNvSpPr/>
          <p:nvPr/>
        </p:nvSpPr>
        <p:spPr>
          <a:xfrm>
            <a:off x="326038" y="5715000"/>
            <a:ext cx="659547" cy="228600"/>
          </a:xfrm>
          <a:prstGeom prst="rect">
            <a:avLst/>
          </a:prstGeom>
          <a:noFill/>
          <a:ln/>
        </p:spPr>
        <p:txBody>
          <a:bodyPr vert="horz" wrap="square" lIns="0" tIns="0" rIns="0" bIns="0" rtlCol="0" anchor="t"/>
          <a:lstStyle/>
          <a:p>
            <a:pPr marL="0" indent="0" algn="ctr">
              <a:lnSpc>
                <a:spcPts val="1800"/>
              </a:lnSpc>
              <a:buNone/>
            </a:pPr>
            <a:r>
              <a:rPr lang="en-US" sz="1200" dirty="0">
                <a:solidFill>
                  <a:srgbClr val="1E293B"/>
                </a:solidFill>
                <a:latin typeface="ui-sans-serif" pitchFamily="34" charset="0"/>
                <a:ea typeface="ui-sans-serif" pitchFamily="34" charset="-122"/>
                <a:cs typeface="ui-sans-serif" pitchFamily="34" charset="-120"/>
              </a:rPr>
              <a:t>Human</a:t>
            </a:r>
            <a:endParaRPr lang="en-US" sz="1200" dirty="0"/>
          </a:p>
        </p:txBody>
      </p:sp>
      <p:sp>
        <p:nvSpPr>
          <p:cNvPr id="32" name="Text 11"/>
          <p:cNvSpPr/>
          <p:nvPr/>
        </p:nvSpPr>
        <p:spPr>
          <a:xfrm>
            <a:off x="11109171" y="5715000"/>
            <a:ext cx="765631" cy="228600"/>
          </a:xfrm>
          <a:prstGeom prst="rect">
            <a:avLst/>
          </a:prstGeom>
          <a:noFill/>
          <a:ln/>
        </p:spPr>
        <p:txBody>
          <a:bodyPr vert="horz" wrap="square" lIns="0" tIns="0" rIns="0" bIns="0" rtlCol="0" anchor="t"/>
          <a:lstStyle/>
          <a:p>
            <a:pPr marL="0" indent="0" algn="ctr">
              <a:lnSpc>
                <a:spcPts val="1800"/>
              </a:lnSpc>
              <a:buNone/>
            </a:pPr>
            <a:r>
              <a:rPr lang="en-US" sz="1200" dirty="0">
                <a:solidFill>
                  <a:srgbClr val="1E293B"/>
                </a:solidFill>
                <a:latin typeface="ui-sans-serif" pitchFamily="34" charset="0"/>
                <a:ea typeface="ui-sans-serif" pitchFamily="34" charset="-122"/>
                <a:cs typeface="ui-sans-serif" pitchFamily="34" charset="-120"/>
              </a:rPr>
              <a:t>Machine</a:t>
            </a:r>
            <a:endParaRPr lang="en-US" sz="1200" dirty="0"/>
          </a:p>
        </p:txBody>
      </p:sp>
      <p:sp>
        <p:nvSpPr>
          <p:cNvPr id="33" name="Text 12"/>
          <p:cNvSpPr/>
          <p:nvPr/>
        </p:nvSpPr>
        <p:spPr>
          <a:xfrm>
            <a:off x="-762000" y="5981700"/>
            <a:ext cx="13716000" cy="190500"/>
          </a:xfrm>
          <a:prstGeom prst="rect">
            <a:avLst/>
          </a:prstGeom>
          <a:noFill/>
          <a:ln/>
        </p:spPr>
        <p:txBody>
          <a:bodyPr vert="horz" wrap="square" lIns="0" tIns="0" rIns="0" bIns="0" rtlCol="0" anchor="t"/>
          <a:lstStyle/>
          <a:p>
            <a:pPr marL="0" indent="0" algn="ctr">
              <a:lnSpc>
                <a:spcPts val="1500"/>
              </a:lnSpc>
              <a:buNone/>
            </a:pPr>
            <a:r>
              <a:rPr lang="en-US" sz="1050" i="1" dirty="0">
                <a:solidFill>
                  <a:srgbClr val="1E293B"/>
                </a:solidFill>
                <a:latin typeface="ui-sans-serif" pitchFamily="34" charset="0"/>
                <a:ea typeface="ui-sans-serif" pitchFamily="34" charset="-122"/>
                <a:cs typeface="ui-sans-serif" pitchFamily="34" charset="-120"/>
              </a:rPr>
              <a:t>If the evaluator cannot reliably distinguish the machine from the human, the machine is said to have passed the test.</a:t>
            </a:r>
            <a:endParaRPr lang="en-US" sz="10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76200" y="-19050"/>
            <a:ext cx="12192000" cy="6858000"/>
          </a:xfrm>
          <a:prstGeom prst="rect">
            <a:avLst/>
          </a:prstGeom>
        </p:spPr>
      </p:pic>
      <p:pic>
        <p:nvPicPr>
          <p:cNvPr id="3" name="Image 1" descr="preencoded.png"/>
          <p:cNvPicPr>
            <a:picLocks noChangeAspect="1"/>
          </p:cNvPicPr>
          <p:nvPr/>
        </p:nvPicPr>
        <p:blipFill>
          <a:blip r:embed="rId4"/>
          <a:stretch>
            <a:fillRect/>
          </a:stretch>
        </p:blipFill>
        <p:spPr>
          <a:xfrm>
            <a:off x="381000" y="990600"/>
            <a:ext cx="11430000" cy="838200"/>
          </a:xfrm>
          <a:prstGeom prst="rect">
            <a:avLst/>
          </a:prstGeom>
        </p:spPr>
      </p:pic>
      <p:pic>
        <p:nvPicPr>
          <p:cNvPr id="4" name="Image 2" descr="preencoded.png"/>
          <p:cNvPicPr>
            <a:picLocks noChangeAspect="1"/>
          </p:cNvPicPr>
          <p:nvPr/>
        </p:nvPicPr>
        <p:blipFill>
          <a:blip r:embed="rId5"/>
          <a:stretch>
            <a:fillRect/>
          </a:stretch>
        </p:blipFill>
        <p:spPr>
          <a:xfrm>
            <a:off x="1333500" y="1981200"/>
            <a:ext cx="1714500" cy="1428750"/>
          </a:xfrm>
          <a:prstGeom prst="rect">
            <a:avLst/>
          </a:prstGeom>
        </p:spPr>
      </p:pic>
      <p:pic>
        <p:nvPicPr>
          <p:cNvPr id="5" name="Image 3" descr="preencoded.png"/>
          <p:cNvPicPr>
            <a:picLocks noChangeAspect="1"/>
          </p:cNvPicPr>
          <p:nvPr/>
        </p:nvPicPr>
        <p:blipFill>
          <a:blip r:embed="rId6"/>
          <a:stretch>
            <a:fillRect/>
          </a:stretch>
        </p:blipFill>
        <p:spPr>
          <a:xfrm>
            <a:off x="2079619" y="2276475"/>
            <a:ext cx="304800" cy="381000"/>
          </a:xfrm>
          <a:prstGeom prst="rect">
            <a:avLst/>
          </a:prstGeom>
        </p:spPr>
      </p:pic>
      <p:pic>
        <p:nvPicPr>
          <p:cNvPr id="6" name="Image 4" descr="preencoded.png"/>
          <p:cNvPicPr>
            <a:picLocks noChangeAspect="1"/>
          </p:cNvPicPr>
          <p:nvPr/>
        </p:nvPicPr>
        <p:blipFill>
          <a:blip r:embed="rId7"/>
          <a:stretch>
            <a:fillRect/>
          </a:stretch>
        </p:blipFill>
        <p:spPr>
          <a:xfrm>
            <a:off x="3034084" y="2695575"/>
            <a:ext cx="3047933" cy="45719"/>
          </a:xfrm>
          <a:prstGeom prst="rect">
            <a:avLst/>
          </a:prstGeom>
        </p:spPr>
      </p:pic>
      <p:pic>
        <p:nvPicPr>
          <p:cNvPr id="9" name="Image 7" descr="preencoded.png"/>
          <p:cNvPicPr>
            <a:picLocks noChangeAspect="1"/>
          </p:cNvPicPr>
          <p:nvPr/>
        </p:nvPicPr>
        <p:blipFill>
          <a:blip r:embed="rId7"/>
          <a:stretch>
            <a:fillRect/>
          </a:stretch>
        </p:blipFill>
        <p:spPr>
          <a:xfrm>
            <a:off x="6248434" y="2701290"/>
            <a:ext cx="3047933" cy="45719"/>
          </a:xfrm>
          <a:prstGeom prst="rect">
            <a:avLst/>
          </a:prstGeom>
        </p:spPr>
      </p:pic>
      <p:pic>
        <p:nvPicPr>
          <p:cNvPr id="10" name="Image 8" descr="preencoded.png"/>
          <p:cNvPicPr>
            <a:picLocks noChangeAspect="1"/>
          </p:cNvPicPr>
          <p:nvPr/>
        </p:nvPicPr>
        <p:blipFill>
          <a:blip r:embed="rId8"/>
          <a:stretch>
            <a:fillRect/>
          </a:stretch>
        </p:blipFill>
        <p:spPr>
          <a:xfrm>
            <a:off x="9144000" y="1981200"/>
            <a:ext cx="1714500" cy="1428750"/>
          </a:xfrm>
          <a:prstGeom prst="rect">
            <a:avLst/>
          </a:prstGeom>
        </p:spPr>
      </p:pic>
      <p:pic>
        <p:nvPicPr>
          <p:cNvPr id="11" name="Image 9" descr="preencoded.png"/>
          <p:cNvPicPr>
            <a:picLocks noChangeAspect="1"/>
          </p:cNvPicPr>
          <p:nvPr/>
        </p:nvPicPr>
        <p:blipFill>
          <a:blip r:embed="rId9"/>
          <a:stretch>
            <a:fillRect/>
          </a:stretch>
        </p:blipFill>
        <p:spPr>
          <a:xfrm>
            <a:off x="9786938" y="2238375"/>
            <a:ext cx="428625" cy="381000"/>
          </a:xfrm>
          <a:prstGeom prst="rect">
            <a:avLst/>
          </a:prstGeom>
        </p:spPr>
      </p:pic>
      <p:pic>
        <p:nvPicPr>
          <p:cNvPr id="12" name="Image 10" descr="preencoded.png"/>
          <p:cNvPicPr>
            <a:picLocks noChangeAspect="1"/>
          </p:cNvPicPr>
          <p:nvPr/>
        </p:nvPicPr>
        <p:blipFill>
          <a:blip r:embed="rId10"/>
          <a:stretch>
            <a:fillRect/>
          </a:stretch>
        </p:blipFill>
        <p:spPr>
          <a:xfrm>
            <a:off x="381000" y="4038600"/>
            <a:ext cx="5638800" cy="1790700"/>
          </a:xfrm>
          <a:prstGeom prst="rect">
            <a:avLst/>
          </a:prstGeom>
        </p:spPr>
      </p:pic>
      <p:pic>
        <p:nvPicPr>
          <p:cNvPr id="13" name="Image 11" descr="preencoded.png"/>
          <p:cNvPicPr>
            <a:picLocks noChangeAspect="1"/>
          </p:cNvPicPr>
          <p:nvPr/>
        </p:nvPicPr>
        <p:blipFill>
          <a:blip r:embed="rId11"/>
          <a:stretch>
            <a:fillRect/>
          </a:stretch>
        </p:blipFill>
        <p:spPr>
          <a:xfrm>
            <a:off x="533400" y="4229100"/>
            <a:ext cx="190500" cy="190500"/>
          </a:xfrm>
          <a:prstGeom prst="rect">
            <a:avLst/>
          </a:prstGeom>
        </p:spPr>
      </p:pic>
      <p:pic>
        <p:nvPicPr>
          <p:cNvPr id="14" name="Image 12" descr="preencoded.png"/>
          <p:cNvPicPr>
            <a:picLocks noChangeAspect="1"/>
          </p:cNvPicPr>
          <p:nvPr/>
        </p:nvPicPr>
        <p:blipFill>
          <a:blip r:embed="rId10"/>
          <a:stretch>
            <a:fillRect/>
          </a:stretch>
        </p:blipFill>
        <p:spPr>
          <a:xfrm>
            <a:off x="6172200" y="4038600"/>
            <a:ext cx="5638800" cy="1790700"/>
          </a:xfrm>
          <a:prstGeom prst="rect">
            <a:avLst/>
          </a:prstGeom>
        </p:spPr>
      </p:pic>
      <p:pic>
        <p:nvPicPr>
          <p:cNvPr id="15" name="Image 13" descr="preencoded.png"/>
          <p:cNvPicPr>
            <a:picLocks noChangeAspect="1"/>
          </p:cNvPicPr>
          <p:nvPr/>
        </p:nvPicPr>
        <p:blipFill>
          <a:blip r:embed="rId12"/>
          <a:stretch>
            <a:fillRect/>
          </a:stretch>
        </p:blipFill>
        <p:spPr>
          <a:xfrm>
            <a:off x="6324600" y="4229100"/>
            <a:ext cx="142875" cy="190500"/>
          </a:xfrm>
          <a:prstGeom prst="rect">
            <a:avLst/>
          </a:prstGeom>
        </p:spPr>
      </p:pic>
      <p:pic>
        <p:nvPicPr>
          <p:cNvPr id="16" name="Image 14" descr="preencoded.png"/>
          <p:cNvPicPr>
            <a:picLocks noChangeAspect="1"/>
          </p:cNvPicPr>
          <p:nvPr/>
        </p:nvPicPr>
        <p:blipFill>
          <a:blip r:embed="rId13"/>
          <a:stretch>
            <a:fillRect/>
          </a:stretch>
        </p:blipFill>
        <p:spPr>
          <a:xfrm>
            <a:off x="6324600" y="5067300"/>
            <a:ext cx="5334000" cy="609600"/>
          </a:xfrm>
          <a:prstGeom prst="rect">
            <a:avLst/>
          </a:prstGeom>
        </p:spPr>
      </p:pic>
      <p:sp>
        <p:nvSpPr>
          <p:cNvPr id="17" name="Text 0"/>
          <p:cNvSpPr/>
          <p:nvPr/>
        </p:nvSpPr>
        <p:spPr>
          <a:xfrm>
            <a:off x="381000" y="381000"/>
            <a:ext cx="13716000" cy="457200"/>
          </a:xfrm>
          <a:prstGeom prst="rect">
            <a:avLst/>
          </a:prstGeom>
          <a:noFill/>
          <a:ln/>
        </p:spPr>
        <p:txBody>
          <a:bodyPr vert="horz" wrap="square" lIns="0" tIns="0" rIns="0" bIns="0" rtlCol="0" anchor="t"/>
          <a:lstStyle/>
          <a:p>
            <a:pPr marL="0" indent="0">
              <a:lnSpc>
                <a:spcPts val="3600"/>
              </a:lnSpc>
              <a:buNone/>
            </a:pPr>
            <a:r>
              <a:rPr lang="en-US" sz="3600" b="1" dirty="0">
                <a:solidFill>
                  <a:srgbClr val="1E3A8A"/>
                </a:solidFill>
                <a:latin typeface="Segoe UI" pitchFamily="34" charset="0"/>
                <a:ea typeface="Segoe UI" pitchFamily="34" charset="-122"/>
                <a:cs typeface="Segoe UI" pitchFamily="34" charset="-120"/>
              </a:rPr>
              <a:t>How the Turing Test Works</a:t>
            </a:r>
            <a:endParaRPr lang="en-US" sz="3600" dirty="0"/>
          </a:p>
        </p:txBody>
      </p:sp>
      <p:sp>
        <p:nvSpPr>
          <p:cNvPr id="18" name="Text 1"/>
          <p:cNvSpPr/>
          <p:nvPr/>
        </p:nvSpPr>
        <p:spPr>
          <a:xfrm>
            <a:off x="533400" y="1143000"/>
            <a:ext cx="11125200" cy="533400"/>
          </a:xfrm>
          <a:prstGeom prst="rect">
            <a:avLst/>
          </a:prstGeom>
          <a:noFill/>
          <a:ln/>
        </p:spPr>
        <p:txBody>
          <a:bodyPr vert="horz" wrap="square" lIns="0" tIns="0" rIns="0" bIns="0" rtlCol="0" anchor="t"/>
          <a:lstStyle/>
          <a:p>
            <a:pPr marL="0" indent="0">
              <a:lnSpc>
                <a:spcPts val="2100"/>
              </a:lnSpc>
              <a:buNone/>
            </a:pPr>
            <a:r>
              <a:rPr lang="en-US" sz="1500" dirty="0">
                <a:solidFill>
                  <a:srgbClr val="1E293B"/>
                </a:solidFill>
                <a:latin typeface="ui-sans-serif" pitchFamily="34" charset="0"/>
                <a:ea typeface="ui-sans-serif" pitchFamily="34" charset="-122"/>
                <a:cs typeface="ui-sans-serif" pitchFamily="34" charset="-120"/>
              </a:rPr>
              <a:t>The Turing Test determines if a machine can exhibit intelligent behavior indistinguishable from humans. A human evaluator engages with both a human and a machine through text.</a:t>
            </a:r>
            <a:endParaRPr lang="en-US" sz="1500" dirty="0"/>
          </a:p>
        </p:txBody>
      </p:sp>
      <p:sp>
        <p:nvSpPr>
          <p:cNvPr id="19" name="Text 2"/>
          <p:cNvSpPr/>
          <p:nvPr/>
        </p:nvSpPr>
        <p:spPr>
          <a:xfrm>
            <a:off x="1798633" y="2695575"/>
            <a:ext cx="909399" cy="266700"/>
          </a:xfrm>
          <a:prstGeom prst="rect">
            <a:avLst/>
          </a:prstGeom>
          <a:noFill/>
          <a:ln/>
        </p:spPr>
        <p:txBody>
          <a:bodyPr vert="horz" wrap="square" lIns="0" tIns="0" rIns="0" bIns="0" rtlCol="0" anchor="t"/>
          <a:lstStyle/>
          <a:p>
            <a:pPr marL="0" indent="0" algn="ctr">
              <a:lnSpc>
                <a:spcPts val="2100"/>
              </a:lnSpc>
              <a:buNone/>
            </a:pPr>
            <a:r>
              <a:rPr lang="en-US" sz="1500" b="1">
                <a:solidFill>
                  <a:srgbClr val="FFFFFF"/>
                </a:solidFill>
                <a:latin typeface="ui-sans-serif" pitchFamily="34" charset="0"/>
                <a:ea typeface="ui-sans-serif" pitchFamily="34" charset="-122"/>
                <a:cs typeface="ui-sans-serif" pitchFamily="34" charset="-120"/>
              </a:rPr>
              <a:t>Human</a:t>
            </a:r>
            <a:endParaRPr lang="en-US" sz="1500" dirty="0"/>
          </a:p>
        </p:txBody>
      </p:sp>
      <p:sp>
        <p:nvSpPr>
          <p:cNvPr id="20" name="Text 3"/>
          <p:cNvSpPr/>
          <p:nvPr/>
        </p:nvSpPr>
        <p:spPr>
          <a:xfrm>
            <a:off x="1403851" y="2924175"/>
            <a:ext cx="1573947" cy="190500"/>
          </a:xfrm>
          <a:prstGeom prst="rect">
            <a:avLst/>
          </a:prstGeom>
          <a:noFill/>
          <a:ln/>
        </p:spPr>
        <p:txBody>
          <a:bodyPr vert="horz" wrap="square" lIns="0" tIns="0" rIns="0" bIns="0" rtlCol="0" anchor="t"/>
          <a:lstStyle/>
          <a:p>
            <a:pPr marL="0" indent="0" algn="ctr">
              <a:lnSpc>
                <a:spcPts val="1500"/>
              </a:lnSpc>
              <a:buNone/>
            </a:pPr>
            <a:r>
              <a:rPr lang="en-US" sz="1050" dirty="0">
                <a:solidFill>
                  <a:srgbClr val="FFFFFF"/>
                </a:solidFill>
                <a:latin typeface="ui-sans-serif" pitchFamily="34" charset="0"/>
                <a:ea typeface="ui-sans-serif" pitchFamily="34" charset="-122"/>
                <a:cs typeface="ui-sans-serif" pitchFamily="34" charset="-120"/>
              </a:rPr>
              <a:t>Conversationalist</a:t>
            </a:r>
            <a:endParaRPr lang="en-US" sz="1050" dirty="0"/>
          </a:p>
        </p:txBody>
      </p:sp>
      <p:sp>
        <p:nvSpPr>
          <p:cNvPr id="23" name="Text 6"/>
          <p:cNvSpPr/>
          <p:nvPr/>
        </p:nvSpPr>
        <p:spPr>
          <a:xfrm>
            <a:off x="9463072" y="2633853"/>
            <a:ext cx="1076206" cy="266700"/>
          </a:xfrm>
          <a:prstGeom prst="rect">
            <a:avLst/>
          </a:prstGeom>
          <a:noFill/>
          <a:ln/>
        </p:spPr>
        <p:txBody>
          <a:bodyPr vert="horz" wrap="square" lIns="0" tIns="0" rIns="0" bIns="0" rtlCol="0" anchor="t"/>
          <a:lstStyle/>
          <a:p>
            <a:pPr marL="0" indent="0" algn="ctr">
              <a:lnSpc>
                <a:spcPts val="2100"/>
              </a:lnSpc>
              <a:buNone/>
            </a:pPr>
            <a:r>
              <a:rPr lang="en-US" sz="1500" b="1" dirty="0">
                <a:solidFill>
                  <a:srgbClr val="FFFFFF"/>
                </a:solidFill>
                <a:latin typeface="ui-sans-serif" pitchFamily="34" charset="0"/>
                <a:ea typeface="ui-sans-serif" pitchFamily="34" charset="-122"/>
                <a:cs typeface="ui-sans-serif" pitchFamily="34" charset="-120"/>
              </a:rPr>
              <a:t>Machine</a:t>
            </a:r>
            <a:endParaRPr lang="en-US" sz="1500" dirty="0"/>
          </a:p>
        </p:txBody>
      </p:sp>
      <p:sp>
        <p:nvSpPr>
          <p:cNvPr id="24" name="Text 7"/>
          <p:cNvSpPr/>
          <p:nvPr/>
        </p:nvSpPr>
        <p:spPr>
          <a:xfrm>
            <a:off x="9202430" y="2900553"/>
            <a:ext cx="1573947" cy="190500"/>
          </a:xfrm>
          <a:prstGeom prst="rect">
            <a:avLst/>
          </a:prstGeom>
          <a:noFill/>
          <a:ln/>
        </p:spPr>
        <p:txBody>
          <a:bodyPr vert="horz" wrap="square" lIns="0" tIns="0" rIns="0" bIns="0" rtlCol="0" anchor="t"/>
          <a:lstStyle/>
          <a:p>
            <a:pPr marL="0" indent="0" algn="ctr">
              <a:lnSpc>
                <a:spcPts val="1500"/>
              </a:lnSpc>
              <a:buNone/>
            </a:pPr>
            <a:r>
              <a:rPr lang="en-US" sz="1050" dirty="0">
                <a:solidFill>
                  <a:srgbClr val="FFFFFF"/>
                </a:solidFill>
                <a:latin typeface="ui-sans-serif" pitchFamily="34" charset="0"/>
                <a:ea typeface="ui-sans-serif" pitchFamily="34" charset="-122"/>
                <a:cs typeface="ui-sans-serif" pitchFamily="34" charset="-120"/>
              </a:rPr>
              <a:t>Conversationalist</a:t>
            </a:r>
            <a:endParaRPr lang="en-US" sz="1050" dirty="0"/>
          </a:p>
        </p:txBody>
      </p:sp>
      <p:sp>
        <p:nvSpPr>
          <p:cNvPr id="25" name="Text 8"/>
          <p:cNvSpPr/>
          <p:nvPr/>
        </p:nvSpPr>
        <p:spPr>
          <a:xfrm>
            <a:off x="800100" y="4191000"/>
            <a:ext cx="5334000" cy="266700"/>
          </a:xfrm>
          <a:prstGeom prst="rect">
            <a:avLst/>
          </a:prstGeom>
          <a:noFill/>
          <a:ln/>
        </p:spPr>
        <p:txBody>
          <a:bodyPr vert="horz" wrap="square" lIns="0" tIns="0" rIns="0" bIns="0" rtlCol="0" anchor="t"/>
          <a:lstStyle/>
          <a:p>
            <a:pPr marL="0" indent="0">
              <a:lnSpc>
                <a:spcPts val="2100"/>
              </a:lnSpc>
              <a:buNone/>
            </a:pPr>
            <a:r>
              <a:rPr lang="en-US" sz="1500" b="1" dirty="0">
                <a:solidFill>
                  <a:srgbClr val="1D4ED8"/>
                </a:solidFill>
                <a:latin typeface="ui-sans-serif" pitchFamily="34" charset="0"/>
                <a:ea typeface="ui-sans-serif" pitchFamily="34" charset="-122"/>
                <a:cs typeface="ui-sans-serif" pitchFamily="34" charset="-120"/>
              </a:rPr>
              <a:t>Test Criteria</a:t>
            </a:r>
            <a:endParaRPr lang="en-US" sz="1500" dirty="0"/>
          </a:p>
        </p:txBody>
      </p:sp>
      <p:sp>
        <p:nvSpPr>
          <p:cNvPr id="26" name="Text 9"/>
          <p:cNvSpPr/>
          <p:nvPr/>
        </p:nvSpPr>
        <p:spPr>
          <a:xfrm>
            <a:off x="533400" y="4533900"/>
            <a:ext cx="5334000" cy="457200"/>
          </a:xfrm>
          <a:prstGeom prst="rect">
            <a:avLst/>
          </a:prstGeom>
          <a:noFill/>
          <a:ln/>
        </p:spPr>
        <p:txBody>
          <a:bodyPr vert="horz" wrap="square" lIns="0" tIns="0" rIns="0" bIns="0" rtlCol="0" anchor="t"/>
          <a:lstStyle/>
          <a:p>
            <a:pPr marL="342900" indent="-342900" algn="l">
              <a:lnSpc>
                <a:spcPts val="1800"/>
              </a:lnSpc>
              <a:buSzPct val="100000"/>
              <a:buChar char="•"/>
            </a:pPr>
            <a:r>
              <a:rPr lang="en-US" sz="1200" dirty="0">
                <a:solidFill>
                  <a:srgbClr val="1E293B"/>
                </a:solidFill>
                <a:latin typeface="ui-sans-serif" pitchFamily="34" charset="0"/>
                <a:ea typeface="ui-sans-serif" pitchFamily="34" charset="-122"/>
                <a:cs typeface="ui-sans-serif" pitchFamily="34" charset="-120"/>
              </a:rPr>
              <a:t>If evaluator cannot distinguish machine from human, it passes the test</a:t>
            </a:r>
            <a:endParaRPr lang="en-US" sz="1200" dirty="0"/>
          </a:p>
        </p:txBody>
      </p:sp>
      <p:sp>
        <p:nvSpPr>
          <p:cNvPr id="27" name="Text 10"/>
          <p:cNvSpPr/>
          <p:nvPr/>
        </p:nvSpPr>
        <p:spPr>
          <a:xfrm>
            <a:off x="533400" y="4810125"/>
            <a:ext cx="3962400" cy="238125"/>
          </a:xfrm>
          <a:prstGeom prst="rect">
            <a:avLst/>
          </a:prstGeom>
          <a:noFill/>
          <a:ln/>
        </p:spPr>
        <p:txBody>
          <a:bodyPr vert="horz" wrap="square" lIns="0" tIns="0" rIns="0" bIns="0" rtlCol="0" anchor="t"/>
          <a:lstStyle/>
          <a:p>
            <a:pPr marL="342900" indent="-342900" algn="l">
              <a:lnSpc>
                <a:spcPts val="1800"/>
              </a:lnSpc>
              <a:buSzPct val="100000"/>
              <a:buChar char="•"/>
            </a:pPr>
            <a:r>
              <a:rPr lang="en-US" sz="1200" dirty="0">
                <a:solidFill>
                  <a:srgbClr val="1E293B"/>
                </a:solidFill>
                <a:latin typeface="ui-sans-serif" pitchFamily="34" charset="0"/>
                <a:ea typeface="ui-sans-serif" pitchFamily="34" charset="-122"/>
                <a:cs typeface="ui-sans-serif" pitchFamily="34" charset="-120"/>
              </a:rPr>
              <a:t>Turing wasn't defining intelligence or consciousness</a:t>
            </a:r>
            <a:endParaRPr lang="en-US" sz="1200" dirty="0"/>
          </a:p>
        </p:txBody>
      </p:sp>
      <p:sp>
        <p:nvSpPr>
          <p:cNvPr id="28" name="Text 11"/>
          <p:cNvSpPr/>
          <p:nvPr/>
        </p:nvSpPr>
        <p:spPr>
          <a:xfrm>
            <a:off x="533400" y="5267325"/>
            <a:ext cx="6400800" cy="228600"/>
          </a:xfrm>
          <a:prstGeom prst="rect">
            <a:avLst/>
          </a:prstGeom>
          <a:noFill/>
          <a:ln/>
        </p:spPr>
        <p:txBody>
          <a:bodyPr vert="horz" wrap="square" lIns="0" tIns="0" rIns="0" bIns="0" rtlCol="0" anchor="t"/>
          <a:lstStyle/>
          <a:p>
            <a:pPr marL="342900" indent="-342900" algn="l">
              <a:lnSpc>
                <a:spcPts val="1800"/>
              </a:lnSpc>
              <a:buSzPct val="100000"/>
              <a:buChar char="•"/>
            </a:pPr>
            <a:r>
              <a:rPr lang="en-US" sz="1200" dirty="0">
                <a:solidFill>
                  <a:srgbClr val="1E293B"/>
                </a:solidFill>
                <a:latin typeface="ui-sans-serif" pitchFamily="34" charset="0"/>
                <a:ea typeface="ui-sans-serif" pitchFamily="34" charset="-122"/>
                <a:cs typeface="ui-sans-serif" pitchFamily="34" charset="-120"/>
              </a:rPr>
              <a:t>Proposing behavioral criterion for machine intelligence</a:t>
            </a:r>
            <a:endParaRPr lang="en-US" sz="1200" dirty="0"/>
          </a:p>
        </p:txBody>
      </p:sp>
      <p:sp>
        <p:nvSpPr>
          <p:cNvPr id="29" name="Text 12"/>
          <p:cNvSpPr/>
          <p:nvPr/>
        </p:nvSpPr>
        <p:spPr>
          <a:xfrm>
            <a:off x="6543675" y="4191000"/>
            <a:ext cx="5334000" cy="266700"/>
          </a:xfrm>
          <a:prstGeom prst="rect">
            <a:avLst/>
          </a:prstGeom>
          <a:noFill/>
          <a:ln/>
        </p:spPr>
        <p:txBody>
          <a:bodyPr vert="horz" wrap="square" lIns="0" tIns="0" rIns="0" bIns="0" rtlCol="0" anchor="t"/>
          <a:lstStyle/>
          <a:p>
            <a:pPr marL="0" indent="0">
              <a:lnSpc>
                <a:spcPts val="2100"/>
              </a:lnSpc>
              <a:buNone/>
            </a:pPr>
            <a:r>
              <a:rPr lang="en-US" sz="1500" b="1" dirty="0">
                <a:solidFill>
                  <a:srgbClr val="1D4ED8"/>
                </a:solidFill>
                <a:latin typeface="ui-sans-serif" pitchFamily="34" charset="0"/>
                <a:ea typeface="ui-sans-serif" pitchFamily="34" charset="-122"/>
                <a:cs typeface="ui-sans-serif" pitchFamily="34" charset="-120"/>
              </a:rPr>
              <a:t>Turing's Insight</a:t>
            </a:r>
            <a:endParaRPr lang="en-US" sz="1500" dirty="0"/>
          </a:p>
        </p:txBody>
      </p:sp>
      <p:sp>
        <p:nvSpPr>
          <p:cNvPr id="30" name="Text 13"/>
          <p:cNvSpPr/>
          <p:nvPr/>
        </p:nvSpPr>
        <p:spPr>
          <a:xfrm>
            <a:off x="6324600" y="4533900"/>
            <a:ext cx="5334000" cy="457200"/>
          </a:xfrm>
          <a:prstGeom prst="rect">
            <a:avLst/>
          </a:prstGeom>
          <a:noFill/>
          <a:ln/>
        </p:spPr>
        <p:txBody>
          <a:bodyPr vert="horz" wrap="square" lIns="0" tIns="0" rIns="0" bIns="0" rtlCol="0" anchor="t"/>
          <a:lstStyle/>
          <a:p>
            <a:pPr marL="0" indent="0">
              <a:lnSpc>
                <a:spcPts val="1800"/>
              </a:lnSpc>
              <a:buNone/>
            </a:pPr>
            <a:r>
              <a:rPr lang="en-US" sz="1200" dirty="0">
                <a:solidFill>
                  <a:srgbClr val="1E293B"/>
                </a:solidFill>
                <a:latin typeface="ui-sans-serif" pitchFamily="34" charset="0"/>
                <a:ea typeface="ui-sans-serif" pitchFamily="34" charset="-122"/>
                <a:cs typeface="ui-sans-serif" pitchFamily="34" charset="-120"/>
              </a:rPr>
              <a:t>If a machine can convincingly mimic human conversation, we might as well consider it intelligent for practical purposes.</a:t>
            </a:r>
            <a:endParaRPr lang="en-US" sz="1200" dirty="0"/>
          </a:p>
        </p:txBody>
      </p:sp>
      <p:sp>
        <p:nvSpPr>
          <p:cNvPr id="31" name="Text 14"/>
          <p:cNvSpPr/>
          <p:nvPr/>
        </p:nvSpPr>
        <p:spPr>
          <a:xfrm>
            <a:off x="6400800" y="5143500"/>
            <a:ext cx="5181600" cy="457200"/>
          </a:xfrm>
          <a:prstGeom prst="rect">
            <a:avLst/>
          </a:prstGeom>
          <a:noFill/>
          <a:ln/>
        </p:spPr>
        <p:txBody>
          <a:bodyPr vert="horz" wrap="square" lIns="0" tIns="0" rIns="0" bIns="0" rtlCol="0" anchor="t"/>
          <a:lstStyle/>
          <a:p>
            <a:pPr marL="0" indent="0">
              <a:lnSpc>
                <a:spcPts val="1800"/>
              </a:lnSpc>
              <a:buNone/>
            </a:pPr>
            <a:r>
              <a:rPr lang="en-US" sz="1200" b="1" dirty="0">
                <a:solidFill>
                  <a:srgbClr val="1E293B"/>
                </a:solidFill>
                <a:latin typeface="ui-sans-serif" pitchFamily="34" charset="0"/>
                <a:ea typeface="ui-sans-serif" pitchFamily="34" charset="-122"/>
                <a:cs typeface="ui-sans-serif" pitchFamily="34" charset="-120"/>
              </a:rPr>
              <a:t>Key distinction:</a:t>
            </a:r>
            <a:r>
              <a:rPr lang="en-US" sz="1200" dirty="0">
                <a:solidFill>
                  <a:srgbClr val="1E293B"/>
                </a:solidFill>
                <a:latin typeface="ui-sans-serif" pitchFamily="34" charset="0"/>
                <a:ea typeface="ui-sans-serif" pitchFamily="34" charset="-122"/>
                <a:cs typeface="ui-sans-serif" pitchFamily="34" charset="-120"/>
              </a:rPr>
              <a:t> Focus on observable behavior rather than internal states.</a:t>
            </a:r>
            <a:endParaRPr lang="en-US" sz="1200" dirty="0"/>
          </a:p>
        </p:txBody>
      </p:sp>
      <p:pic>
        <p:nvPicPr>
          <p:cNvPr id="7" name="Image 5" descr="preencoded.png"/>
          <p:cNvPicPr>
            <a:picLocks noChangeAspect="1"/>
          </p:cNvPicPr>
          <p:nvPr/>
        </p:nvPicPr>
        <p:blipFill>
          <a:blip r:embed="rId14"/>
          <a:stretch>
            <a:fillRect/>
          </a:stretch>
        </p:blipFill>
        <p:spPr>
          <a:xfrm>
            <a:off x="5143500" y="1981200"/>
            <a:ext cx="1714500" cy="1428750"/>
          </a:xfrm>
          <a:prstGeom prst="rect">
            <a:avLst/>
          </a:prstGeom>
        </p:spPr>
      </p:pic>
      <p:pic>
        <p:nvPicPr>
          <p:cNvPr id="8" name="Image 6" descr="preencoded.png"/>
          <p:cNvPicPr>
            <a:picLocks noChangeAspect="1"/>
          </p:cNvPicPr>
          <p:nvPr/>
        </p:nvPicPr>
        <p:blipFill>
          <a:blip r:embed="rId15"/>
          <a:stretch>
            <a:fillRect/>
          </a:stretch>
        </p:blipFill>
        <p:spPr>
          <a:xfrm>
            <a:off x="5829300" y="2238375"/>
            <a:ext cx="342900" cy="381000"/>
          </a:xfrm>
          <a:prstGeom prst="rect">
            <a:avLst/>
          </a:prstGeom>
        </p:spPr>
      </p:pic>
      <p:sp>
        <p:nvSpPr>
          <p:cNvPr id="21" name="Text 4"/>
          <p:cNvSpPr/>
          <p:nvPr/>
        </p:nvSpPr>
        <p:spPr>
          <a:xfrm>
            <a:off x="5398145" y="2657475"/>
            <a:ext cx="1233904" cy="266700"/>
          </a:xfrm>
          <a:prstGeom prst="rect">
            <a:avLst/>
          </a:prstGeom>
          <a:noFill/>
          <a:ln/>
        </p:spPr>
        <p:txBody>
          <a:bodyPr vert="horz" wrap="square" lIns="0" tIns="0" rIns="0" bIns="0" rtlCol="0" anchor="t"/>
          <a:lstStyle/>
          <a:p>
            <a:pPr marL="0" indent="0" algn="ctr">
              <a:lnSpc>
                <a:spcPts val="2100"/>
              </a:lnSpc>
              <a:buNone/>
            </a:pPr>
            <a:r>
              <a:rPr lang="en-US" sz="1500" b="1" dirty="0">
                <a:solidFill>
                  <a:srgbClr val="FFFFFF"/>
                </a:solidFill>
                <a:latin typeface="ui-sans-serif" pitchFamily="34" charset="0"/>
                <a:ea typeface="ui-sans-serif" pitchFamily="34" charset="-122"/>
                <a:cs typeface="ui-sans-serif" pitchFamily="34" charset="-120"/>
              </a:rPr>
              <a:t>Evaluator</a:t>
            </a:r>
            <a:endParaRPr lang="en-US" sz="1500" dirty="0"/>
          </a:p>
        </p:txBody>
      </p:sp>
      <p:sp>
        <p:nvSpPr>
          <p:cNvPr id="22" name="Text 5"/>
          <p:cNvSpPr/>
          <p:nvPr/>
        </p:nvSpPr>
        <p:spPr>
          <a:xfrm>
            <a:off x="5358646" y="2900553"/>
            <a:ext cx="1322308" cy="190500"/>
          </a:xfrm>
          <a:prstGeom prst="rect">
            <a:avLst/>
          </a:prstGeom>
          <a:noFill/>
          <a:ln/>
        </p:spPr>
        <p:txBody>
          <a:bodyPr vert="horz" wrap="square" lIns="0" tIns="0" rIns="0" bIns="0" rtlCol="0" anchor="t"/>
          <a:lstStyle/>
          <a:p>
            <a:pPr marL="0" indent="0" algn="ctr">
              <a:lnSpc>
                <a:spcPts val="1500"/>
              </a:lnSpc>
              <a:buNone/>
            </a:pPr>
            <a:r>
              <a:rPr lang="en-US" sz="1050" dirty="0">
                <a:solidFill>
                  <a:srgbClr val="FFFFFF"/>
                </a:solidFill>
                <a:latin typeface="ui-sans-serif" pitchFamily="34" charset="0"/>
                <a:ea typeface="ui-sans-serif" pitchFamily="34" charset="-122"/>
                <a:cs typeface="ui-sans-serif" pitchFamily="34" charset="-120"/>
              </a:rPr>
              <a:t>Distinguishing</a:t>
            </a:r>
            <a:endParaRPr lang="en-US" sz="10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2192000" cy="6858000"/>
          </a:xfrm>
          <a:prstGeom prst="rect">
            <a:avLst/>
          </a:prstGeom>
        </p:spPr>
      </p:pic>
      <p:pic>
        <p:nvPicPr>
          <p:cNvPr id="3" name="Image 1" descr="preencoded.png"/>
          <p:cNvPicPr>
            <a:picLocks noChangeAspect="1"/>
          </p:cNvPicPr>
          <p:nvPr/>
        </p:nvPicPr>
        <p:blipFill>
          <a:blip r:embed="rId4"/>
          <a:stretch>
            <a:fillRect/>
          </a:stretch>
        </p:blipFill>
        <p:spPr>
          <a:xfrm>
            <a:off x="457200" y="1143000"/>
            <a:ext cx="11277600" cy="914400"/>
          </a:xfrm>
          <a:prstGeom prst="rect">
            <a:avLst/>
          </a:prstGeom>
        </p:spPr>
      </p:pic>
      <p:pic>
        <p:nvPicPr>
          <p:cNvPr id="4" name="Image 2" descr="preencoded.png"/>
          <p:cNvPicPr>
            <a:picLocks noChangeAspect="1"/>
          </p:cNvPicPr>
          <p:nvPr/>
        </p:nvPicPr>
        <p:blipFill>
          <a:blip r:embed="rId5"/>
          <a:stretch>
            <a:fillRect/>
          </a:stretch>
        </p:blipFill>
        <p:spPr>
          <a:xfrm>
            <a:off x="457200" y="2286000"/>
            <a:ext cx="3568601" cy="1809750"/>
          </a:xfrm>
          <a:prstGeom prst="rect">
            <a:avLst/>
          </a:prstGeom>
        </p:spPr>
      </p:pic>
      <p:pic>
        <p:nvPicPr>
          <p:cNvPr id="5" name="Image 3" descr="preencoded.png"/>
          <p:cNvPicPr>
            <a:picLocks noChangeAspect="1"/>
          </p:cNvPicPr>
          <p:nvPr/>
        </p:nvPicPr>
        <p:blipFill>
          <a:blip r:embed="rId6"/>
          <a:stretch>
            <a:fillRect/>
          </a:stretch>
        </p:blipFill>
        <p:spPr>
          <a:xfrm>
            <a:off x="609600" y="2438400"/>
            <a:ext cx="476250" cy="476250"/>
          </a:xfrm>
          <a:prstGeom prst="rect">
            <a:avLst/>
          </a:prstGeom>
        </p:spPr>
      </p:pic>
      <p:pic>
        <p:nvPicPr>
          <p:cNvPr id="6" name="Image 4" descr="preencoded.png"/>
          <p:cNvPicPr>
            <a:picLocks noChangeAspect="1"/>
          </p:cNvPicPr>
          <p:nvPr/>
        </p:nvPicPr>
        <p:blipFill>
          <a:blip r:embed="rId7"/>
          <a:stretch>
            <a:fillRect/>
          </a:stretch>
        </p:blipFill>
        <p:spPr>
          <a:xfrm>
            <a:off x="728663" y="2543175"/>
            <a:ext cx="238125" cy="266700"/>
          </a:xfrm>
          <a:prstGeom prst="rect">
            <a:avLst/>
          </a:prstGeom>
        </p:spPr>
      </p:pic>
      <p:pic>
        <p:nvPicPr>
          <p:cNvPr id="7" name="Image 5" descr="preencoded.png"/>
          <p:cNvPicPr>
            <a:picLocks noChangeAspect="1"/>
          </p:cNvPicPr>
          <p:nvPr/>
        </p:nvPicPr>
        <p:blipFill>
          <a:blip r:embed="rId8"/>
          <a:stretch>
            <a:fillRect/>
          </a:stretch>
        </p:blipFill>
        <p:spPr>
          <a:xfrm>
            <a:off x="4178201" y="2286000"/>
            <a:ext cx="3568750" cy="1809750"/>
          </a:xfrm>
          <a:prstGeom prst="rect">
            <a:avLst/>
          </a:prstGeom>
        </p:spPr>
      </p:pic>
      <p:pic>
        <p:nvPicPr>
          <p:cNvPr id="8" name="Image 6" descr="preencoded.png"/>
          <p:cNvPicPr>
            <a:picLocks noChangeAspect="1"/>
          </p:cNvPicPr>
          <p:nvPr/>
        </p:nvPicPr>
        <p:blipFill>
          <a:blip r:embed="rId9"/>
          <a:stretch>
            <a:fillRect/>
          </a:stretch>
        </p:blipFill>
        <p:spPr>
          <a:xfrm>
            <a:off x="4330601" y="2438400"/>
            <a:ext cx="476250" cy="476250"/>
          </a:xfrm>
          <a:prstGeom prst="rect">
            <a:avLst/>
          </a:prstGeom>
        </p:spPr>
      </p:pic>
      <p:pic>
        <p:nvPicPr>
          <p:cNvPr id="9" name="Image 7" descr="preencoded.png"/>
          <p:cNvPicPr>
            <a:picLocks noChangeAspect="1"/>
          </p:cNvPicPr>
          <p:nvPr/>
        </p:nvPicPr>
        <p:blipFill>
          <a:blip r:embed="rId10"/>
          <a:stretch>
            <a:fillRect/>
          </a:stretch>
        </p:blipFill>
        <p:spPr>
          <a:xfrm>
            <a:off x="4473476" y="2543175"/>
            <a:ext cx="190500" cy="266700"/>
          </a:xfrm>
          <a:prstGeom prst="rect">
            <a:avLst/>
          </a:prstGeom>
        </p:spPr>
      </p:pic>
      <p:pic>
        <p:nvPicPr>
          <p:cNvPr id="10" name="Image 8" descr="preencoded.png"/>
          <p:cNvPicPr>
            <a:picLocks noChangeAspect="1"/>
          </p:cNvPicPr>
          <p:nvPr/>
        </p:nvPicPr>
        <p:blipFill>
          <a:blip r:embed="rId11"/>
          <a:stretch>
            <a:fillRect/>
          </a:stretch>
        </p:blipFill>
        <p:spPr>
          <a:xfrm>
            <a:off x="457200" y="4248150"/>
            <a:ext cx="3568601" cy="1809750"/>
          </a:xfrm>
          <a:prstGeom prst="rect">
            <a:avLst/>
          </a:prstGeom>
        </p:spPr>
      </p:pic>
      <p:pic>
        <p:nvPicPr>
          <p:cNvPr id="11" name="Image 9" descr="preencoded.png"/>
          <p:cNvPicPr>
            <a:picLocks noChangeAspect="1"/>
          </p:cNvPicPr>
          <p:nvPr/>
        </p:nvPicPr>
        <p:blipFill>
          <a:blip r:embed="rId12"/>
          <a:stretch>
            <a:fillRect/>
          </a:stretch>
        </p:blipFill>
        <p:spPr>
          <a:xfrm>
            <a:off x="609600" y="4400550"/>
            <a:ext cx="476250" cy="476250"/>
          </a:xfrm>
          <a:prstGeom prst="rect">
            <a:avLst/>
          </a:prstGeom>
        </p:spPr>
      </p:pic>
      <p:pic>
        <p:nvPicPr>
          <p:cNvPr id="12" name="Image 10" descr="preencoded.png"/>
          <p:cNvPicPr>
            <a:picLocks noChangeAspect="1"/>
          </p:cNvPicPr>
          <p:nvPr/>
        </p:nvPicPr>
        <p:blipFill>
          <a:blip r:embed="rId13"/>
          <a:stretch>
            <a:fillRect/>
          </a:stretch>
        </p:blipFill>
        <p:spPr>
          <a:xfrm>
            <a:off x="762000" y="4505325"/>
            <a:ext cx="171450" cy="266700"/>
          </a:xfrm>
          <a:prstGeom prst="rect">
            <a:avLst/>
          </a:prstGeom>
        </p:spPr>
      </p:pic>
      <p:pic>
        <p:nvPicPr>
          <p:cNvPr id="13" name="Image 11" descr="preencoded.png"/>
          <p:cNvPicPr>
            <a:picLocks noChangeAspect="1"/>
          </p:cNvPicPr>
          <p:nvPr/>
        </p:nvPicPr>
        <p:blipFill>
          <a:blip r:embed="rId14"/>
          <a:stretch>
            <a:fillRect/>
          </a:stretch>
        </p:blipFill>
        <p:spPr>
          <a:xfrm>
            <a:off x="4178201" y="4248150"/>
            <a:ext cx="3568750" cy="1809750"/>
          </a:xfrm>
          <a:prstGeom prst="rect">
            <a:avLst/>
          </a:prstGeom>
        </p:spPr>
      </p:pic>
      <p:pic>
        <p:nvPicPr>
          <p:cNvPr id="14" name="Image 12" descr="preencoded.png"/>
          <p:cNvPicPr>
            <a:picLocks noChangeAspect="1"/>
          </p:cNvPicPr>
          <p:nvPr/>
        </p:nvPicPr>
        <p:blipFill>
          <a:blip r:embed="rId15"/>
          <a:stretch>
            <a:fillRect/>
          </a:stretch>
        </p:blipFill>
        <p:spPr>
          <a:xfrm>
            <a:off x="4330601" y="4400550"/>
            <a:ext cx="476250" cy="476250"/>
          </a:xfrm>
          <a:prstGeom prst="rect">
            <a:avLst/>
          </a:prstGeom>
        </p:spPr>
      </p:pic>
      <p:pic>
        <p:nvPicPr>
          <p:cNvPr id="15" name="Image 13" descr="preencoded.png"/>
          <p:cNvPicPr>
            <a:picLocks noChangeAspect="1"/>
          </p:cNvPicPr>
          <p:nvPr/>
        </p:nvPicPr>
        <p:blipFill>
          <a:blip r:embed="rId16"/>
          <a:stretch>
            <a:fillRect/>
          </a:stretch>
        </p:blipFill>
        <p:spPr>
          <a:xfrm>
            <a:off x="4497288" y="4505325"/>
            <a:ext cx="142875" cy="266700"/>
          </a:xfrm>
          <a:prstGeom prst="rect">
            <a:avLst/>
          </a:prstGeom>
        </p:spPr>
      </p:pic>
      <p:pic>
        <p:nvPicPr>
          <p:cNvPr id="16" name="Image 14" descr="preencoded.png"/>
          <p:cNvPicPr>
            <a:picLocks noChangeAspect="1"/>
          </p:cNvPicPr>
          <p:nvPr/>
        </p:nvPicPr>
        <p:blipFill>
          <a:blip r:embed="rId17"/>
          <a:stretch>
            <a:fillRect/>
          </a:stretch>
        </p:blipFill>
        <p:spPr>
          <a:xfrm>
            <a:off x="7975550" y="2850952"/>
            <a:ext cx="3759101" cy="2108448"/>
          </a:xfrm>
          <a:prstGeom prst="rect">
            <a:avLst/>
          </a:prstGeom>
        </p:spPr>
      </p:pic>
      <p:pic>
        <p:nvPicPr>
          <p:cNvPr id="17" name="Image 15" descr="preencoded.png"/>
          <p:cNvPicPr>
            <a:picLocks noChangeAspect="1"/>
          </p:cNvPicPr>
          <p:nvPr/>
        </p:nvPicPr>
        <p:blipFill>
          <a:blip r:embed="rId18"/>
          <a:stretch>
            <a:fillRect/>
          </a:stretch>
        </p:blipFill>
        <p:spPr>
          <a:xfrm>
            <a:off x="7975550" y="2850952"/>
            <a:ext cx="3759101" cy="2108448"/>
          </a:xfrm>
          <a:prstGeom prst="rect">
            <a:avLst/>
          </a:prstGeom>
        </p:spPr>
      </p:pic>
      <p:sp>
        <p:nvSpPr>
          <p:cNvPr id="18" name="Text 0"/>
          <p:cNvSpPr/>
          <p:nvPr/>
        </p:nvSpPr>
        <p:spPr>
          <a:xfrm>
            <a:off x="457200" y="457200"/>
            <a:ext cx="13533120" cy="457200"/>
          </a:xfrm>
          <a:prstGeom prst="rect">
            <a:avLst/>
          </a:prstGeom>
          <a:noFill/>
          <a:ln/>
        </p:spPr>
        <p:txBody>
          <a:bodyPr vert="horz" wrap="square" lIns="0" tIns="0" rIns="0" bIns="0" rtlCol="0" anchor="t"/>
          <a:lstStyle/>
          <a:p>
            <a:pPr marL="0" indent="0">
              <a:lnSpc>
                <a:spcPts val="3600"/>
              </a:lnSpc>
              <a:buNone/>
            </a:pPr>
            <a:r>
              <a:rPr lang="en-US" sz="3600" b="1" dirty="0">
                <a:solidFill>
                  <a:srgbClr val="1E3A8A"/>
                </a:solidFill>
                <a:latin typeface="Segoe UI" pitchFamily="34" charset="0"/>
                <a:ea typeface="Segoe UI" pitchFamily="34" charset="-122"/>
                <a:cs typeface="Segoe UI" pitchFamily="34" charset="-120"/>
              </a:rPr>
              <a:t>Modern AI: ChatGPT and Generative Systems</a:t>
            </a:r>
            <a:endParaRPr lang="en-US" sz="3600" dirty="0"/>
          </a:p>
        </p:txBody>
      </p:sp>
      <p:sp>
        <p:nvSpPr>
          <p:cNvPr id="19" name="Text 1"/>
          <p:cNvSpPr/>
          <p:nvPr/>
        </p:nvSpPr>
        <p:spPr>
          <a:xfrm>
            <a:off x="647700" y="1446213"/>
            <a:ext cx="10896600" cy="314325"/>
          </a:xfrm>
          <a:prstGeom prst="rect">
            <a:avLst/>
          </a:prstGeom>
          <a:noFill/>
          <a:ln/>
        </p:spPr>
        <p:txBody>
          <a:bodyPr vert="horz" wrap="square" lIns="0" tIns="0" rIns="0" bIns="0" rtlCol="0" anchor="t"/>
          <a:lstStyle/>
          <a:p>
            <a:pPr marL="0" indent="0">
              <a:lnSpc>
                <a:spcPts val="2100"/>
              </a:lnSpc>
              <a:buNone/>
            </a:pPr>
            <a:r>
              <a:rPr lang="en-US" sz="1500" dirty="0">
                <a:solidFill>
                  <a:srgbClr val="1E293B"/>
                </a:solidFill>
                <a:latin typeface="ui-sans-serif" pitchFamily="34" charset="0"/>
                <a:ea typeface="ui-sans-serif" pitchFamily="34" charset="-122"/>
                <a:cs typeface="ui-sans-serif" pitchFamily="34" charset="-120"/>
              </a:rPr>
              <a:t>Today's AI systems like ChatGPT can engage in remarkably human-like conversations and demonstrate unprecedented linguistic capabilities.</a:t>
            </a:r>
            <a:endParaRPr lang="en-US" sz="1500" dirty="0"/>
          </a:p>
        </p:txBody>
      </p:sp>
      <p:sp>
        <p:nvSpPr>
          <p:cNvPr id="20" name="Text 2"/>
          <p:cNvSpPr/>
          <p:nvPr/>
        </p:nvSpPr>
        <p:spPr>
          <a:xfrm>
            <a:off x="1238250" y="2438400"/>
            <a:ext cx="3162181" cy="266700"/>
          </a:xfrm>
          <a:prstGeom prst="rect">
            <a:avLst/>
          </a:prstGeom>
          <a:noFill/>
          <a:ln/>
        </p:spPr>
        <p:txBody>
          <a:bodyPr vert="horz" wrap="square" lIns="0" tIns="0" rIns="0" bIns="0" rtlCol="0" anchor="t"/>
          <a:lstStyle/>
          <a:p>
            <a:pPr marL="0" indent="0">
              <a:lnSpc>
                <a:spcPts val="2100"/>
              </a:lnSpc>
              <a:buNone/>
            </a:pPr>
            <a:r>
              <a:rPr lang="en-US" sz="1350" b="1" dirty="0">
                <a:solidFill>
                  <a:srgbClr val="1E293B"/>
                </a:solidFill>
                <a:latin typeface="ui-sans-serif" pitchFamily="34" charset="0"/>
                <a:ea typeface="ui-sans-serif" pitchFamily="34" charset="-122"/>
                <a:cs typeface="ui-sans-serif" pitchFamily="34" charset="-120"/>
              </a:rPr>
              <a:t>Conversational Abilities</a:t>
            </a:r>
            <a:endParaRPr lang="en-US" sz="1350" dirty="0"/>
          </a:p>
        </p:txBody>
      </p:sp>
      <p:sp>
        <p:nvSpPr>
          <p:cNvPr id="21" name="Text 3"/>
          <p:cNvSpPr/>
          <p:nvPr/>
        </p:nvSpPr>
        <p:spPr>
          <a:xfrm>
            <a:off x="1238250" y="2743200"/>
            <a:ext cx="2635151" cy="457200"/>
          </a:xfrm>
          <a:prstGeom prst="rect">
            <a:avLst/>
          </a:prstGeom>
          <a:noFill/>
          <a:ln/>
        </p:spPr>
        <p:txBody>
          <a:bodyPr vert="horz" wrap="square" lIns="0" tIns="0" rIns="0" bIns="0" rtlCol="0" anchor="t"/>
          <a:lstStyle/>
          <a:p>
            <a:pPr marL="0" indent="0">
              <a:lnSpc>
                <a:spcPts val="1800"/>
              </a:lnSpc>
              <a:buNone/>
            </a:pPr>
            <a:r>
              <a:rPr lang="en-US" sz="1200" dirty="0">
                <a:solidFill>
                  <a:srgbClr val="1E293B"/>
                </a:solidFill>
                <a:latin typeface="ui-sans-serif" pitchFamily="34" charset="0"/>
                <a:ea typeface="ui-sans-serif" pitchFamily="34" charset="-122"/>
                <a:cs typeface="ui-sans-serif" pitchFamily="34" charset="-120"/>
              </a:rPr>
              <a:t>Engage in human-like dialogues on diverse topics.</a:t>
            </a:r>
            <a:endParaRPr lang="en-US" sz="1200" dirty="0"/>
          </a:p>
        </p:txBody>
      </p:sp>
      <p:sp>
        <p:nvSpPr>
          <p:cNvPr id="22" name="Text 4"/>
          <p:cNvSpPr/>
          <p:nvPr/>
        </p:nvSpPr>
        <p:spPr>
          <a:xfrm>
            <a:off x="4959251" y="2438400"/>
            <a:ext cx="3162360" cy="266700"/>
          </a:xfrm>
          <a:prstGeom prst="rect">
            <a:avLst/>
          </a:prstGeom>
          <a:noFill/>
          <a:ln/>
        </p:spPr>
        <p:txBody>
          <a:bodyPr vert="horz" wrap="square" lIns="0" tIns="0" rIns="0" bIns="0" rtlCol="0" anchor="t"/>
          <a:lstStyle/>
          <a:p>
            <a:pPr marL="0" indent="0">
              <a:lnSpc>
                <a:spcPts val="2100"/>
              </a:lnSpc>
              <a:buNone/>
            </a:pPr>
            <a:r>
              <a:rPr lang="en-US" sz="1350" b="1" dirty="0">
                <a:solidFill>
                  <a:srgbClr val="1E293B"/>
                </a:solidFill>
                <a:latin typeface="ui-sans-serif" pitchFamily="34" charset="0"/>
                <a:ea typeface="ui-sans-serif" pitchFamily="34" charset="-122"/>
                <a:cs typeface="ui-sans-serif" pitchFamily="34" charset="-120"/>
              </a:rPr>
              <a:t>Writing Skills</a:t>
            </a:r>
            <a:endParaRPr lang="en-US" sz="1350" dirty="0"/>
          </a:p>
        </p:txBody>
      </p:sp>
      <p:sp>
        <p:nvSpPr>
          <p:cNvPr id="23" name="Text 5"/>
          <p:cNvSpPr/>
          <p:nvPr/>
        </p:nvSpPr>
        <p:spPr>
          <a:xfrm>
            <a:off x="4959251" y="2743200"/>
            <a:ext cx="2635300" cy="457200"/>
          </a:xfrm>
          <a:prstGeom prst="rect">
            <a:avLst/>
          </a:prstGeom>
          <a:noFill/>
          <a:ln/>
        </p:spPr>
        <p:txBody>
          <a:bodyPr vert="horz" wrap="square" lIns="0" tIns="0" rIns="0" bIns="0" rtlCol="0" anchor="t"/>
          <a:lstStyle/>
          <a:p>
            <a:pPr marL="0" indent="0">
              <a:lnSpc>
                <a:spcPts val="1800"/>
              </a:lnSpc>
              <a:buNone/>
            </a:pPr>
            <a:r>
              <a:rPr lang="en-US" sz="1200" dirty="0">
                <a:solidFill>
                  <a:srgbClr val="1E293B"/>
                </a:solidFill>
                <a:latin typeface="ui-sans-serif" pitchFamily="34" charset="0"/>
                <a:ea typeface="ui-sans-serif" pitchFamily="34" charset="-122"/>
                <a:cs typeface="ui-sans-serif" pitchFamily="34" charset="-120"/>
              </a:rPr>
              <a:t>Compose essays, stories, and code with human-like quality.</a:t>
            </a:r>
            <a:endParaRPr lang="en-US" sz="1200" dirty="0"/>
          </a:p>
        </p:txBody>
      </p:sp>
      <p:sp>
        <p:nvSpPr>
          <p:cNvPr id="24" name="Text 6"/>
          <p:cNvSpPr/>
          <p:nvPr/>
        </p:nvSpPr>
        <p:spPr>
          <a:xfrm>
            <a:off x="1238250" y="4400550"/>
            <a:ext cx="3162181" cy="266700"/>
          </a:xfrm>
          <a:prstGeom prst="rect">
            <a:avLst/>
          </a:prstGeom>
          <a:noFill/>
          <a:ln/>
        </p:spPr>
        <p:txBody>
          <a:bodyPr vert="horz" wrap="square" lIns="0" tIns="0" rIns="0" bIns="0" rtlCol="0" anchor="t"/>
          <a:lstStyle/>
          <a:p>
            <a:pPr marL="0" indent="0">
              <a:lnSpc>
                <a:spcPts val="2100"/>
              </a:lnSpc>
              <a:buNone/>
            </a:pPr>
            <a:r>
              <a:rPr lang="en-US" sz="1350" b="1" dirty="0">
                <a:solidFill>
                  <a:srgbClr val="1E293B"/>
                </a:solidFill>
                <a:latin typeface="ui-sans-serif" pitchFamily="34" charset="0"/>
                <a:ea typeface="ui-sans-serif" pitchFamily="34" charset="-122"/>
                <a:cs typeface="ui-sans-serif" pitchFamily="34" charset="-120"/>
              </a:rPr>
              <a:t>Knowledge Retrieval</a:t>
            </a:r>
            <a:endParaRPr lang="en-US" sz="1350" dirty="0"/>
          </a:p>
        </p:txBody>
      </p:sp>
      <p:sp>
        <p:nvSpPr>
          <p:cNvPr id="25" name="Text 7"/>
          <p:cNvSpPr/>
          <p:nvPr/>
        </p:nvSpPr>
        <p:spPr>
          <a:xfrm>
            <a:off x="1238250" y="4705350"/>
            <a:ext cx="2635151" cy="457200"/>
          </a:xfrm>
          <a:prstGeom prst="rect">
            <a:avLst/>
          </a:prstGeom>
          <a:noFill/>
          <a:ln/>
        </p:spPr>
        <p:txBody>
          <a:bodyPr vert="horz" wrap="square" lIns="0" tIns="0" rIns="0" bIns="0" rtlCol="0" anchor="t"/>
          <a:lstStyle/>
          <a:p>
            <a:pPr marL="0" indent="0">
              <a:lnSpc>
                <a:spcPts val="1800"/>
              </a:lnSpc>
              <a:buNone/>
            </a:pPr>
            <a:r>
              <a:rPr lang="en-US" sz="1200" dirty="0">
                <a:solidFill>
                  <a:srgbClr val="1E293B"/>
                </a:solidFill>
                <a:latin typeface="ui-sans-serif" pitchFamily="34" charset="0"/>
                <a:ea typeface="ui-sans-serif" pitchFamily="34" charset="-122"/>
                <a:cs typeface="ui-sans-serif" pitchFamily="34" charset="-120"/>
              </a:rPr>
              <a:t>Answer complex questions with accurate information.</a:t>
            </a:r>
            <a:endParaRPr lang="en-US" sz="1200" dirty="0"/>
          </a:p>
        </p:txBody>
      </p:sp>
      <p:sp>
        <p:nvSpPr>
          <p:cNvPr id="26" name="Text 8"/>
          <p:cNvSpPr/>
          <p:nvPr/>
        </p:nvSpPr>
        <p:spPr>
          <a:xfrm>
            <a:off x="4959251" y="4400550"/>
            <a:ext cx="3162360" cy="266700"/>
          </a:xfrm>
          <a:prstGeom prst="rect">
            <a:avLst/>
          </a:prstGeom>
          <a:noFill/>
          <a:ln/>
        </p:spPr>
        <p:txBody>
          <a:bodyPr vert="horz" wrap="square" lIns="0" tIns="0" rIns="0" bIns="0" rtlCol="0" anchor="t"/>
          <a:lstStyle/>
          <a:p>
            <a:pPr marL="0" indent="0">
              <a:lnSpc>
                <a:spcPts val="2100"/>
              </a:lnSpc>
              <a:buNone/>
            </a:pPr>
            <a:r>
              <a:rPr lang="en-US" sz="1350" b="1" dirty="0">
                <a:solidFill>
                  <a:srgbClr val="1E293B"/>
                </a:solidFill>
                <a:latin typeface="ui-sans-serif" pitchFamily="34" charset="0"/>
                <a:ea typeface="ui-sans-serif" pitchFamily="34" charset="-122"/>
                <a:cs typeface="ui-sans-serif" pitchFamily="34" charset="-120"/>
              </a:rPr>
              <a:t>Creative Generation</a:t>
            </a:r>
            <a:endParaRPr lang="en-US" sz="1350" dirty="0"/>
          </a:p>
        </p:txBody>
      </p:sp>
      <p:sp>
        <p:nvSpPr>
          <p:cNvPr id="27" name="Text 9"/>
          <p:cNvSpPr/>
          <p:nvPr/>
        </p:nvSpPr>
        <p:spPr>
          <a:xfrm>
            <a:off x="4959251" y="4705350"/>
            <a:ext cx="2635300" cy="457200"/>
          </a:xfrm>
          <a:prstGeom prst="rect">
            <a:avLst/>
          </a:prstGeom>
          <a:noFill/>
          <a:ln/>
        </p:spPr>
        <p:txBody>
          <a:bodyPr vert="horz" wrap="square" lIns="0" tIns="0" rIns="0" bIns="0" rtlCol="0" anchor="t"/>
          <a:lstStyle/>
          <a:p>
            <a:pPr marL="0" indent="0">
              <a:lnSpc>
                <a:spcPts val="1800"/>
              </a:lnSpc>
              <a:buNone/>
            </a:pPr>
            <a:r>
              <a:rPr lang="en-US" sz="1200" dirty="0">
                <a:solidFill>
                  <a:srgbClr val="1E293B"/>
                </a:solidFill>
                <a:latin typeface="ui-sans-serif" pitchFamily="34" charset="0"/>
                <a:ea typeface="ui-sans-serif" pitchFamily="34" charset="-122"/>
                <a:cs typeface="ui-sans-serif" pitchFamily="34" charset="-120"/>
              </a:rPr>
              <a:t>Create poetry, music, and art with creative flair.</a:t>
            </a:r>
            <a:endParaRPr lang="en-US" sz="1200" dirty="0"/>
          </a:p>
        </p:txBody>
      </p:sp>
      <p:sp>
        <p:nvSpPr>
          <p:cNvPr id="28" name="Text 10"/>
          <p:cNvSpPr/>
          <p:nvPr/>
        </p:nvSpPr>
        <p:spPr>
          <a:xfrm>
            <a:off x="7975550" y="5111800"/>
            <a:ext cx="3759101" cy="381000"/>
          </a:xfrm>
          <a:prstGeom prst="rect">
            <a:avLst/>
          </a:prstGeom>
          <a:noFill/>
          <a:ln/>
        </p:spPr>
        <p:txBody>
          <a:bodyPr vert="horz" wrap="square" lIns="0" tIns="0" rIns="0" bIns="0" rtlCol="0" anchor="t"/>
          <a:lstStyle/>
          <a:p>
            <a:pPr marL="0" indent="0" algn="ctr">
              <a:lnSpc>
                <a:spcPts val="1500"/>
              </a:lnSpc>
              <a:buNone/>
            </a:pPr>
            <a:r>
              <a:rPr lang="en-US" sz="1050" i="1" dirty="0">
                <a:solidFill>
                  <a:srgbClr val="4B5563"/>
                </a:solidFill>
                <a:latin typeface="ui-sans-serif" pitchFamily="34" charset="0"/>
                <a:ea typeface="ui-sans-serif" pitchFamily="34" charset="-122"/>
                <a:cs typeface="ui-sans-serif" pitchFamily="34" charset="-120"/>
              </a:rPr>
              <a:t>Modern AI processors power today's generative systems</a:t>
            </a:r>
            <a:endParaRPr lang="en-US" sz="1050" dirty="0"/>
          </a:p>
        </p:txBody>
      </p:sp>
      <p:sp>
        <p:nvSpPr>
          <p:cNvPr id="29" name="Text 11"/>
          <p:cNvSpPr/>
          <p:nvPr/>
        </p:nvSpPr>
        <p:spPr>
          <a:xfrm>
            <a:off x="457200" y="6210300"/>
            <a:ext cx="13533120" cy="190500"/>
          </a:xfrm>
          <a:prstGeom prst="rect">
            <a:avLst/>
          </a:prstGeom>
          <a:noFill/>
          <a:ln/>
        </p:spPr>
        <p:txBody>
          <a:bodyPr vert="horz" wrap="square" lIns="0" tIns="0" rIns="0" bIns="0" rtlCol="0" anchor="t"/>
          <a:lstStyle/>
          <a:p>
            <a:pPr marL="0" indent="0">
              <a:lnSpc>
                <a:spcPts val="1500"/>
              </a:lnSpc>
              <a:buNone/>
            </a:pPr>
            <a:r>
              <a:rPr lang="en-US" sz="1050" i="1" dirty="0">
                <a:solidFill>
                  <a:srgbClr val="4B5563"/>
                </a:solidFill>
                <a:latin typeface="ui-sans-serif" pitchFamily="34" charset="0"/>
                <a:ea typeface="ui-sans-serif" pitchFamily="34" charset="-122"/>
                <a:cs typeface="ui-sans-serif" pitchFamily="34" charset="-120"/>
              </a:rPr>
              <a:t>These systems demonstrate capabilities that would have seemed like science fiction just a decade ago.</a:t>
            </a:r>
            <a:endParaRPr lang="en-US" sz="10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2192000" cy="6858000"/>
          </a:xfrm>
          <a:prstGeom prst="rect">
            <a:avLst/>
          </a:prstGeom>
        </p:spPr>
      </p:pic>
      <p:pic>
        <p:nvPicPr>
          <p:cNvPr id="3" name="Image 1" descr="preencoded.png"/>
          <p:cNvPicPr>
            <a:picLocks noChangeAspect="1"/>
          </p:cNvPicPr>
          <p:nvPr/>
        </p:nvPicPr>
        <p:blipFill>
          <a:blip r:embed="rId4"/>
          <a:stretch>
            <a:fillRect/>
          </a:stretch>
        </p:blipFill>
        <p:spPr>
          <a:xfrm>
            <a:off x="457200" y="1143000"/>
            <a:ext cx="11277600" cy="838200"/>
          </a:xfrm>
          <a:prstGeom prst="rect">
            <a:avLst/>
          </a:prstGeom>
        </p:spPr>
      </p:pic>
      <p:pic>
        <p:nvPicPr>
          <p:cNvPr id="4" name="Image 2" descr="preencoded.png"/>
          <p:cNvPicPr>
            <a:picLocks noChangeAspect="1"/>
          </p:cNvPicPr>
          <p:nvPr/>
        </p:nvPicPr>
        <p:blipFill>
          <a:blip r:embed="rId5"/>
          <a:stretch>
            <a:fillRect/>
          </a:stretch>
        </p:blipFill>
        <p:spPr>
          <a:xfrm>
            <a:off x="457200" y="2209800"/>
            <a:ext cx="457200" cy="457200"/>
          </a:xfrm>
          <a:prstGeom prst="rect">
            <a:avLst/>
          </a:prstGeom>
        </p:spPr>
      </p:pic>
      <p:pic>
        <p:nvPicPr>
          <p:cNvPr id="5" name="Image 3" descr="preencoded.png"/>
          <p:cNvPicPr>
            <a:picLocks noChangeAspect="1"/>
          </p:cNvPicPr>
          <p:nvPr/>
        </p:nvPicPr>
        <p:blipFill>
          <a:blip r:embed="rId6"/>
          <a:stretch>
            <a:fillRect/>
          </a:stretch>
        </p:blipFill>
        <p:spPr>
          <a:xfrm>
            <a:off x="571500" y="2286000"/>
            <a:ext cx="228600" cy="304800"/>
          </a:xfrm>
          <a:prstGeom prst="rect">
            <a:avLst/>
          </a:prstGeom>
        </p:spPr>
      </p:pic>
      <p:pic>
        <p:nvPicPr>
          <p:cNvPr id="6" name="Image 4" descr="preencoded.png"/>
          <p:cNvPicPr>
            <a:picLocks noChangeAspect="1"/>
          </p:cNvPicPr>
          <p:nvPr/>
        </p:nvPicPr>
        <p:blipFill>
          <a:blip r:embed="rId7"/>
          <a:stretch>
            <a:fillRect/>
          </a:stretch>
        </p:blipFill>
        <p:spPr>
          <a:xfrm>
            <a:off x="457200" y="2819400"/>
            <a:ext cx="5524500" cy="2933700"/>
          </a:xfrm>
          <a:prstGeom prst="rect">
            <a:avLst/>
          </a:prstGeom>
        </p:spPr>
      </p:pic>
      <p:pic>
        <p:nvPicPr>
          <p:cNvPr id="7" name="Image 5" descr="preencoded.png"/>
          <p:cNvPicPr>
            <a:picLocks noChangeAspect="1"/>
          </p:cNvPicPr>
          <p:nvPr/>
        </p:nvPicPr>
        <p:blipFill>
          <a:blip r:embed="rId8"/>
          <a:stretch>
            <a:fillRect/>
          </a:stretch>
        </p:blipFill>
        <p:spPr>
          <a:xfrm>
            <a:off x="647700" y="3048000"/>
            <a:ext cx="219075" cy="266700"/>
          </a:xfrm>
          <a:prstGeom prst="rect">
            <a:avLst/>
          </a:prstGeom>
        </p:spPr>
      </p:pic>
      <p:pic>
        <p:nvPicPr>
          <p:cNvPr id="8" name="Image 6" descr="preencoded.png"/>
          <p:cNvPicPr>
            <a:picLocks noChangeAspect="1"/>
          </p:cNvPicPr>
          <p:nvPr/>
        </p:nvPicPr>
        <p:blipFill>
          <a:blip r:embed="rId9"/>
          <a:stretch>
            <a:fillRect/>
          </a:stretch>
        </p:blipFill>
        <p:spPr>
          <a:xfrm>
            <a:off x="647700" y="3657600"/>
            <a:ext cx="219075" cy="266700"/>
          </a:xfrm>
          <a:prstGeom prst="rect">
            <a:avLst/>
          </a:prstGeom>
        </p:spPr>
      </p:pic>
      <p:pic>
        <p:nvPicPr>
          <p:cNvPr id="9" name="Image 7" descr="preencoded.png"/>
          <p:cNvPicPr>
            <a:picLocks noChangeAspect="1"/>
          </p:cNvPicPr>
          <p:nvPr/>
        </p:nvPicPr>
        <p:blipFill>
          <a:blip r:embed="rId10"/>
          <a:stretch>
            <a:fillRect/>
          </a:stretch>
        </p:blipFill>
        <p:spPr>
          <a:xfrm>
            <a:off x="647700" y="4267200"/>
            <a:ext cx="219075" cy="266700"/>
          </a:xfrm>
          <a:prstGeom prst="rect">
            <a:avLst/>
          </a:prstGeom>
        </p:spPr>
      </p:pic>
      <p:pic>
        <p:nvPicPr>
          <p:cNvPr id="10" name="Image 8" descr="preencoded.png"/>
          <p:cNvPicPr>
            <a:picLocks noChangeAspect="1"/>
          </p:cNvPicPr>
          <p:nvPr/>
        </p:nvPicPr>
        <p:blipFill>
          <a:blip r:embed="rId11"/>
          <a:stretch>
            <a:fillRect/>
          </a:stretch>
        </p:blipFill>
        <p:spPr>
          <a:xfrm>
            <a:off x="6210300" y="2209800"/>
            <a:ext cx="457200" cy="457200"/>
          </a:xfrm>
          <a:prstGeom prst="rect">
            <a:avLst/>
          </a:prstGeom>
        </p:spPr>
      </p:pic>
      <p:pic>
        <p:nvPicPr>
          <p:cNvPr id="11" name="Image 9" descr="preencoded.png"/>
          <p:cNvPicPr>
            <a:picLocks noChangeAspect="1"/>
          </p:cNvPicPr>
          <p:nvPr/>
        </p:nvPicPr>
        <p:blipFill>
          <a:blip r:embed="rId12"/>
          <a:stretch>
            <a:fillRect/>
          </a:stretch>
        </p:blipFill>
        <p:spPr>
          <a:xfrm>
            <a:off x="6324600" y="2286000"/>
            <a:ext cx="228600" cy="304800"/>
          </a:xfrm>
          <a:prstGeom prst="rect">
            <a:avLst/>
          </a:prstGeom>
        </p:spPr>
      </p:pic>
      <p:pic>
        <p:nvPicPr>
          <p:cNvPr id="12" name="Image 10" descr="preencoded.png"/>
          <p:cNvPicPr>
            <a:picLocks noChangeAspect="1"/>
          </p:cNvPicPr>
          <p:nvPr/>
        </p:nvPicPr>
        <p:blipFill>
          <a:blip r:embed="rId13"/>
          <a:stretch>
            <a:fillRect/>
          </a:stretch>
        </p:blipFill>
        <p:spPr>
          <a:xfrm>
            <a:off x="6210300" y="2819400"/>
            <a:ext cx="5524500" cy="2933700"/>
          </a:xfrm>
          <a:prstGeom prst="rect">
            <a:avLst/>
          </a:prstGeom>
        </p:spPr>
      </p:pic>
      <p:pic>
        <p:nvPicPr>
          <p:cNvPr id="13" name="Image 11" descr="preencoded.png"/>
          <p:cNvPicPr>
            <a:picLocks noChangeAspect="1"/>
          </p:cNvPicPr>
          <p:nvPr/>
        </p:nvPicPr>
        <p:blipFill>
          <a:blip r:embed="rId14"/>
          <a:stretch>
            <a:fillRect/>
          </a:stretch>
        </p:blipFill>
        <p:spPr>
          <a:xfrm>
            <a:off x="6400800" y="3048000"/>
            <a:ext cx="171450" cy="266700"/>
          </a:xfrm>
          <a:prstGeom prst="rect">
            <a:avLst/>
          </a:prstGeom>
        </p:spPr>
      </p:pic>
      <p:pic>
        <p:nvPicPr>
          <p:cNvPr id="14" name="Image 12" descr="preencoded.png"/>
          <p:cNvPicPr>
            <a:picLocks noChangeAspect="1"/>
          </p:cNvPicPr>
          <p:nvPr/>
        </p:nvPicPr>
        <p:blipFill>
          <a:blip r:embed="rId15"/>
          <a:stretch>
            <a:fillRect/>
          </a:stretch>
        </p:blipFill>
        <p:spPr>
          <a:xfrm>
            <a:off x="6400800" y="3657600"/>
            <a:ext cx="171450" cy="266700"/>
          </a:xfrm>
          <a:prstGeom prst="rect">
            <a:avLst/>
          </a:prstGeom>
        </p:spPr>
      </p:pic>
      <p:pic>
        <p:nvPicPr>
          <p:cNvPr id="15" name="Image 13" descr="preencoded.png"/>
          <p:cNvPicPr>
            <a:picLocks noChangeAspect="1"/>
          </p:cNvPicPr>
          <p:nvPr/>
        </p:nvPicPr>
        <p:blipFill>
          <a:blip r:embed="rId16"/>
          <a:stretch>
            <a:fillRect/>
          </a:stretch>
        </p:blipFill>
        <p:spPr>
          <a:xfrm>
            <a:off x="6400800" y="4267200"/>
            <a:ext cx="171450" cy="266700"/>
          </a:xfrm>
          <a:prstGeom prst="rect">
            <a:avLst/>
          </a:prstGeom>
        </p:spPr>
      </p:pic>
      <p:sp>
        <p:nvSpPr>
          <p:cNvPr id="16" name="Text 0"/>
          <p:cNvSpPr/>
          <p:nvPr/>
        </p:nvSpPr>
        <p:spPr>
          <a:xfrm>
            <a:off x="457200" y="457200"/>
            <a:ext cx="13533120" cy="457200"/>
          </a:xfrm>
          <a:prstGeom prst="rect">
            <a:avLst/>
          </a:prstGeom>
          <a:noFill/>
          <a:ln/>
        </p:spPr>
        <p:txBody>
          <a:bodyPr vert="horz" wrap="square" lIns="0" tIns="0" rIns="0" bIns="0" rtlCol="0" anchor="t"/>
          <a:lstStyle/>
          <a:p>
            <a:pPr marL="0" indent="0">
              <a:lnSpc>
                <a:spcPts val="3600"/>
              </a:lnSpc>
              <a:buNone/>
            </a:pPr>
            <a:r>
              <a:rPr lang="en-US" sz="3600" b="1" dirty="0">
                <a:solidFill>
                  <a:srgbClr val="1E3A8A"/>
                </a:solidFill>
                <a:latin typeface="Segoe UI" pitchFamily="34" charset="0"/>
                <a:ea typeface="Segoe UI" pitchFamily="34" charset="-122"/>
                <a:cs typeface="Segoe UI" pitchFamily="34" charset="-120"/>
              </a:rPr>
              <a:t>The Great Debate: Have We Passed the Test?</a:t>
            </a:r>
            <a:endParaRPr lang="en-US" sz="3600" dirty="0"/>
          </a:p>
        </p:txBody>
      </p:sp>
      <p:sp>
        <p:nvSpPr>
          <p:cNvPr id="17" name="Text 1"/>
          <p:cNvSpPr/>
          <p:nvPr/>
        </p:nvSpPr>
        <p:spPr>
          <a:xfrm>
            <a:off x="609600" y="1295400"/>
            <a:ext cx="10972800" cy="533400"/>
          </a:xfrm>
          <a:prstGeom prst="rect">
            <a:avLst/>
          </a:prstGeom>
          <a:noFill/>
          <a:ln/>
        </p:spPr>
        <p:txBody>
          <a:bodyPr vert="horz" wrap="square" lIns="0" tIns="0" rIns="0" bIns="0" rtlCol="0" anchor="t"/>
          <a:lstStyle/>
          <a:p>
            <a:pPr marL="0" indent="0">
              <a:lnSpc>
                <a:spcPts val="2100"/>
              </a:lnSpc>
              <a:buNone/>
            </a:pPr>
            <a:r>
              <a:rPr lang="en-US" sz="1500" dirty="0">
                <a:solidFill>
                  <a:srgbClr val="1E293B"/>
                </a:solidFill>
                <a:latin typeface="ui-sans-serif" pitchFamily="34" charset="0"/>
                <a:ea typeface="ui-sans-serif" pitchFamily="34" charset="-122"/>
                <a:cs typeface="ui-sans-serif" pitchFamily="34" charset="-120"/>
              </a:rPr>
              <a:t>A central question in AI today: Have modern language models like ChatGPT truly passed Turing's test for machine intelligence? Both sides present compelling evidence.</a:t>
            </a:r>
            <a:endParaRPr lang="en-US" sz="1500" dirty="0"/>
          </a:p>
        </p:txBody>
      </p:sp>
      <p:sp>
        <p:nvSpPr>
          <p:cNvPr id="18" name="Text 2"/>
          <p:cNvSpPr/>
          <p:nvPr/>
        </p:nvSpPr>
        <p:spPr>
          <a:xfrm>
            <a:off x="1028700" y="2286000"/>
            <a:ext cx="2296358" cy="304800"/>
          </a:xfrm>
          <a:prstGeom prst="rect">
            <a:avLst/>
          </a:prstGeom>
          <a:noFill/>
          <a:ln/>
        </p:spPr>
        <p:txBody>
          <a:bodyPr vert="horz" wrap="square" lIns="0" tIns="0" rIns="0" bIns="0" rtlCol="0" anchor="t"/>
          <a:lstStyle/>
          <a:p>
            <a:pPr marL="0" indent="0">
              <a:lnSpc>
                <a:spcPts val="2400"/>
              </a:lnSpc>
              <a:buNone/>
            </a:pPr>
            <a:r>
              <a:rPr lang="en-US" sz="1800" b="1" dirty="0">
                <a:solidFill>
                  <a:srgbClr val="10B981"/>
                </a:solidFill>
                <a:latin typeface="ui-sans-serif" pitchFamily="34" charset="0"/>
                <a:ea typeface="ui-sans-serif" pitchFamily="34" charset="-122"/>
                <a:cs typeface="ui-sans-serif" pitchFamily="34" charset="-120"/>
              </a:rPr>
              <a:t>Arguments For</a:t>
            </a:r>
            <a:endParaRPr lang="en-US" sz="1800" dirty="0"/>
          </a:p>
        </p:txBody>
      </p:sp>
      <p:sp>
        <p:nvSpPr>
          <p:cNvPr id="19" name="Text 3"/>
          <p:cNvSpPr/>
          <p:nvPr/>
        </p:nvSpPr>
        <p:spPr>
          <a:xfrm>
            <a:off x="981075" y="3009900"/>
            <a:ext cx="4810125" cy="457200"/>
          </a:xfrm>
          <a:prstGeom prst="rect">
            <a:avLst/>
          </a:prstGeom>
          <a:noFill/>
          <a:ln/>
        </p:spPr>
        <p:txBody>
          <a:bodyPr vert="horz" wrap="square" lIns="0" tIns="0" rIns="0" bIns="0" rtlCol="0" anchor="t"/>
          <a:lstStyle/>
          <a:p>
            <a:pPr marL="0" indent="0" algn="l">
              <a:lnSpc>
                <a:spcPts val="1800"/>
              </a:lnSpc>
              <a:buNone/>
            </a:pPr>
            <a:r>
              <a:rPr lang="en-US" sz="1200" dirty="0">
                <a:solidFill>
                  <a:srgbClr val="1E293B"/>
                </a:solidFill>
                <a:latin typeface="ui-sans-serif" pitchFamily="34" charset="0"/>
                <a:ea typeface="ui-sans-serif" pitchFamily="34" charset="-122"/>
                <a:cs typeface="ui-sans-serif" pitchFamily="34" charset="-120"/>
              </a:rPr>
              <a:t>Modern AI has essentially passed the Turing Test in many brief conversations</a:t>
            </a:r>
            <a:endParaRPr lang="en-US" sz="1200" dirty="0"/>
          </a:p>
        </p:txBody>
      </p:sp>
      <p:sp>
        <p:nvSpPr>
          <p:cNvPr id="20" name="Text 4"/>
          <p:cNvSpPr/>
          <p:nvPr/>
        </p:nvSpPr>
        <p:spPr>
          <a:xfrm>
            <a:off x="981075" y="3619500"/>
            <a:ext cx="4810125" cy="457200"/>
          </a:xfrm>
          <a:prstGeom prst="rect">
            <a:avLst/>
          </a:prstGeom>
          <a:noFill/>
          <a:ln/>
        </p:spPr>
        <p:txBody>
          <a:bodyPr vert="horz" wrap="square" lIns="0" tIns="0" rIns="0" bIns="0" rtlCol="0" anchor="t"/>
          <a:lstStyle/>
          <a:p>
            <a:pPr marL="0" indent="0" algn="l">
              <a:lnSpc>
                <a:spcPts val="1800"/>
              </a:lnSpc>
              <a:buNone/>
            </a:pPr>
            <a:r>
              <a:rPr lang="en-US" sz="1200" dirty="0">
                <a:solidFill>
                  <a:srgbClr val="1E293B"/>
                </a:solidFill>
                <a:latin typeface="ui-sans-serif" pitchFamily="34" charset="0"/>
                <a:ea typeface="ui-sans-serif" pitchFamily="34" charset="-122"/>
                <a:cs typeface="ui-sans-serif" pitchFamily="34" charset="-120"/>
              </a:rPr>
              <a:t>Systems demonstrate unprecedented linguistic capabilities and contextual understanding</a:t>
            </a:r>
            <a:endParaRPr lang="en-US" sz="1200" dirty="0"/>
          </a:p>
        </p:txBody>
      </p:sp>
      <p:sp>
        <p:nvSpPr>
          <p:cNvPr id="21" name="Text 5"/>
          <p:cNvSpPr/>
          <p:nvPr/>
        </p:nvSpPr>
        <p:spPr>
          <a:xfrm>
            <a:off x="981075" y="4229100"/>
            <a:ext cx="4810125" cy="457200"/>
          </a:xfrm>
          <a:prstGeom prst="rect">
            <a:avLst/>
          </a:prstGeom>
          <a:noFill/>
          <a:ln/>
        </p:spPr>
        <p:txBody>
          <a:bodyPr vert="horz" wrap="square" lIns="0" tIns="0" rIns="0" bIns="0" rtlCol="0" anchor="t"/>
          <a:lstStyle/>
          <a:p>
            <a:pPr marL="0" indent="0" algn="l">
              <a:lnSpc>
                <a:spcPts val="1800"/>
              </a:lnSpc>
              <a:buNone/>
            </a:pPr>
            <a:r>
              <a:rPr lang="en-US" sz="1200" dirty="0">
                <a:solidFill>
                  <a:srgbClr val="1E293B"/>
                </a:solidFill>
                <a:latin typeface="ui-sans-serif" pitchFamily="34" charset="0"/>
                <a:ea typeface="ui-sans-serif" pitchFamily="34" charset="-122"/>
                <a:cs typeface="ui-sans-serif" pitchFamily="34" charset="-120"/>
              </a:rPr>
              <a:t>In many interactions, people cannot tell they're talking to an AI</a:t>
            </a:r>
            <a:endParaRPr lang="en-US" sz="1200" dirty="0"/>
          </a:p>
        </p:txBody>
      </p:sp>
      <p:sp>
        <p:nvSpPr>
          <p:cNvPr id="22" name="Text 6"/>
          <p:cNvSpPr/>
          <p:nvPr/>
        </p:nvSpPr>
        <p:spPr>
          <a:xfrm>
            <a:off x="6781800" y="2286000"/>
            <a:ext cx="2973943" cy="304800"/>
          </a:xfrm>
          <a:prstGeom prst="rect">
            <a:avLst/>
          </a:prstGeom>
          <a:noFill/>
          <a:ln/>
        </p:spPr>
        <p:txBody>
          <a:bodyPr vert="horz" wrap="square" lIns="0" tIns="0" rIns="0" bIns="0" rtlCol="0" anchor="t"/>
          <a:lstStyle/>
          <a:p>
            <a:pPr marL="0" indent="0">
              <a:lnSpc>
                <a:spcPts val="2400"/>
              </a:lnSpc>
              <a:buNone/>
            </a:pPr>
            <a:r>
              <a:rPr lang="en-US" sz="1800" b="1" dirty="0">
                <a:solidFill>
                  <a:srgbClr val="F97316"/>
                </a:solidFill>
                <a:latin typeface="ui-sans-serif" pitchFamily="34" charset="0"/>
                <a:ea typeface="ui-sans-serif" pitchFamily="34" charset="-122"/>
                <a:cs typeface="ui-sans-serif" pitchFamily="34" charset="-120"/>
              </a:rPr>
              <a:t>Arguments Against</a:t>
            </a:r>
            <a:endParaRPr lang="en-US" sz="1800" dirty="0"/>
          </a:p>
        </p:txBody>
      </p:sp>
      <p:sp>
        <p:nvSpPr>
          <p:cNvPr id="23" name="Text 7"/>
          <p:cNvSpPr/>
          <p:nvPr/>
        </p:nvSpPr>
        <p:spPr>
          <a:xfrm>
            <a:off x="6686550" y="3009900"/>
            <a:ext cx="4857750" cy="457200"/>
          </a:xfrm>
          <a:prstGeom prst="rect">
            <a:avLst/>
          </a:prstGeom>
          <a:noFill/>
          <a:ln/>
        </p:spPr>
        <p:txBody>
          <a:bodyPr vert="horz" wrap="square" lIns="0" tIns="0" rIns="0" bIns="0" rtlCol="0" anchor="t"/>
          <a:lstStyle/>
          <a:p>
            <a:pPr marL="0" indent="0" algn="l">
              <a:lnSpc>
                <a:spcPts val="1800"/>
              </a:lnSpc>
              <a:buNone/>
            </a:pPr>
            <a:r>
              <a:rPr lang="en-US" sz="1200" dirty="0">
                <a:solidFill>
                  <a:srgbClr val="1E293B"/>
                </a:solidFill>
                <a:latin typeface="ui-sans-serif" pitchFamily="34" charset="0"/>
                <a:ea typeface="ui-sans-serif" pitchFamily="34" charset="-122"/>
                <a:cs typeface="ui-sans-serif" pitchFamily="34" charset="-120"/>
              </a:rPr>
              <a:t>Modern AI can still produce nonsensical or contradictory responses</a:t>
            </a:r>
            <a:endParaRPr lang="en-US" sz="1200" dirty="0"/>
          </a:p>
        </p:txBody>
      </p:sp>
      <p:sp>
        <p:nvSpPr>
          <p:cNvPr id="24" name="Text 8"/>
          <p:cNvSpPr/>
          <p:nvPr/>
        </p:nvSpPr>
        <p:spPr>
          <a:xfrm>
            <a:off x="6686550" y="3619500"/>
            <a:ext cx="4857750" cy="457200"/>
          </a:xfrm>
          <a:prstGeom prst="rect">
            <a:avLst/>
          </a:prstGeom>
          <a:noFill/>
          <a:ln/>
        </p:spPr>
        <p:txBody>
          <a:bodyPr vert="horz" wrap="square" lIns="0" tIns="0" rIns="0" bIns="0" rtlCol="0" anchor="t"/>
          <a:lstStyle/>
          <a:p>
            <a:pPr marL="0" indent="0" algn="l">
              <a:lnSpc>
                <a:spcPts val="1800"/>
              </a:lnSpc>
              <a:buNone/>
            </a:pPr>
            <a:r>
              <a:rPr lang="en-US" sz="1200" dirty="0">
                <a:solidFill>
                  <a:srgbClr val="1E293B"/>
                </a:solidFill>
                <a:latin typeface="ui-sans-serif" pitchFamily="34" charset="0"/>
                <a:ea typeface="ui-sans-serif" pitchFamily="34" charset="-122"/>
                <a:cs typeface="ui-sans-serif" pitchFamily="34" charset="-120"/>
              </a:rPr>
              <a:t>Lacks genuine understanding of the physical world and real-world context</a:t>
            </a:r>
            <a:endParaRPr lang="en-US" sz="1200" dirty="0"/>
          </a:p>
        </p:txBody>
      </p:sp>
      <p:sp>
        <p:nvSpPr>
          <p:cNvPr id="25" name="Text 9"/>
          <p:cNvSpPr/>
          <p:nvPr/>
        </p:nvSpPr>
        <p:spPr>
          <a:xfrm>
            <a:off x="6686550" y="4229100"/>
            <a:ext cx="4857750" cy="457200"/>
          </a:xfrm>
          <a:prstGeom prst="rect">
            <a:avLst/>
          </a:prstGeom>
          <a:noFill/>
          <a:ln/>
        </p:spPr>
        <p:txBody>
          <a:bodyPr vert="horz" wrap="square" lIns="0" tIns="0" rIns="0" bIns="0" rtlCol="0" anchor="t"/>
          <a:lstStyle/>
          <a:p>
            <a:pPr marL="0" indent="0" algn="l">
              <a:lnSpc>
                <a:spcPts val="1800"/>
              </a:lnSpc>
              <a:buNone/>
            </a:pPr>
            <a:r>
              <a:rPr lang="en-US" sz="1200" dirty="0">
                <a:solidFill>
                  <a:srgbClr val="1E293B"/>
                </a:solidFill>
                <a:latin typeface="ui-sans-serif" pitchFamily="34" charset="0"/>
                <a:ea typeface="ui-sans-serif" pitchFamily="34" charset="-122"/>
                <a:cs typeface="ui-sans-serif" pitchFamily="34" charset="-120"/>
              </a:rPr>
              <a:t>Cannot truly reason in certain complex ways or demonstrate consciousness</a:t>
            </a:r>
            <a:endParaRPr lang="en-US" sz="1200" dirty="0"/>
          </a:p>
        </p:txBody>
      </p:sp>
      <p:sp>
        <p:nvSpPr>
          <p:cNvPr id="26" name="Text 10"/>
          <p:cNvSpPr/>
          <p:nvPr/>
        </p:nvSpPr>
        <p:spPr>
          <a:xfrm>
            <a:off x="-670560" y="6134100"/>
            <a:ext cx="13533120" cy="266700"/>
          </a:xfrm>
          <a:prstGeom prst="rect">
            <a:avLst/>
          </a:prstGeom>
          <a:noFill/>
          <a:ln/>
        </p:spPr>
        <p:txBody>
          <a:bodyPr vert="horz" wrap="square" lIns="0" tIns="0" rIns="0" bIns="0" rtlCol="0" anchor="t"/>
          <a:lstStyle/>
          <a:p>
            <a:pPr marL="0" indent="0" algn="ctr">
              <a:lnSpc>
                <a:spcPts val="2100"/>
              </a:lnSpc>
              <a:buNone/>
            </a:pPr>
            <a:r>
              <a:rPr lang="en-US" sz="1500" dirty="0">
                <a:solidFill>
                  <a:srgbClr val="3730A3"/>
                </a:solidFill>
                <a:latin typeface="ui-sans-serif" pitchFamily="34" charset="0"/>
                <a:ea typeface="ui-sans-serif" pitchFamily="34" charset="-122"/>
                <a:cs typeface="ui-sans-serif" pitchFamily="34" charset="-120"/>
              </a:rPr>
              <a:t>Perhaps the real question is: What makes intelligence, understanding, and humanity?</a:t>
            </a:r>
            <a:endParaRPr lang="en-US" sz="15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2192000" cy="6858000"/>
          </a:xfrm>
          <a:prstGeom prst="rect">
            <a:avLst/>
          </a:prstGeom>
        </p:spPr>
      </p:pic>
      <p:pic>
        <p:nvPicPr>
          <p:cNvPr id="3" name="Image 1" descr="preencoded.png"/>
          <p:cNvPicPr>
            <a:picLocks noChangeAspect="1"/>
          </p:cNvPicPr>
          <p:nvPr/>
        </p:nvPicPr>
        <p:blipFill>
          <a:blip r:embed="rId4"/>
          <a:stretch>
            <a:fillRect/>
          </a:stretch>
        </p:blipFill>
        <p:spPr>
          <a:xfrm>
            <a:off x="457200" y="1143000"/>
            <a:ext cx="11277600" cy="914400"/>
          </a:xfrm>
          <a:prstGeom prst="rect">
            <a:avLst/>
          </a:prstGeom>
        </p:spPr>
      </p:pic>
      <p:pic>
        <p:nvPicPr>
          <p:cNvPr id="4" name="Image 2" descr="preencoded.png"/>
          <p:cNvPicPr>
            <a:picLocks noChangeAspect="1"/>
          </p:cNvPicPr>
          <p:nvPr/>
        </p:nvPicPr>
        <p:blipFill>
          <a:blip r:embed="rId5"/>
          <a:stretch>
            <a:fillRect/>
          </a:stretch>
        </p:blipFill>
        <p:spPr>
          <a:xfrm>
            <a:off x="457200" y="2362200"/>
            <a:ext cx="3606701" cy="2800350"/>
          </a:xfrm>
          <a:prstGeom prst="rect">
            <a:avLst/>
          </a:prstGeom>
        </p:spPr>
      </p:pic>
      <p:pic>
        <p:nvPicPr>
          <p:cNvPr id="5" name="Image 3" descr="preencoded.png"/>
          <p:cNvPicPr>
            <a:picLocks noChangeAspect="1"/>
          </p:cNvPicPr>
          <p:nvPr/>
        </p:nvPicPr>
        <p:blipFill>
          <a:blip r:embed="rId6"/>
          <a:stretch>
            <a:fillRect/>
          </a:stretch>
        </p:blipFill>
        <p:spPr>
          <a:xfrm>
            <a:off x="1927175" y="2590800"/>
            <a:ext cx="666750" cy="666750"/>
          </a:xfrm>
          <a:prstGeom prst="rect">
            <a:avLst/>
          </a:prstGeom>
        </p:spPr>
      </p:pic>
      <p:pic>
        <p:nvPicPr>
          <p:cNvPr id="6" name="Image 4" descr="preencoded.png"/>
          <p:cNvPicPr>
            <a:picLocks noChangeAspect="1"/>
          </p:cNvPicPr>
          <p:nvPr/>
        </p:nvPicPr>
        <p:blipFill>
          <a:blip r:embed="rId7"/>
          <a:stretch>
            <a:fillRect/>
          </a:stretch>
        </p:blipFill>
        <p:spPr>
          <a:xfrm>
            <a:off x="2117675" y="2752725"/>
            <a:ext cx="285750" cy="342900"/>
          </a:xfrm>
          <a:prstGeom prst="rect">
            <a:avLst/>
          </a:prstGeom>
        </p:spPr>
      </p:pic>
      <p:pic>
        <p:nvPicPr>
          <p:cNvPr id="7" name="Image 5" descr="preencoded.png"/>
          <p:cNvPicPr>
            <a:picLocks noChangeAspect="1"/>
          </p:cNvPicPr>
          <p:nvPr/>
        </p:nvPicPr>
        <p:blipFill>
          <a:blip r:embed="rId8"/>
          <a:stretch>
            <a:fillRect/>
          </a:stretch>
        </p:blipFill>
        <p:spPr>
          <a:xfrm>
            <a:off x="4292501" y="2362200"/>
            <a:ext cx="3606850" cy="2800350"/>
          </a:xfrm>
          <a:prstGeom prst="rect">
            <a:avLst/>
          </a:prstGeom>
        </p:spPr>
      </p:pic>
      <p:pic>
        <p:nvPicPr>
          <p:cNvPr id="8" name="Image 6" descr="preencoded.png"/>
          <p:cNvPicPr>
            <a:picLocks noChangeAspect="1"/>
          </p:cNvPicPr>
          <p:nvPr/>
        </p:nvPicPr>
        <p:blipFill>
          <a:blip r:embed="rId9"/>
          <a:stretch>
            <a:fillRect/>
          </a:stretch>
        </p:blipFill>
        <p:spPr>
          <a:xfrm>
            <a:off x="5762476" y="2590800"/>
            <a:ext cx="666750" cy="666750"/>
          </a:xfrm>
          <a:prstGeom prst="rect">
            <a:avLst/>
          </a:prstGeom>
        </p:spPr>
      </p:pic>
      <p:pic>
        <p:nvPicPr>
          <p:cNvPr id="9" name="Image 7" descr="preencoded.png"/>
          <p:cNvPicPr>
            <a:picLocks noChangeAspect="1"/>
          </p:cNvPicPr>
          <p:nvPr/>
        </p:nvPicPr>
        <p:blipFill>
          <a:blip r:embed="rId10"/>
          <a:stretch>
            <a:fillRect/>
          </a:stretch>
        </p:blipFill>
        <p:spPr>
          <a:xfrm>
            <a:off x="5914876" y="2752725"/>
            <a:ext cx="361950" cy="342900"/>
          </a:xfrm>
          <a:prstGeom prst="rect">
            <a:avLst/>
          </a:prstGeom>
        </p:spPr>
      </p:pic>
      <p:pic>
        <p:nvPicPr>
          <p:cNvPr id="10" name="Image 8" descr="preencoded.png"/>
          <p:cNvPicPr>
            <a:picLocks noChangeAspect="1"/>
          </p:cNvPicPr>
          <p:nvPr/>
        </p:nvPicPr>
        <p:blipFill>
          <a:blip r:embed="rId11"/>
          <a:stretch>
            <a:fillRect/>
          </a:stretch>
        </p:blipFill>
        <p:spPr>
          <a:xfrm>
            <a:off x="8127950" y="2362200"/>
            <a:ext cx="3606701" cy="2800350"/>
          </a:xfrm>
          <a:prstGeom prst="rect">
            <a:avLst/>
          </a:prstGeom>
        </p:spPr>
      </p:pic>
      <p:pic>
        <p:nvPicPr>
          <p:cNvPr id="11" name="Image 9" descr="preencoded.png"/>
          <p:cNvPicPr>
            <a:picLocks noChangeAspect="1"/>
          </p:cNvPicPr>
          <p:nvPr/>
        </p:nvPicPr>
        <p:blipFill>
          <a:blip r:embed="rId12"/>
          <a:stretch>
            <a:fillRect/>
          </a:stretch>
        </p:blipFill>
        <p:spPr>
          <a:xfrm>
            <a:off x="9597926" y="2590800"/>
            <a:ext cx="666750" cy="666750"/>
          </a:xfrm>
          <a:prstGeom prst="rect">
            <a:avLst/>
          </a:prstGeom>
        </p:spPr>
      </p:pic>
      <p:pic>
        <p:nvPicPr>
          <p:cNvPr id="12" name="Image 10" descr="preencoded.png"/>
          <p:cNvPicPr>
            <a:picLocks noChangeAspect="1"/>
          </p:cNvPicPr>
          <p:nvPr/>
        </p:nvPicPr>
        <p:blipFill>
          <a:blip r:embed="rId13"/>
          <a:stretch>
            <a:fillRect/>
          </a:stretch>
        </p:blipFill>
        <p:spPr>
          <a:xfrm>
            <a:off x="9788426" y="2752725"/>
            <a:ext cx="285750" cy="342900"/>
          </a:xfrm>
          <a:prstGeom prst="rect">
            <a:avLst/>
          </a:prstGeom>
        </p:spPr>
      </p:pic>
      <p:pic>
        <p:nvPicPr>
          <p:cNvPr id="13" name="Image 11" descr="preencoded.png"/>
          <p:cNvPicPr>
            <a:picLocks noChangeAspect="1"/>
          </p:cNvPicPr>
          <p:nvPr/>
        </p:nvPicPr>
        <p:blipFill>
          <a:blip r:embed="rId14"/>
          <a:stretch>
            <a:fillRect/>
          </a:stretch>
        </p:blipFill>
        <p:spPr>
          <a:xfrm>
            <a:off x="2981325" y="6215063"/>
            <a:ext cx="2819400" cy="28575"/>
          </a:xfrm>
          <a:prstGeom prst="rect">
            <a:avLst/>
          </a:prstGeom>
        </p:spPr>
      </p:pic>
      <p:pic>
        <p:nvPicPr>
          <p:cNvPr id="14" name="Image 12" descr="preencoded.png"/>
          <p:cNvPicPr>
            <a:picLocks noChangeAspect="1"/>
          </p:cNvPicPr>
          <p:nvPr/>
        </p:nvPicPr>
        <p:blipFill>
          <a:blip r:embed="rId15"/>
          <a:stretch>
            <a:fillRect/>
          </a:stretch>
        </p:blipFill>
        <p:spPr>
          <a:xfrm>
            <a:off x="5953125" y="6057900"/>
            <a:ext cx="285750" cy="342900"/>
          </a:xfrm>
          <a:prstGeom prst="rect">
            <a:avLst/>
          </a:prstGeom>
        </p:spPr>
      </p:pic>
      <p:pic>
        <p:nvPicPr>
          <p:cNvPr id="15" name="Image 13" descr="preencoded.png"/>
          <p:cNvPicPr>
            <a:picLocks noChangeAspect="1"/>
          </p:cNvPicPr>
          <p:nvPr/>
        </p:nvPicPr>
        <p:blipFill>
          <a:blip r:embed="rId16"/>
          <a:stretch>
            <a:fillRect/>
          </a:stretch>
        </p:blipFill>
        <p:spPr>
          <a:xfrm>
            <a:off x="6391275" y="6215063"/>
            <a:ext cx="2819400" cy="28575"/>
          </a:xfrm>
          <a:prstGeom prst="rect">
            <a:avLst/>
          </a:prstGeom>
        </p:spPr>
      </p:pic>
      <p:sp>
        <p:nvSpPr>
          <p:cNvPr id="16" name="Text 0"/>
          <p:cNvSpPr/>
          <p:nvPr/>
        </p:nvSpPr>
        <p:spPr>
          <a:xfrm>
            <a:off x="457200" y="457200"/>
            <a:ext cx="13533120" cy="457200"/>
          </a:xfrm>
          <a:prstGeom prst="rect">
            <a:avLst/>
          </a:prstGeom>
          <a:noFill/>
          <a:ln/>
        </p:spPr>
        <p:txBody>
          <a:bodyPr vert="horz" wrap="square" lIns="0" tIns="0" rIns="0" bIns="0" rtlCol="0" anchor="t"/>
          <a:lstStyle/>
          <a:p>
            <a:pPr marL="0" indent="0">
              <a:lnSpc>
                <a:spcPts val="3600"/>
              </a:lnSpc>
              <a:buNone/>
            </a:pPr>
            <a:r>
              <a:rPr lang="en-US" sz="3600" b="1" dirty="0">
                <a:solidFill>
                  <a:srgbClr val="1E3A8A"/>
                </a:solidFill>
                <a:latin typeface="Segoe UI" pitchFamily="34" charset="0"/>
                <a:ea typeface="Segoe UI" pitchFamily="34" charset="-122"/>
                <a:cs typeface="Segoe UI" pitchFamily="34" charset="-120"/>
              </a:rPr>
              <a:t>Why the Turing Test Still Matters</a:t>
            </a:r>
            <a:endParaRPr lang="en-US" sz="3600" dirty="0"/>
          </a:p>
        </p:txBody>
      </p:sp>
      <p:sp>
        <p:nvSpPr>
          <p:cNvPr id="17" name="Text 1"/>
          <p:cNvSpPr/>
          <p:nvPr/>
        </p:nvSpPr>
        <p:spPr>
          <a:xfrm>
            <a:off x="647700" y="1333500"/>
            <a:ext cx="10896600" cy="533400"/>
          </a:xfrm>
          <a:prstGeom prst="rect">
            <a:avLst/>
          </a:prstGeom>
          <a:noFill/>
          <a:ln/>
        </p:spPr>
        <p:txBody>
          <a:bodyPr vert="horz" wrap="square" lIns="0" tIns="0" rIns="0" bIns="0" rtlCol="0" anchor="t"/>
          <a:lstStyle/>
          <a:p>
            <a:pPr marL="0" indent="0">
              <a:lnSpc>
                <a:spcPts val="2100"/>
              </a:lnSpc>
              <a:buNone/>
            </a:pPr>
            <a:r>
              <a:rPr lang="en-US" sz="1500" dirty="0">
                <a:solidFill>
                  <a:srgbClr val="1E293B"/>
                </a:solidFill>
                <a:latin typeface="ui-sans-serif" pitchFamily="34" charset="0"/>
                <a:ea typeface="ui-sans-serif" pitchFamily="34" charset="-122"/>
                <a:cs typeface="ui-sans-serif" pitchFamily="34" charset="-120"/>
              </a:rPr>
              <a:t>Despite being over 70 years old, the Turing Test remains a relevant framework for understanding machine intelligence and its relationship to human intelligence.</a:t>
            </a:r>
            <a:endParaRPr lang="en-US" sz="1500" dirty="0"/>
          </a:p>
        </p:txBody>
      </p:sp>
      <p:sp>
        <p:nvSpPr>
          <p:cNvPr id="18" name="Text 2"/>
          <p:cNvSpPr/>
          <p:nvPr/>
        </p:nvSpPr>
        <p:spPr>
          <a:xfrm>
            <a:off x="994499" y="3409950"/>
            <a:ext cx="2532102" cy="266700"/>
          </a:xfrm>
          <a:prstGeom prst="rect">
            <a:avLst/>
          </a:prstGeom>
          <a:noFill/>
          <a:ln/>
        </p:spPr>
        <p:txBody>
          <a:bodyPr vert="horz" wrap="square" lIns="0" tIns="0" rIns="0" bIns="0" rtlCol="0" anchor="t"/>
          <a:lstStyle/>
          <a:p>
            <a:pPr marL="0" indent="0" algn="ctr">
              <a:lnSpc>
                <a:spcPts val="2100"/>
              </a:lnSpc>
              <a:buNone/>
            </a:pPr>
            <a:r>
              <a:rPr lang="en-US" sz="1500" b="1" dirty="0">
                <a:solidFill>
                  <a:srgbClr val="1E293B"/>
                </a:solidFill>
                <a:latin typeface="ui-sans-serif" pitchFamily="34" charset="0"/>
                <a:ea typeface="ui-sans-serif" pitchFamily="34" charset="-122"/>
                <a:cs typeface="ui-sans-serif" pitchFamily="34" charset="-120"/>
              </a:rPr>
              <a:t>Shift in Perspective</a:t>
            </a:r>
            <a:endParaRPr lang="en-US" sz="1500" dirty="0"/>
          </a:p>
        </p:txBody>
      </p:sp>
      <p:sp>
        <p:nvSpPr>
          <p:cNvPr id="19" name="Text 3"/>
          <p:cNvSpPr/>
          <p:nvPr/>
        </p:nvSpPr>
        <p:spPr>
          <a:xfrm>
            <a:off x="685800" y="3790950"/>
            <a:ext cx="3149501" cy="914400"/>
          </a:xfrm>
          <a:prstGeom prst="rect">
            <a:avLst/>
          </a:prstGeom>
          <a:noFill/>
          <a:ln/>
        </p:spPr>
        <p:txBody>
          <a:bodyPr vert="horz" wrap="square" lIns="0" tIns="0" rIns="0" bIns="0" rtlCol="0" anchor="t"/>
          <a:lstStyle/>
          <a:p>
            <a:pPr marL="0" indent="0" algn="ctr">
              <a:lnSpc>
                <a:spcPts val="1800"/>
              </a:lnSpc>
              <a:buNone/>
            </a:pPr>
            <a:r>
              <a:rPr lang="en-US" sz="1200" dirty="0">
                <a:solidFill>
                  <a:srgbClr val="1E293B"/>
                </a:solidFill>
                <a:latin typeface="ui-sans-serif" pitchFamily="34" charset="0"/>
                <a:ea typeface="ui-sans-serif" pitchFamily="34" charset="-122"/>
                <a:cs typeface="ui-sans-serif" pitchFamily="34" charset="-120"/>
              </a:rPr>
              <a:t>Sh shifted the conversation from "what is thinking?" to "what does thinking look like?" This pragmatic approach remains valuable today.</a:t>
            </a:r>
            <a:endParaRPr lang="en-US" sz="1200" dirty="0"/>
          </a:p>
        </p:txBody>
      </p:sp>
      <p:sp>
        <p:nvSpPr>
          <p:cNvPr id="20" name="Text 4"/>
          <p:cNvSpPr/>
          <p:nvPr/>
        </p:nvSpPr>
        <p:spPr>
          <a:xfrm>
            <a:off x="4976946" y="3409950"/>
            <a:ext cx="2237958" cy="266700"/>
          </a:xfrm>
          <a:prstGeom prst="rect">
            <a:avLst/>
          </a:prstGeom>
          <a:noFill/>
          <a:ln/>
        </p:spPr>
        <p:txBody>
          <a:bodyPr vert="horz" wrap="square" lIns="0" tIns="0" rIns="0" bIns="0" rtlCol="0" anchor="t"/>
          <a:lstStyle/>
          <a:p>
            <a:pPr marL="0" indent="0" algn="ctr">
              <a:lnSpc>
                <a:spcPts val="2100"/>
              </a:lnSpc>
              <a:buNone/>
            </a:pPr>
            <a:r>
              <a:rPr lang="en-US" sz="1500" b="1" dirty="0">
                <a:solidFill>
                  <a:srgbClr val="1E293B"/>
                </a:solidFill>
                <a:latin typeface="ui-sans-serif" pitchFamily="34" charset="0"/>
                <a:ea typeface="ui-sans-serif" pitchFamily="34" charset="-122"/>
                <a:cs typeface="ui-sans-serif" pitchFamily="34" charset="-120"/>
              </a:rPr>
              <a:t>Benchmark for AI</a:t>
            </a:r>
            <a:endParaRPr lang="en-US" sz="1500" dirty="0"/>
          </a:p>
        </p:txBody>
      </p:sp>
      <p:sp>
        <p:nvSpPr>
          <p:cNvPr id="21" name="Text 5"/>
          <p:cNvSpPr/>
          <p:nvPr/>
        </p:nvSpPr>
        <p:spPr>
          <a:xfrm>
            <a:off x="4521101" y="3790950"/>
            <a:ext cx="3149650" cy="914400"/>
          </a:xfrm>
          <a:prstGeom prst="rect">
            <a:avLst/>
          </a:prstGeom>
          <a:noFill/>
          <a:ln/>
        </p:spPr>
        <p:txBody>
          <a:bodyPr vert="horz" wrap="square" lIns="0" tIns="0" rIns="0" bIns="0" rtlCol="0" anchor="t"/>
          <a:lstStyle/>
          <a:p>
            <a:pPr marL="0" indent="0" algn="ctr">
              <a:lnSpc>
                <a:spcPts val="1800"/>
              </a:lnSpc>
              <a:buNone/>
            </a:pPr>
            <a:r>
              <a:rPr lang="en-US" sz="1200" dirty="0">
                <a:solidFill>
                  <a:srgbClr val="1E293B"/>
                </a:solidFill>
                <a:latin typeface="ui-sans-serif" pitchFamily="34" charset="0"/>
                <a:ea typeface="ui-sans-serif" pitchFamily="34" charset="-122"/>
                <a:cs typeface="ui-sans-serif" pitchFamily="34" charset="-120"/>
              </a:rPr>
              <a:t>Established conversational ability as a benchmark for AI development. Many modern AI systems are still evaluated on their dialogue capabilities.</a:t>
            </a:r>
            <a:endParaRPr lang="en-US" sz="1200" dirty="0"/>
          </a:p>
        </p:txBody>
      </p:sp>
      <p:sp>
        <p:nvSpPr>
          <p:cNvPr id="22" name="Text 6"/>
          <p:cNvSpPr/>
          <p:nvPr/>
        </p:nvSpPr>
        <p:spPr>
          <a:xfrm>
            <a:off x="8913852" y="3409950"/>
            <a:ext cx="2034897" cy="266700"/>
          </a:xfrm>
          <a:prstGeom prst="rect">
            <a:avLst/>
          </a:prstGeom>
          <a:noFill/>
          <a:ln/>
        </p:spPr>
        <p:txBody>
          <a:bodyPr vert="horz" wrap="square" lIns="0" tIns="0" rIns="0" bIns="0" rtlCol="0" anchor="t"/>
          <a:lstStyle/>
          <a:p>
            <a:pPr marL="0" indent="0" algn="ctr">
              <a:lnSpc>
                <a:spcPts val="2100"/>
              </a:lnSpc>
              <a:buNone/>
            </a:pPr>
            <a:r>
              <a:rPr lang="en-US" sz="1500" b="1" dirty="0">
                <a:solidFill>
                  <a:srgbClr val="1E293B"/>
                </a:solidFill>
                <a:latin typeface="ui-sans-serif" pitchFamily="34" charset="0"/>
                <a:ea typeface="ui-sans-serif" pitchFamily="34" charset="-122"/>
                <a:cs typeface="ui-sans-serif" pitchFamily="34" charset="-120"/>
              </a:rPr>
              <a:t>Deep Questions</a:t>
            </a:r>
            <a:endParaRPr lang="en-US" sz="1500" dirty="0"/>
          </a:p>
        </p:txBody>
      </p:sp>
      <p:sp>
        <p:nvSpPr>
          <p:cNvPr id="23" name="Text 7"/>
          <p:cNvSpPr/>
          <p:nvPr/>
        </p:nvSpPr>
        <p:spPr>
          <a:xfrm>
            <a:off x="8356550" y="3790950"/>
            <a:ext cx="3149501" cy="1143000"/>
          </a:xfrm>
          <a:prstGeom prst="rect">
            <a:avLst/>
          </a:prstGeom>
          <a:noFill/>
          <a:ln/>
        </p:spPr>
        <p:txBody>
          <a:bodyPr vert="horz" wrap="square" lIns="0" tIns="0" rIns="0" bIns="0" rtlCol="0" anchor="t"/>
          <a:lstStyle/>
          <a:p>
            <a:pPr marL="0" indent="0" algn="ctr">
              <a:lnSpc>
                <a:spcPts val="1800"/>
              </a:lnSpc>
              <a:buNone/>
            </a:pPr>
            <a:r>
              <a:rPr lang="en-US" sz="1200" dirty="0">
                <a:solidFill>
                  <a:srgbClr val="1E293B"/>
                </a:solidFill>
                <a:latin typeface="ui-sans-serif" pitchFamily="34" charset="0"/>
                <a:ea typeface="ui-sans-serif" pitchFamily="34" charset="-122"/>
                <a:cs typeface="ui-sans-serif" pitchFamily="34" charset="-120"/>
              </a:rPr>
              <a:t>Raises fundamental questions we still grapple with: What is intelligence? What makes us human? Can machines truly understand, or just simulate understanding?</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2192000" cy="6858000"/>
          </a:xfrm>
          <a:prstGeom prst="rect">
            <a:avLst/>
          </a:prstGeom>
        </p:spPr>
      </p:pic>
      <p:pic>
        <p:nvPicPr>
          <p:cNvPr id="3" name="Image 1" descr="preencoded.png"/>
          <p:cNvPicPr>
            <a:picLocks noChangeAspect="1"/>
          </p:cNvPicPr>
          <p:nvPr/>
        </p:nvPicPr>
        <p:blipFill>
          <a:blip r:embed="rId4"/>
          <a:stretch>
            <a:fillRect/>
          </a:stretch>
        </p:blipFill>
        <p:spPr>
          <a:xfrm>
            <a:off x="457200" y="1143000"/>
            <a:ext cx="11277600" cy="914400"/>
          </a:xfrm>
          <a:prstGeom prst="rect">
            <a:avLst/>
          </a:prstGeom>
        </p:spPr>
      </p:pic>
      <p:pic>
        <p:nvPicPr>
          <p:cNvPr id="4" name="Image 2" descr="preencoded.png"/>
          <p:cNvPicPr>
            <a:picLocks noChangeAspect="1"/>
          </p:cNvPicPr>
          <p:nvPr/>
        </p:nvPicPr>
        <p:blipFill>
          <a:blip r:embed="rId5"/>
          <a:stretch>
            <a:fillRect/>
          </a:stretch>
        </p:blipFill>
        <p:spPr>
          <a:xfrm>
            <a:off x="457200" y="2286000"/>
            <a:ext cx="5524500" cy="2457450"/>
          </a:xfrm>
          <a:prstGeom prst="rect">
            <a:avLst/>
          </a:prstGeom>
        </p:spPr>
      </p:pic>
      <p:pic>
        <p:nvPicPr>
          <p:cNvPr id="5" name="Image 3" descr="preencoded.png"/>
          <p:cNvPicPr>
            <a:picLocks noChangeAspect="1"/>
          </p:cNvPicPr>
          <p:nvPr/>
        </p:nvPicPr>
        <p:blipFill>
          <a:blip r:embed="rId6"/>
          <a:stretch>
            <a:fillRect/>
          </a:stretch>
        </p:blipFill>
        <p:spPr>
          <a:xfrm>
            <a:off x="647700" y="2514600"/>
            <a:ext cx="190500" cy="190500"/>
          </a:xfrm>
          <a:prstGeom prst="rect">
            <a:avLst/>
          </a:prstGeom>
        </p:spPr>
      </p:pic>
      <p:pic>
        <p:nvPicPr>
          <p:cNvPr id="6" name="Image 4" descr="preencoded.png"/>
          <p:cNvPicPr>
            <a:picLocks noChangeAspect="1"/>
          </p:cNvPicPr>
          <p:nvPr/>
        </p:nvPicPr>
        <p:blipFill>
          <a:blip r:embed="rId7"/>
          <a:stretch>
            <a:fillRect/>
          </a:stretch>
        </p:blipFill>
        <p:spPr>
          <a:xfrm>
            <a:off x="647700" y="2895600"/>
            <a:ext cx="476250" cy="476250"/>
          </a:xfrm>
          <a:prstGeom prst="rect">
            <a:avLst/>
          </a:prstGeom>
        </p:spPr>
      </p:pic>
      <p:pic>
        <p:nvPicPr>
          <p:cNvPr id="7" name="Image 5" descr="preencoded.png"/>
          <p:cNvPicPr>
            <a:picLocks noChangeAspect="1"/>
          </p:cNvPicPr>
          <p:nvPr/>
        </p:nvPicPr>
        <p:blipFill>
          <a:blip r:embed="rId8"/>
          <a:stretch>
            <a:fillRect/>
          </a:stretch>
        </p:blipFill>
        <p:spPr>
          <a:xfrm>
            <a:off x="828675" y="3057525"/>
            <a:ext cx="114300" cy="152400"/>
          </a:xfrm>
          <a:prstGeom prst="rect">
            <a:avLst/>
          </a:prstGeom>
        </p:spPr>
      </p:pic>
      <p:pic>
        <p:nvPicPr>
          <p:cNvPr id="8" name="Image 6" descr="preencoded.png"/>
          <p:cNvPicPr>
            <a:picLocks noChangeAspect="1"/>
          </p:cNvPicPr>
          <p:nvPr/>
        </p:nvPicPr>
        <p:blipFill>
          <a:blip r:embed="rId9"/>
          <a:stretch>
            <a:fillRect/>
          </a:stretch>
        </p:blipFill>
        <p:spPr>
          <a:xfrm>
            <a:off x="647700" y="3486150"/>
            <a:ext cx="476250" cy="476250"/>
          </a:xfrm>
          <a:prstGeom prst="rect">
            <a:avLst/>
          </a:prstGeom>
        </p:spPr>
      </p:pic>
      <p:pic>
        <p:nvPicPr>
          <p:cNvPr id="9" name="Image 7" descr="preencoded.png"/>
          <p:cNvPicPr>
            <a:picLocks noChangeAspect="1"/>
          </p:cNvPicPr>
          <p:nvPr/>
        </p:nvPicPr>
        <p:blipFill>
          <a:blip r:embed="rId10"/>
          <a:stretch>
            <a:fillRect/>
          </a:stretch>
        </p:blipFill>
        <p:spPr>
          <a:xfrm>
            <a:off x="809625" y="3648075"/>
            <a:ext cx="152400" cy="152400"/>
          </a:xfrm>
          <a:prstGeom prst="rect">
            <a:avLst/>
          </a:prstGeom>
        </p:spPr>
      </p:pic>
      <p:pic>
        <p:nvPicPr>
          <p:cNvPr id="10" name="Image 8" descr="preencoded.png"/>
          <p:cNvPicPr>
            <a:picLocks noChangeAspect="1"/>
          </p:cNvPicPr>
          <p:nvPr/>
        </p:nvPicPr>
        <p:blipFill>
          <a:blip r:embed="rId11"/>
          <a:stretch>
            <a:fillRect/>
          </a:stretch>
        </p:blipFill>
        <p:spPr>
          <a:xfrm>
            <a:off x="647700" y="4076700"/>
            <a:ext cx="476250" cy="476250"/>
          </a:xfrm>
          <a:prstGeom prst="rect">
            <a:avLst/>
          </a:prstGeom>
        </p:spPr>
      </p:pic>
      <p:pic>
        <p:nvPicPr>
          <p:cNvPr id="11" name="Image 9" descr="preencoded.png"/>
          <p:cNvPicPr>
            <a:picLocks noChangeAspect="1"/>
          </p:cNvPicPr>
          <p:nvPr/>
        </p:nvPicPr>
        <p:blipFill>
          <a:blip r:embed="rId12"/>
          <a:stretch>
            <a:fillRect/>
          </a:stretch>
        </p:blipFill>
        <p:spPr>
          <a:xfrm>
            <a:off x="790575" y="4238625"/>
            <a:ext cx="190500" cy="152400"/>
          </a:xfrm>
          <a:prstGeom prst="rect">
            <a:avLst/>
          </a:prstGeom>
        </p:spPr>
      </p:pic>
      <p:pic>
        <p:nvPicPr>
          <p:cNvPr id="12" name="Image 10" descr="preencoded.png"/>
          <p:cNvPicPr>
            <a:picLocks noChangeAspect="1"/>
          </p:cNvPicPr>
          <p:nvPr/>
        </p:nvPicPr>
        <p:blipFill>
          <a:blip r:embed="rId5"/>
          <a:stretch>
            <a:fillRect/>
          </a:stretch>
        </p:blipFill>
        <p:spPr>
          <a:xfrm>
            <a:off x="6210300" y="2286000"/>
            <a:ext cx="5524500" cy="2457450"/>
          </a:xfrm>
          <a:prstGeom prst="rect">
            <a:avLst/>
          </a:prstGeom>
        </p:spPr>
      </p:pic>
      <p:pic>
        <p:nvPicPr>
          <p:cNvPr id="13" name="Image 11" descr="preencoded.png"/>
          <p:cNvPicPr>
            <a:picLocks noChangeAspect="1"/>
          </p:cNvPicPr>
          <p:nvPr/>
        </p:nvPicPr>
        <p:blipFill>
          <a:blip r:embed="rId13"/>
          <a:stretch>
            <a:fillRect/>
          </a:stretch>
        </p:blipFill>
        <p:spPr>
          <a:xfrm>
            <a:off x="6400800" y="2514600"/>
            <a:ext cx="190500" cy="190500"/>
          </a:xfrm>
          <a:prstGeom prst="rect">
            <a:avLst/>
          </a:prstGeom>
        </p:spPr>
      </p:pic>
      <p:pic>
        <p:nvPicPr>
          <p:cNvPr id="14" name="Image 12" descr="preencoded.png"/>
          <p:cNvPicPr>
            <a:picLocks noChangeAspect="1"/>
          </p:cNvPicPr>
          <p:nvPr/>
        </p:nvPicPr>
        <p:blipFill>
          <a:blip r:embed="rId14"/>
          <a:stretch>
            <a:fillRect/>
          </a:stretch>
        </p:blipFill>
        <p:spPr>
          <a:xfrm>
            <a:off x="6400800" y="2895600"/>
            <a:ext cx="476250" cy="476250"/>
          </a:xfrm>
          <a:prstGeom prst="rect">
            <a:avLst/>
          </a:prstGeom>
        </p:spPr>
      </p:pic>
      <p:pic>
        <p:nvPicPr>
          <p:cNvPr id="15" name="Image 13" descr="preencoded.png"/>
          <p:cNvPicPr>
            <a:picLocks noChangeAspect="1"/>
          </p:cNvPicPr>
          <p:nvPr/>
        </p:nvPicPr>
        <p:blipFill>
          <a:blip r:embed="rId15"/>
          <a:stretch>
            <a:fillRect/>
          </a:stretch>
        </p:blipFill>
        <p:spPr>
          <a:xfrm>
            <a:off x="6562725" y="3057525"/>
            <a:ext cx="152400" cy="152400"/>
          </a:xfrm>
          <a:prstGeom prst="rect">
            <a:avLst/>
          </a:prstGeom>
        </p:spPr>
      </p:pic>
      <p:pic>
        <p:nvPicPr>
          <p:cNvPr id="16" name="Image 14" descr="preencoded.png"/>
          <p:cNvPicPr>
            <a:picLocks noChangeAspect="1"/>
          </p:cNvPicPr>
          <p:nvPr/>
        </p:nvPicPr>
        <p:blipFill>
          <a:blip r:embed="rId16"/>
          <a:stretch>
            <a:fillRect/>
          </a:stretch>
        </p:blipFill>
        <p:spPr>
          <a:xfrm>
            <a:off x="6400800" y="3486150"/>
            <a:ext cx="476250" cy="476250"/>
          </a:xfrm>
          <a:prstGeom prst="rect">
            <a:avLst/>
          </a:prstGeom>
        </p:spPr>
      </p:pic>
      <p:pic>
        <p:nvPicPr>
          <p:cNvPr id="17" name="Image 15" descr="preencoded.png"/>
          <p:cNvPicPr>
            <a:picLocks noChangeAspect="1"/>
          </p:cNvPicPr>
          <p:nvPr/>
        </p:nvPicPr>
        <p:blipFill>
          <a:blip r:embed="rId17"/>
          <a:stretch>
            <a:fillRect/>
          </a:stretch>
        </p:blipFill>
        <p:spPr>
          <a:xfrm>
            <a:off x="6572250" y="3648075"/>
            <a:ext cx="133350" cy="152400"/>
          </a:xfrm>
          <a:prstGeom prst="rect">
            <a:avLst/>
          </a:prstGeom>
        </p:spPr>
      </p:pic>
      <p:pic>
        <p:nvPicPr>
          <p:cNvPr id="18" name="Image 16" descr="preencoded.png"/>
          <p:cNvPicPr>
            <a:picLocks noChangeAspect="1"/>
          </p:cNvPicPr>
          <p:nvPr/>
        </p:nvPicPr>
        <p:blipFill>
          <a:blip r:embed="rId18"/>
          <a:stretch>
            <a:fillRect/>
          </a:stretch>
        </p:blipFill>
        <p:spPr>
          <a:xfrm>
            <a:off x="6400800" y="4076700"/>
            <a:ext cx="476250" cy="476250"/>
          </a:xfrm>
          <a:prstGeom prst="rect">
            <a:avLst/>
          </a:prstGeom>
        </p:spPr>
      </p:pic>
      <p:pic>
        <p:nvPicPr>
          <p:cNvPr id="19" name="Image 17" descr="preencoded.png"/>
          <p:cNvPicPr>
            <a:picLocks noChangeAspect="1"/>
          </p:cNvPicPr>
          <p:nvPr/>
        </p:nvPicPr>
        <p:blipFill>
          <a:blip r:embed="rId19"/>
          <a:stretch>
            <a:fillRect/>
          </a:stretch>
        </p:blipFill>
        <p:spPr>
          <a:xfrm>
            <a:off x="6562725" y="4238625"/>
            <a:ext cx="152400" cy="152400"/>
          </a:xfrm>
          <a:prstGeom prst="rect">
            <a:avLst/>
          </a:prstGeom>
        </p:spPr>
      </p:pic>
      <p:pic>
        <p:nvPicPr>
          <p:cNvPr id="20" name="Image 18" descr="preencoded.png"/>
          <p:cNvPicPr>
            <a:picLocks noChangeAspect="1"/>
          </p:cNvPicPr>
          <p:nvPr/>
        </p:nvPicPr>
        <p:blipFill>
          <a:blip r:embed="rId20"/>
          <a:stretch>
            <a:fillRect/>
          </a:stretch>
        </p:blipFill>
        <p:spPr>
          <a:xfrm>
            <a:off x="457200" y="5867400"/>
            <a:ext cx="11277600" cy="533400"/>
          </a:xfrm>
          <a:prstGeom prst="rect">
            <a:avLst/>
          </a:prstGeom>
        </p:spPr>
      </p:pic>
      <p:pic>
        <p:nvPicPr>
          <p:cNvPr id="21" name="Image 19" descr="preencoded.png"/>
          <p:cNvPicPr>
            <a:picLocks noChangeAspect="1"/>
          </p:cNvPicPr>
          <p:nvPr/>
        </p:nvPicPr>
        <p:blipFill>
          <a:blip r:embed="rId21"/>
          <a:stretch>
            <a:fillRect/>
          </a:stretch>
        </p:blipFill>
        <p:spPr>
          <a:xfrm>
            <a:off x="2662535" y="6048375"/>
            <a:ext cx="142875" cy="152400"/>
          </a:xfrm>
          <a:prstGeom prst="rect">
            <a:avLst/>
          </a:prstGeom>
        </p:spPr>
      </p:pic>
      <p:pic>
        <p:nvPicPr>
          <p:cNvPr id="22" name="Image 20" descr="preencoded.png"/>
          <p:cNvPicPr>
            <a:picLocks noChangeAspect="1"/>
          </p:cNvPicPr>
          <p:nvPr/>
        </p:nvPicPr>
        <p:blipFill>
          <a:blip r:embed="rId22"/>
          <a:stretch>
            <a:fillRect/>
          </a:stretch>
        </p:blipFill>
        <p:spPr>
          <a:xfrm>
            <a:off x="9386441" y="6048375"/>
            <a:ext cx="142875" cy="152400"/>
          </a:xfrm>
          <a:prstGeom prst="rect">
            <a:avLst/>
          </a:prstGeom>
        </p:spPr>
      </p:pic>
      <p:sp>
        <p:nvSpPr>
          <p:cNvPr id="23" name="Text 0"/>
          <p:cNvSpPr/>
          <p:nvPr/>
        </p:nvSpPr>
        <p:spPr>
          <a:xfrm>
            <a:off x="457200" y="457200"/>
            <a:ext cx="13533120" cy="457200"/>
          </a:xfrm>
          <a:prstGeom prst="rect">
            <a:avLst/>
          </a:prstGeom>
          <a:noFill/>
          <a:ln/>
        </p:spPr>
        <p:txBody>
          <a:bodyPr vert="horz" wrap="square" lIns="0" tIns="0" rIns="0" bIns="0" rtlCol="0" anchor="t"/>
          <a:lstStyle/>
          <a:p>
            <a:pPr marL="0" indent="0">
              <a:lnSpc>
                <a:spcPts val="3600"/>
              </a:lnSpc>
              <a:buNone/>
            </a:pPr>
            <a:r>
              <a:rPr lang="en-US" sz="3600" b="1" dirty="0">
                <a:solidFill>
                  <a:srgbClr val="1E3A8A"/>
                </a:solidFill>
                <a:latin typeface="Segoe UI" pitchFamily="34" charset="0"/>
                <a:ea typeface="Segoe UI" pitchFamily="34" charset="-122"/>
                <a:cs typeface="Segoe UI" pitchFamily="34" charset="-120"/>
              </a:rPr>
              <a:t>Limitations and New Challenges</a:t>
            </a:r>
            <a:endParaRPr lang="en-US" sz="3600" dirty="0"/>
          </a:p>
        </p:txBody>
      </p:sp>
      <p:sp>
        <p:nvSpPr>
          <p:cNvPr id="24" name="Text 1"/>
          <p:cNvSpPr/>
          <p:nvPr/>
        </p:nvSpPr>
        <p:spPr>
          <a:xfrm>
            <a:off x="647700" y="1333500"/>
            <a:ext cx="10896600" cy="533400"/>
          </a:xfrm>
          <a:prstGeom prst="rect">
            <a:avLst/>
          </a:prstGeom>
          <a:noFill/>
          <a:ln/>
        </p:spPr>
        <p:txBody>
          <a:bodyPr vert="horz" wrap="square" lIns="0" tIns="0" rIns="0" bIns="0" rtlCol="0" anchor="t"/>
          <a:lstStyle/>
          <a:p>
            <a:pPr marL="0" indent="0">
              <a:lnSpc>
                <a:spcPts val="2100"/>
              </a:lnSpc>
              <a:buNone/>
            </a:pPr>
            <a:r>
              <a:rPr lang="en-US" sz="1350" dirty="0">
                <a:solidFill>
                  <a:srgbClr val="1E293B"/>
                </a:solidFill>
                <a:latin typeface="ui-sans-serif" pitchFamily="34" charset="0"/>
                <a:ea typeface="ui-sans-serif" pitchFamily="34" charset="-122"/>
                <a:cs typeface="ui-sans-serif" pitchFamily="34" charset="-120"/>
              </a:rPr>
              <a:t>Modern AI has revealed limitations in Turing's original concept. The test doesn't measure important aspects of intelligence and raises questions about transparency and ethics.</a:t>
            </a:r>
            <a:endParaRPr lang="en-US" sz="1350" dirty="0"/>
          </a:p>
        </p:txBody>
      </p:sp>
      <p:sp>
        <p:nvSpPr>
          <p:cNvPr id="25" name="Text 2"/>
          <p:cNvSpPr/>
          <p:nvPr/>
        </p:nvSpPr>
        <p:spPr>
          <a:xfrm>
            <a:off x="914400" y="2476500"/>
            <a:ext cx="6172200" cy="266700"/>
          </a:xfrm>
          <a:prstGeom prst="rect">
            <a:avLst/>
          </a:prstGeom>
          <a:noFill/>
          <a:ln/>
        </p:spPr>
        <p:txBody>
          <a:bodyPr vert="horz" wrap="square" lIns="0" tIns="0" rIns="0" bIns="0" rtlCol="0" anchor="t"/>
          <a:lstStyle/>
          <a:p>
            <a:pPr marL="0" indent="0">
              <a:lnSpc>
                <a:spcPts val="2100"/>
              </a:lnSpc>
              <a:buNone/>
            </a:pPr>
            <a:r>
              <a:rPr lang="en-US" sz="1500" b="1" dirty="0">
                <a:solidFill>
                  <a:srgbClr val="1E40AF"/>
                </a:solidFill>
                <a:latin typeface="ui-sans-serif" pitchFamily="34" charset="0"/>
                <a:ea typeface="ui-sans-serif" pitchFamily="34" charset="-122"/>
                <a:cs typeface="ui-sans-serif" pitchFamily="34" charset="-120"/>
              </a:rPr>
              <a:t>What the Turing Test Doesn't Address</a:t>
            </a:r>
            <a:endParaRPr lang="en-US" sz="1500" dirty="0"/>
          </a:p>
        </p:txBody>
      </p:sp>
      <p:sp>
        <p:nvSpPr>
          <p:cNvPr id="26" name="Text 3"/>
          <p:cNvSpPr/>
          <p:nvPr/>
        </p:nvSpPr>
        <p:spPr>
          <a:xfrm>
            <a:off x="1238250" y="2914650"/>
            <a:ext cx="1010483" cy="180975"/>
          </a:xfrm>
          <a:prstGeom prst="rect">
            <a:avLst/>
          </a:prstGeom>
          <a:noFill/>
          <a:ln/>
        </p:spPr>
        <p:txBody>
          <a:bodyPr vert="horz" wrap="square" lIns="0" tIns="0" rIns="0" bIns="0" rtlCol="0" anchor="t"/>
          <a:lstStyle/>
          <a:p>
            <a:pPr marL="0" indent="0" algn="l">
              <a:lnSpc>
                <a:spcPts val="1800"/>
              </a:lnSpc>
              <a:buNone/>
            </a:pPr>
            <a:r>
              <a:rPr lang="en-US" sz="1200" b="1" dirty="0">
                <a:solidFill>
                  <a:srgbClr val="1E293B"/>
                </a:solidFill>
                <a:latin typeface="ui-sans-serif" pitchFamily="34" charset="0"/>
                <a:ea typeface="ui-sans-serif" pitchFamily="34" charset="-122"/>
                <a:cs typeface="ui-sans-serif" pitchFamily="34" charset="-120"/>
              </a:rPr>
              <a:t>Creativity</a:t>
            </a:r>
            <a:endParaRPr lang="en-US" sz="1200" dirty="0"/>
          </a:p>
        </p:txBody>
      </p:sp>
      <p:sp>
        <p:nvSpPr>
          <p:cNvPr id="27" name="Text 4"/>
          <p:cNvSpPr/>
          <p:nvPr/>
        </p:nvSpPr>
        <p:spPr>
          <a:xfrm>
            <a:off x="1238250" y="3124200"/>
            <a:ext cx="4140339" cy="190500"/>
          </a:xfrm>
          <a:prstGeom prst="rect">
            <a:avLst/>
          </a:prstGeom>
          <a:noFill/>
          <a:ln/>
        </p:spPr>
        <p:txBody>
          <a:bodyPr vert="horz" wrap="square" lIns="0" tIns="0" rIns="0" bIns="0" rtlCol="0" anchor="t"/>
          <a:lstStyle/>
          <a:p>
            <a:pPr marL="0" indent="0" algn="l">
              <a:lnSpc>
                <a:spcPts val="1500"/>
              </a:lnSpc>
              <a:buNone/>
            </a:pPr>
            <a:r>
              <a:rPr lang="en-US" sz="1050" dirty="0">
                <a:solidFill>
                  <a:srgbClr val="1E293B"/>
                </a:solidFill>
                <a:latin typeface="ui-sans-serif" pitchFamily="34" charset="0"/>
                <a:ea typeface="ui-sans-serif" pitchFamily="34" charset="-122"/>
                <a:cs typeface="ui-sans-serif" pitchFamily="34" charset="-120"/>
              </a:rPr>
              <a:t>Can produce text but lacks genuine creative insight</a:t>
            </a:r>
            <a:endParaRPr lang="en-US" sz="1050" dirty="0"/>
          </a:p>
        </p:txBody>
      </p:sp>
      <p:sp>
        <p:nvSpPr>
          <p:cNvPr id="28" name="Text 5"/>
          <p:cNvSpPr/>
          <p:nvPr/>
        </p:nvSpPr>
        <p:spPr>
          <a:xfrm>
            <a:off x="1238250" y="3505200"/>
            <a:ext cx="2312253" cy="180975"/>
          </a:xfrm>
          <a:prstGeom prst="rect">
            <a:avLst/>
          </a:prstGeom>
          <a:noFill/>
          <a:ln/>
        </p:spPr>
        <p:txBody>
          <a:bodyPr vert="horz" wrap="square" lIns="0" tIns="0" rIns="0" bIns="0" rtlCol="0" anchor="t"/>
          <a:lstStyle/>
          <a:p>
            <a:pPr marL="0" indent="0" algn="l">
              <a:lnSpc>
                <a:spcPts val="1800"/>
              </a:lnSpc>
              <a:buNone/>
            </a:pPr>
            <a:r>
              <a:rPr lang="en-US" sz="1200" b="1" dirty="0">
                <a:solidFill>
                  <a:srgbClr val="1E293B"/>
                </a:solidFill>
                <a:latin typeface="ui-sans-serif" pitchFamily="34" charset="0"/>
                <a:ea typeface="ui-sans-serif" pitchFamily="34" charset="-122"/>
                <a:cs typeface="ui-sans-serif" pitchFamily="34" charset="-120"/>
              </a:rPr>
              <a:t>Emotional Intelligence</a:t>
            </a:r>
            <a:endParaRPr lang="en-US" sz="1200" dirty="0"/>
          </a:p>
        </p:txBody>
      </p:sp>
      <p:sp>
        <p:nvSpPr>
          <p:cNvPr id="29" name="Text 6"/>
          <p:cNvSpPr/>
          <p:nvPr/>
        </p:nvSpPr>
        <p:spPr>
          <a:xfrm>
            <a:off x="1238250" y="3714750"/>
            <a:ext cx="3863519" cy="190500"/>
          </a:xfrm>
          <a:prstGeom prst="rect">
            <a:avLst/>
          </a:prstGeom>
          <a:noFill/>
          <a:ln/>
        </p:spPr>
        <p:txBody>
          <a:bodyPr vert="horz" wrap="square" lIns="0" tIns="0" rIns="0" bIns="0" rtlCol="0" anchor="t"/>
          <a:lstStyle/>
          <a:p>
            <a:pPr marL="0" indent="0" algn="l">
              <a:lnSpc>
                <a:spcPts val="1500"/>
              </a:lnSpc>
              <a:buNone/>
            </a:pPr>
            <a:r>
              <a:rPr lang="en-US" sz="1050" dirty="0">
                <a:solidFill>
                  <a:srgbClr val="1E293B"/>
                </a:solidFill>
                <a:latin typeface="ui-sans-serif" pitchFamily="34" charset="0"/>
                <a:ea typeface="ui-sans-serif" pitchFamily="34" charset="-122"/>
                <a:cs typeface="ui-sans-serif" pitchFamily="34" charset="-120"/>
              </a:rPr>
              <a:t>Cannot truly understand emotions or empathize</a:t>
            </a:r>
            <a:endParaRPr lang="en-US" sz="1050" dirty="0"/>
          </a:p>
        </p:txBody>
      </p:sp>
      <p:sp>
        <p:nvSpPr>
          <p:cNvPr id="30" name="Text 7"/>
          <p:cNvSpPr/>
          <p:nvPr/>
        </p:nvSpPr>
        <p:spPr>
          <a:xfrm>
            <a:off x="1238250" y="4095750"/>
            <a:ext cx="1840230" cy="180975"/>
          </a:xfrm>
          <a:prstGeom prst="rect">
            <a:avLst/>
          </a:prstGeom>
          <a:noFill/>
          <a:ln/>
        </p:spPr>
        <p:txBody>
          <a:bodyPr vert="horz" wrap="square" lIns="0" tIns="0" rIns="0" bIns="0" rtlCol="0" anchor="t"/>
          <a:lstStyle/>
          <a:p>
            <a:pPr marL="0" indent="0" algn="l">
              <a:lnSpc>
                <a:spcPts val="1800"/>
              </a:lnSpc>
              <a:buNone/>
            </a:pPr>
            <a:r>
              <a:rPr lang="en-US" sz="1200" b="1" dirty="0">
                <a:solidFill>
                  <a:srgbClr val="1E293B"/>
                </a:solidFill>
                <a:latin typeface="ui-sans-serif" pitchFamily="34" charset="0"/>
                <a:ea typeface="ui-sans-serif" pitchFamily="34" charset="-122"/>
                <a:cs typeface="ui-sans-serif" pitchFamily="34" charset="-120"/>
              </a:rPr>
              <a:t>Ethical Reasoning</a:t>
            </a:r>
            <a:endParaRPr lang="en-US" sz="1200" dirty="0"/>
          </a:p>
        </p:txBody>
      </p:sp>
      <p:sp>
        <p:nvSpPr>
          <p:cNvPr id="31" name="Text 8"/>
          <p:cNvSpPr/>
          <p:nvPr/>
        </p:nvSpPr>
        <p:spPr>
          <a:xfrm>
            <a:off x="1238250" y="4305300"/>
            <a:ext cx="3101638" cy="190500"/>
          </a:xfrm>
          <a:prstGeom prst="rect">
            <a:avLst/>
          </a:prstGeom>
          <a:noFill/>
          <a:ln/>
        </p:spPr>
        <p:txBody>
          <a:bodyPr vert="horz" wrap="square" lIns="0" tIns="0" rIns="0" bIns="0" rtlCol="0" anchor="t"/>
          <a:lstStyle/>
          <a:p>
            <a:pPr marL="0" indent="0" algn="l">
              <a:lnSpc>
                <a:spcPts val="1500"/>
              </a:lnSpc>
              <a:buNone/>
            </a:pPr>
            <a:r>
              <a:rPr lang="en-US" sz="1050" dirty="0">
                <a:solidFill>
                  <a:srgbClr val="1E293B"/>
                </a:solidFill>
                <a:latin typeface="ui-sans-serif" pitchFamily="34" charset="0"/>
                <a:ea typeface="ui-sans-serif" pitchFamily="34" charset="-122"/>
                <a:cs typeface="ui-sans-serif" pitchFamily="34" charset="-120"/>
              </a:rPr>
              <a:t>Lacks moral understanding and values</a:t>
            </a:r>
            <a:endParaRPr lang="en-US" sz="1050" dirty="0"/>
          </a:p>
        </p:txBody>
      </p:sp>
      <p:sp>
        <p:nvSpPr>
          <p:cNvPr id="32" name="Text 9"/>
          <p:cNvSpPr/>
          <p:nvPr/>
        </p:nvSpPr>
        <p:spPr>
          <a:xfrm>
            <a:off x="6667500" y="2476500"/>
            <a:ext cx="6172200" cy="266700"/>
          </a:xfrm>
          <a:prstGeom prst="rect">
            <a:avLst/>
          </a:prstGeom>
          <a:noFill/>
          <a:ln/>
        </p:spPr>
        <p:txBody>
          <a:bodyPr vert="horz" wrap="square" lIns="0" tIns="0" rIns="0" bIns="0" rtlCol="0" anchor="t"/>
          <a:lstStyle/>
          <a:p>
            <a:pPr marL="0" indent="0">
              <a:lnSpc>
                <a:spcPts val="2100"/>
              </a:lnSpc>
              <a:buNone/>
            </a:pPr>
            <a:r>
              <a:rPr lang="en-US" sz="1500" b="1" dirty="0">
                <a:solidFill>
                  <a:srgbClr val="1E40AF"/>
                </a:solidFill>
                <a:latin typeface="ui-sans-serif" pitchFamily="34" charset="0"/>
                <a:ea typeface="ui-sans-serif" pitchFamily="34" charset="-122"/>
                <a:cs typeface="ui-sans-serif" pitchFamily="34" charset="-120"/>
              </a:rPr>
              <a:t>New Challenges for the AI Era</a:t>
            </a:r>
            <a:endParaRPr lang="en-US" sz="1500" dirty="0"/>
          </a:p>
        </p:txBody>
      </p:sp>
      <p:sp>
        <p:nvSpPr>
          <p:cNvPr id="33" name="Text 10"/>
          <p:cNvSpPr/>
          <p:nvPr/>
        </p:nvSpPr>
        <p:spPr>
          <a:xfrm>
            <a:off x="6991350" y="2914650"/>
            <a:ext cx="2137053" cy="180975"/>
          </a:xfrm>
          <a:prstGeom prst="rect">
            <a:avLst/>
          </a:prstGeom>
          <a:noFill/>
          <a:ln/>
        </p:spPr>
        <p:txBody>
          <a:bodyPr vert="horz" wrap="square" lIns="0" tIns="0" rIns="0" bIns="0" rtlCol="0" anchor="t"/>
          <a:lstStyle/>
          <a:p>
            <a:pPr marL="0" indent="0" algn="l">
              <a:lnSpc>
                <a:spcPts val="1800"/>
              </a:lnSpc>
              <a:buNone/>
            </a:pPr>
            <a:r>
              <a:rPr lang="en-US" sz="1200" b="1" dirty="0">
                <a:solidFill>
                  <a:srgbClr val="1E293B"/>
                </a:solidFill>
                <a:latin typeface="ui-sans-serif" pitchFamily="34" charset="0"/>
                <a:ea typeface="ui-sans-serif" pitchFamily="34" charset="-122"/>
                <a:cs typeface="ui-sans-serif" pitchFamily="34" charset="-120"/>
              </a:rPr>
              <a:t>Continuous Learning</a:t>
            </a:r>
            <a:endParaRPr lang="en-US" sz="1200" dirty="0"/>
          </a:p>
        </p:txBody>
      </p:sp>
      <p:sp>
        <p:nvSpPr>
          <p:cNvPr id="34" name="Text 11"/>
          <p:cNvSpPr/>
          <p:nvPr/>
        </p:nvSpPr>
        <p:spPr>
          <a:xfrm>
            <a:off x="6991350" y="3124200"/>
            <a:ext cx="3904238" cy="190500"/>
          </a:xfrm>
          <a:prstGeom prst="rect">
            <a:avLst/>
          </a:prstGeom>
          <a:noFill/>
          <a:ln/>
        </p:spPr>
        <p:txBody>
          <a:bodyPr vert="horz" wrap="square" lIns="0" tIns="0" rIns="0" bIns="0" rtlCol="0" anchor="t"/>
          <a:lstStyle/>
          <a:p>
            <a:pPr marL="0" indent="0" algn="l">
              <a:lnSpc>
                <a:spcPts val="1500"/>
              </a:lnSpc>
              <a:buNone/>
            </a:pPr>
            <a:r>
              <a:rPr lang="en-US" sz="1050" dirty="0">
                <a:solidFill>
                  <a:srgbClr val="1E293B"/>
                </a:solidFill>
                <a:latin typeface="ui-sans-serif" pitchFamily="34" charset="0"/>
                <a:ea typeface="ui-sans-serif" pitchFamily="34" charset="-122"/>
                <a:cs typeface="ui-sans-serif" pitchFamily="34" charset="-120"/>
              </a:rPr>
              <a:t>AI cannot adapt and learn from new experiences</a:t>
            </a:r>
            <a:endParaRPr lang="en-US" sz="1050" dirty="0"/>
          </a:p>
        </p:txBody>
      </p:sp>
      <p:sp>
        <p:nvSpPr>
          <p:cNvPr id="35" name="Text 12"/>
          <p:cNvSpPr/>
          <p:nvPr/>
        </p:nvSpPr>
        <p:spPr>
          <a:xfrm>
            <a:off x="6991350" y="3505200"/>
            <a:ext cx="2853750" cy="180975"/>
          </a:xfrm>
          <a:prstGeom prst="rect">
            <a:avLst/>
          </a:prstGeom>
          <a:noFill/>
          <a:ln/>
        </p:spPr>
        <p:txBody>
          <a:bodyPr vert="horz" wrap="square" lIns="0" tIns="0" rIns="0" bIns="0" rtlCol="0" anchor="t"/>
          <a:lstStyle/>
          <a:p>
            <a:pPr marL="0" indent="0" algn="l">
              <a:lnSpc>
                <a:spcPts val="1800"/>
              </a:lnSpc>
              <a:buNone/>
            </a:pPr>
            <a:r>
              <a:rPr lang="en-US" sz="1200" b="1" dirty="0">
                <a:solidFill>
                  <a:srgbClr val="1E293B"/>
                </a:solidFill>
                <a:latin typeface="ui-sans-serif" pitchFamily="34" charset="0"/>
                <a:ea typeface="ui-sans-serif" pitchFamily="34" charset="-122"/>
                <a:cs typeface="ui-sans-serif" pitchFamily="34" charset="-120"/>
              </a:rPr>
              <a:t>Transparency vs. Deception</a:t>
            </a:r>
            <a:endParaRPr lang="en-US" sz="1200" dirty="0"/>
          </a:p>
        </p:txBody>
      </p:sp>
      <p:sp>
        <p:nvSpPr>
          <p:cNvPr id="36" name="Text 13"/>
          <p:cNvSpPr/>
          <p:nvPr/>
        </p:nvSpPr>
        <p:spPr>
          <a:xfrm>
            <a:off x="6991350" y="3714750"/>
            <a:ext cx="4486454" cy="190500"/>
          </a:xfrm>
          <a:prstGeom prst="rect">
            <a:avLst/>
          </a:prstGeom>
          <a:noFill/>
          <a:ln/>
        </p:spPr>
        <p:txBody>
          <a:bodyPr vert="horz" wrap="square" lIns="0" tIns="0" rIns="0" bIns="0" rtlCol="0" anchor="t"/>
          <a:lstStyle/>
          <a:p>
            <a:pPr marL="0" indent="0" algn="l">
              <a:lnSpc>
                <a:spcPts val="1500"/>
              </a:lnSpc>
              <a:buNone/>
            </a:pPr>
            <a:r>
              <a:rPr lang="en-US" sz="1050" dirty="0">
                <a:solidFill>
                  <a:srgbClr val="1E293B"/>
                </a:solidFill>
                <a:latin typeface="ui-sans-serif" pitchFamily="34" charset="0"/>
                <a:ea typeface="ui-sans-serif" pitchFamily="34" charset="-122"/>
                <a:cs typeface="ui-sans-serif" pitchFamily="34" charset="-120"/>
              </a:rPr>
              <a:t>Should AI identify itself as machine or deceive humans?</a:t>
            </a:r>
            <a:endParaRPr lang="en-US" sz="1050" dirty="0"/>
          </a:p>
        </p:txBody>
      </p:sp>
      <p:sp>
        <p:nvSpPr>
          <p:cNvPr id="37" name="Text 14"/>
          <p:cNvSpPr/>
          <p:nvPr/>
        </p:nvSpPr>
        <p:spPr>
          <a:xfrm>
            <a:off x="6991350" y="4095750"/>
            <a:ext cx="2443520" cy="180975"/>
          </a:xfrm>
          <a:prstGeom prst="rect">
            <a:avLst/>
          </a:prstGeom>
          <a:noFill/>
          <a:ln/>
        </p:spPr>
        <p:txBody>
          <a:bodyPr vert="horz" wrap="square" lIns="0" tIns="0" rIns="0" bIns="0" rtlCol="0" anchor="t"/>
          <a:lstStyle/>
          <a:p>
            <a:pPr marL="0" indent="0" algn="l">
              <a:lnSpc>
                <a:spcPts val="1800"/>
              </a:lnSpc>
              <a:buNone/>
            </a:pPr>
            <a:r>
              <a:rPr lang="en-US" sz="1200" b="1" dirty="0">
                <a:solidFill>
                  <a:srgbClr val="1E293B"/>
                </a:solidFill>
                <a:latin typeface="ui-sans-serif" pitchFamily="34" charset="0"/>
                <a:ea typeface="ui-sans-serif" pitchFamily="34" charset="-122"/>
                <a:cs typeface="ui-sans-serif" pitchFamily="34" charset="-120"/>
              </a:rPr>
              <a:t>Genuine Understanding</a:t>
            </a:r>
            <a:endParaRPr lang="en-US" sz="1200" dirty="0"/>
          </a:p>
        </p:txBody>
      </p:sp>
      <p:sp>
        <p:nvSpPr>
          <p:cNvPr id="38" name="Text 15"/>
          <p:cNvSpPr/>
          <p:nvPr/>
        </p:nvSpPr>
        <p:spPr>
          <a:xfrm>
            <a:off x="6991350" y="4305300"/>
            <a:ext cx="4928295" cy="190500"/>
          </a:xfrm>
          <a:prstGeom prst="rect">
            <a:avLst/>
          </a:prstGeom>
          <a:noFill/>
          <a:ln/>
        </p:spPr>
        <p:txBody>
          <a:bodyPr vert="horz" wrap="square" lIns="0" tIns="0" rIns="0" bIns="0" rtlCol="0" anchor="t"/>
          <a:lstStyle/>
          <a:p>
            <a:pPr marL="0" indent="0" algn="l">
              <a:lnSpc>
                <a:spcPts val="1500"/>
              </a:lnSpc>
              <a:buNone/>
            </a:pPr>
            <a:r>
              <a:rPr lang="en-US" sz="1050" dirty="0">
                <a:solidFill>
                  <a:srgbClr val="1E293B"/>
                </a:solidFill>
                <a:latin typeface="ui-sans-serif" pitchFamily="34" charset="0"/>
                <a:ea typeface="ui-sans-serif" pitchFamily="34" charset="-122"/>
                <a:cs typeface="ui-sans-serif" pitchFamily="34" charset="-120"/>
              </a:rPr>
              <a:t>AI can simulate understanding without actual comprehension</a:t>
            </a:r>
            <a:endParaRPr lang="en-US" sz="1050" dirty="0"/>
          </a:p>
        </p:txBody>
      </p:sp>
      <p:sp>
        <p:nvSpPr>
          <p:cNvPr id="39" name="Text 16"/>
          <p:cNvSpPr/>
          <p:nvPr/>
        </p:nvSpPr>
        <p:spPr>
          <a:xfrm>
            <a:off x="-487680" y="6019800"/>
            <a:ext cx="13167360" cy="228600"/>
          </a:xfrm>
          <a:prstGeom prst="rect">
            <a:avLst/>
          </a:prstGeom>
          <a:noFill/>
          <a:ln/>
        </p:spPr>
        <p:txBody>
          <a:bodyPr vert="horz" wrap="square" lIns="0" tIns="0" rIns="0" bIns="0" rtlCol="0" anchor="t"/>
          <a:lstStyle/>
          <a:p>
            <a:pPr marL="0" indent="0" algn="ctr">
              <a:lnSpc>
                <a:spcPts val="1800"/>
              </a:lnSpc>
              <a:buNone/>
            </a:pPr>
            <a:r>
              <a:rPr lang="en-US" sz="1200" i="1" dirty="0">
                <a:solidFill>
                  <a:srgbClr val="1E40AF"/>
                </a:solidFill>
                <a:latin typeface="ui-sans-serif" pitchFamily="34" charset="0"/>
                <a:ea typeface="ui-sans-serif" pitchFamily="34" charset="-122"/>
                <a:cs typeface="ui-sans-serif" pitchFamily="34" charset="-120"/>
              </a:rPr>
              <a:t> The Turing Test reveals more about our questions than about machine intelligence. </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2192000" cy="6858000"/>
          </a:xfrm>
          <a:prstGeom prst="rect">
            <a:avLst/>
          </a:prstGeom>
        </p:spPr>
      </p:pic>
      <p:pic>
        <p:nvPicPr>
          <p:cNvPr id="3" name="Image 1" descr="preencoded.png"/>
          <p:cNvPicPr>
            <a:picLocks noChangeAspect="1"/>
          </p:cNvPicPr>
          <p:nvPr/>
        </p:nvPicPr>
        <p:blipFill>
          <a:blip r:embed="rId4"/>
          <a:stretch>
            <a:fillRect/>
          </a:stretch>
        </p:blipFill>
        <p:spPr>
          <a:xfrm>
            <a:off x="457200" y="1143000"/>
            <a:ext cx="11277600" cy="914400"/>
          </a:xfrm>
          <a:prstGeom prst="rect">
            <a:avLst/>
          </a:prstGeom>
        </p:spPr>
      </p:pic>
      <p:pic>
        <p:nvPicPr>
          <p:cNvPr id="4" name="Image 2" descr="preencoded.png"/>
          <p:cNvPicPr>
            <a:picLocks noChangeAspect="1"/>
          </p:cNvPicPr>
          <p:nvPr/>
        </p:nvPicPr>
        <p:blipFill>
          <a:blip r:embed="rId5"/>
          <a:stretch>
            <a:fillRect/>
          </a:stretch>
        </p:blipFill>
        <p:spPr>
          <a:xfrm>
            <a:off x="457200" y="2286000"/>
            <a:ext cx="3606701" cy="2133600"/>
          </a:xfrm>
          <a:prstGeom prst="rect">
            <a:avLst/>
          </a:prstGeom>
        </p:spPr>
      </p:pic>
      <p:pic>
        <p:nvPicPr>
          <p:cNvPr id="5" name="Image 3" descr="preencoded.png"/>
          <p:cNvPicPr>
            <a:picLocks noChangeAspect="1"/>
          </p:cNvPicPr>
          <p:nvPr/>
        </p:nvPicPr>
        <p:blipFill>
          <a:blip r:embed="rId6"/>
          <a:stretch>
            <a:fillRect/>
          </a:stretch>
        </p:blipFill>
        <p:spPr>
          <a:xfrm>
            <a:off x="1974800" y="2476500"/>
            <a:ext cx="571500" cy="571500"/>
          </a:xfrm>
          <a:prstGeom prst="rect">
            <a:avLst/>
          </a:prstGeom>
        </p:spPr>
      </p:pic>
      <p:pic>
        <p:nvPicPr>
          <p:cNvPr id="6" name="Image 4" descr="preencoded.png"/>
          <p:cNvPicPr>
            <a:picLocks noChangeAspect="1"/>
          </p:cNvPicPr>
          <p:nvPr/>
        </p:nvPicPr>
        <p:blipFill>
          <a:blip r:embed="rId7"/>
          <a:stretch>
            <a:fillRect/>
          </a:stretch>
        </p:blipFill>
        <p:spPr>
          <a:xfrm>
            <a:off x="2117675" y="2590800"/>
            <a:ext cx="285750" cy="342900"/>
          </a:xfrm>
          <a:prstGeom prst="rect">
            <a:avLst/>
          </a:prstGeom>
        </p:spPr>
      </p:pic>
      <p:pic>
        <p:nvPicPr>
          <p:cNvPr id="7" name="Image 5" descr="preencoded.png"/>
          <p:cNvPicPr>
            <a:picLocks noChangeAspect="1"/>
          </p:cNvPicPr>
          <p:nvPr/>
        </p:nvPicPr>
        <p:blipFill>
          <a:blip r:embed="rId8"/>
          <a:stretch>
            <a:fillRect/>
          </a:stretch>
        </p:blipFill>
        <p:spPr>
          <a:xfrm>
            <a:off x="4292501" y="2286000"/>
            <a:ext cx="3606850" cy="2133600"/>
          </a:xfrm>
          <a:prstGeom prst="rect">
            <a:avLst/>
          </a:prstGeom>
        </p:spPr>
      </p:pic>
      <p:pic>
        <p:nvPicPr>
          <p:cNvPr id="8" name="Image 6" descr="preencoded.png"/>
          <p:cNvPicPr>
            <a:picLocks noChangeAspect="1"/>
          </p:cNvPicPr>
          <p:nvPr/>
        </p:nvPicPr>
        <p:blipFill>
          <a:blip r:embed="rId9"/>
          <a:stretch>
            <a:fillRect/>
          </a:stretch>
        </p:blipFill>
        <p:spPr>
          <a:xfrm>
            <a:off x="5810101" y="2476500"/>
            <a:ext cx="571500" cy="571500"/>
          </a:xfrm>
          <a:prstGeom prst="rect">
            <a:avLst/>
          </a:prstGeom>
        </p:spPr>
      </p:pic>
      <p:pic>
        <p:nvPicPr>
          <p:cNvPr id="9" name="Image 7" descr="preencoded.png"/>
          <p:cNvPicPr>
            <a:picLocks noChangeAspect="1"/>
          </p:cNvPicPr>
          <p:nvPr/>
        </p:nvPicPr>
        <p:blipFill>
          <a:blip r:embed="rId10"/>
          <a:stretch>
            <a:fillRect/>
          </a:stretch>
        </p:blipFill>
        <p:spPr>
          <a:xfrm>
            <a:off x="5933926" y="2590800"/>
            <a:ext cx="323850" cy="342900"/>
          </a:xfrm>
          <a:prstGeom prst="rect">
            <a:avLst/>
          </a:prstGeom>
        </p:spPr>
      </p:pic>
      <p:pic>
        <p:nvPicPr>
          <p:cNvPr id="10" name="Image 8" descr="preencoded.png"/>
          <p:cNvPicPr>
            <a:picLocks noChangeAspect="1"/>
          </p:cNvPicPr>
          <p:nvPr/>
        </p:nvPicPr>
        <p:blipFill>
          <a:blip r:embed="rId11"/>
          <a:stretch>
            <a:fillRect/>
          </a:stretch>
        </p:blipFill>
        <p:spPr>
          <a:xfrm>
            <a:off x="8127950" y="2286000"/>
            <a:ext cx="3606701" cy="2133600"/>
          </a:xfrm>
          <a:prstGeom prst="rect">
            <a:avLst/>
          </a:prstGeom>
        </p:spPr>
      </p:pic>
      <p:pic>
        <p:nvPicPr>
          <p:cNvPr id="11" name="Image 9" descr="preencoded.png"/>
          <p:cNvPicPr>
            <a:picLocks noChangeAspect="1"/>
          </p:cNvPicPr>
          <p:nvPr/>
        </p:nvPicPr>
        <p:blipFill>
          <a:blip r:embed="rId12"/>
          <a:stretch>
            <a:fillRect/>
          </a:stretch>
        </p:blipFill>
        <p:spPr>
          <a:xfrm>
            <a:off x="9645551" y="2476500"/>
            <a:ext cx="571500" cy="571500"/>
          </a:xfrm>
          <a:prstGeom prst="rect">
            <a:avLst/>
          </a:prstGeom>
        </p:spPr>
      </p:pic>
      <p:pic>
        <p:nvPicPr>
          <p:cNvPr id="12" name="Image 10" descr="preencoded.png"/>
          <p:cNvPicPr>
            <a:picLocks noChangeAspect="1"/>
          </p:cNvPicPr>
          <p:nvPr/>
        </p:nvPicPr>
        <p:blipFill>
          <a:blip r:embed="rId13"/>
          <a:stretch>
            <a:fillRect/>
          </a:stretch>
        </p:blipFill>
        <p:spPr>
          <a:xfrm>
            <a:off x="9788426" y="2590800"/>
            <a:ext cx="285750" cy="342900"/>
          </a:xfrm>
          <a:prstGeom prst="rect">
            <a:avLst/>
          </a:prstGeom>
        </p:spPr>
      </p:pic>
      <p:pic>
        <p:nvPicPr>
          <p:cNvPr id="13" name="Image 11" descr="preencoded.png"/>
          <p:cNvPicPr>
            <a:picLocks noChangeAspect="1"/>
          </p:cNvPicPr>
          <p:nvPr/>
        </p:nvPicPr>
        <p:blipFill>
          <a:blip r:embed="rId14"/>
          <a:stretch>
            <a:fillRect/>
          </a:stretch>
        </p:blipFill>
        <p:spPr>
          <a:xfrm>
            <a:off x="457200" y="4648200"/>
            <a:ext cx="11277600" cy="1447800"/>
          </a:xfrm>
          <a:prstGeom prst="rect">
            <a:avLst/>
          </a:prstGeom>
        </p:spPr>
      </p:pic>
      <p:pic>
        <p:nvPicPr>
          <p:cNvPr id="14" name="Image 12" descr="preencoded.png"/>
          <p:cNvPicPr>
            <a:picLocks noChangeAspect="1"/>
          </p:cNvPicPr>
          <p:nvPr/>
        </p:nvPicPr>
        <p:blipFill>
          <a:blip r:embed="rId15"/>
          <a:stretch>
            <a:fillRect/>
          </a:stretch>
        </p:blipFill>
        <p:spPr>
          <a:xfrm>
            <a:off x="647700" y="5286375"/>
            <a:ext cx="152400" cy="152400"/>
          </a:xfrm>
          <a:prstGeom prst="rect">
            <a:avLst/>
          </a:prstGeom>
        </p:spPr>
      </p:pic>
      <p:pic>
        <p:nvPicPr>
          <p:cNvPr id="15" name="Image 13" descr="preencoded.png"/>
          <p:cNvPicPr>
            <a:picLocks noChangeAspect="1"/>
          </p:cNvPicPr>
          <p:nvPr/>
        </p:nvPicPr>
        <p:blipFill>
          <a:blip r:embed="rId15"/>
          <a:stretch>
            <a:fillRect/>
          </a:stretch>
        </p:blipFill>
        <p:spPr>
          <a:xfrm>
            <a:off x="6172200" y="5286375"/>
            <a:ext cx="152400" cy="152400"/>
          </a:xfrm>
          <a:prstGeom prst="rect">
            <a:avLst/>
          </a:prstGeom>
        </p:spPr>
      </p:pic>
      <p:pic>
        <p:nvPicPr>
          <p:cNvPr id="16" name="Image 14" descr="preencoded.png"/>
          <p:cNvPicPr>
            <a:picLocks noChangeAspect="1"/>
          </p:cNvPicPr>
          <p:nvPr/>
        </p:nvPicPr>
        <p:blipFill>
          <a:blip r:embed="rId15"/>
          <a:stretch>
            <a:fillRect/>
          </a:stretch>
        </p:blipFill>
        <p:spPr>
          <a:xfrm>
            <a:off x="647700" y="5705475"/>
            <a:ext cx="152400" cy="152400"/>
          </a:xfrm>
          <a:prstGeom prst="rect">
            <a:avLst/>
          </a:prstGeom>
        </p:spPr>
      </p:pic>
      <p:pic>
        <p:nvPicPr>
          <p:cNvPr id="17" name="Image 15" descr="preencoded.png"/>
          <p:cNvPicPr>
            <a:picLocks noChangeAspect="1"/>
          </p:cNvPicPr>
          <p:nvPr/>
        </p:nvPicPr>
        <p:blipFill>
          <a:blip r:embed="rId15"/>
          <a:stretch>
            <a:fillRect/>
          </a:stretch>
        </p:blipFill>
        <p:spPr>
          <a:xfrm>
            <a:off x="6172200" y="5705475"/>
            <a:ext cx="152400" cy="152400"/>
          </a:xfrm>
          <a:prstGeom prst="rect">
            <a:avLst/>
          </a:prstGeom>
        </p:spPr>
      </p:pic>
      <p:sp>
        <p:nvSpPr>
          <p:cNvPr id="18" name="Text 0"/>
          <p:cNvSpPr/>
          <p:nvPr/>
        </p:nvSpPr>
        <p:spPr>
          <a:xfrm>
            <a:off x="457200" y="457200"/>
            <a:ext cx="13533120" cy="457200"/>
          </a:xfrm>
          <a:prstGeom prst="rect">
            <a:avLst/>
          </a:prstGeom>
          <a:noFill/>
          <a:ln/>
        </p:spPr>
        <p:txBody>
          <a:bodyPr vert="horz" wrap="square" lIns="0" tIns="0" rIns="0" bIns="0" rtlCol="0" anchor="t"/>
          <a:lstStyle/>
          <a:p>
            <a:pPr marL="0" indent="0">
              <a:lnSpc>
                <a:spcPts val="3600"/>
              </a:lnSpc>
              <a:buNone/>
            </a:pPr>
            <a:r>
              <a:rPr lang="en-US" sz="3600" b="1" dirty="0">
                <a:solidFill>
                  <a:srgbClr val="1E3A8A"/>
                </a:solidFill>
                <a:latin typeface="Segoe UI" pitchFamily="34" charset="0"/>
                <a:ea typeface="Segoe UI" pitchFamily="34" charset="-122"/>
                <a:cs typeface="Segoe UI" pitchFamily="34" charset="-120"/>
              </a:rPr>
              <a:t>Modern Alternatives and Extensions</a:t>
            </a:r>
            <a:endParaRPr lang="en-US" sz="3600" dirty="0"/>
          </a:p>
        </p:txBody>
      </p:sp>
      <p:sp>
        <p:nvSpPr>
          <p:cNvPr id="19" name="Text 1"/>
          <p:cNvSpPr/>
          <p:nvPr/>
        </p:nvSpPr>
        <p:spPr>
          <a:xfrm>
            <a:off x="647700" y="1333500"/>
            <a:ext cx="10896600" cy="533400"/>
          </a:xfrm>
          <a:prstGeom prst="rect">
            <a:avLst/>
          </a:prstGeom>
          <a:noFill/>
          <a:ln/>
        </p:spPr>
        <p:txBody>
          <a:bodyPr vert="horz" wrap="square" lIns="0" tIns="0" rIns="0" bIns="0" rtlCol="0" anchor="t"/>
          <a:lstStyle/>
          <a:p>
            <a:pPr marL="0" indent="0">
              <a:lnSpc>
                <a:spcPts val="2100"/>
              </a:lnSpc>
              <a:buNone/>
            </a:pPr>
            <a:r>
              <a:rPr lang="en-US" sz="1350" dirty="0">
                <a:solidFill>
                  <a:srgbClr val="1E293B"/>
                </a:solidFill>
                <a:latin typeface="ui-sans-serif" pitchFamily="34" charset="0"/>
                <a:ea typeface="ui-sans-serif" pitchFamily="34" charset="-122"/>
                <a:cs typeface="ui-sans-serif" pitchFamily="34" charset="-120"/>
              </a:rPr>
              <a:t>Researchers have proposed new tests to address limitations of the original Turing Test, providing more comprehensive evaluation of AI capabilities.</a:t>
            </a:r>
            <a:endParaRPr lang="en-US" sz="1350" dirty="0"/>
          </a:p>
        </p:txBody>
      </p:sp>
      <p:sp>
        <p:nvSpPr>
          <p:cNvPr id="20" name="Text 2"/>
          <p:cNvSpPr/>
          <p:nvPr/>
        </p:nvSpPr>
        <p:spPr>
          <a:xfrm>
            <a:off x="414427" y="3200400"/>
            <a:ext cx="3692247" cy="266700"/>
          </a:xfrm>
          <a:prstGeom prst="rect">
            <a:avLst/>
          </a:prstGeom>
          <a:noFill/>
          <a:ln/>
        </p:spPr>
        <p:txBody>
          <a:bodyPr vert="horz" wrap="square" lIns="0" tIns="0" rIns="0" bIns="0" rtlCol="0" anchor="t"/>
          <a:lstStyle/>
          <a:p>
            <a:pPr marL="0" indent="0" algn="ctr">
              <a:lnSpc>
                <a:spcPts val="2100"/>
              </a:lnSpc>
              <a:buNone/>
            </a:pPr>
            <a:r>
              <a:rPr lang="en-US" sz="1500" b="1" dirty="0">
                <a:solidFill>
                  <a:srgbClr val="1E293B"/>
                </a:solidFill>
                <a:latin typeface="ui-sans-serif" pitchFamily="34" charset="0"/>
                <a:ea typeface="ui-sans-serif" pitchFamily="34" charset="-122"/>
                <a:cs typeface="ui-sans-serif" pitchFamily="34" charset="-120"/>
              </a:rPr>
              <a:t>Winograd Schema Challenge</a:t>
            </a:r>
            <a:endParaRPr lang="en-US" sz="1500" dirty="0"/>
          </a:p>
        </p:txBody>
      </p:sp>
      <p:sp>
        <p:nvSpPr>
          <p:cNvPr id="21" name="Text 3"/>
          <p:cNvSpPr/>
          <p:nvPr/>
        </p:nvSpPr>
        <p:spPr>
          <a:xfrm>
            <a:off x="647700" y="3543300"/>
            <a:ext cx="3225701" cy="685800"/>
          </a:xfrm>
          <a:prstGeom prst="rect">
            <a:avLst/>
          </a:prstGeom>
          <a:noFill/>
          <a:ln/>
        </p:spPr>
        <p:txBody>
          <a:bodyPr vert="horz" wrap="square" lIns="0" tIns="0" rIns="0" bIns="0" rtlCol="0" anchor="t"/>
          <a:lstStyle/>
          <a:p>
            <a:pPr marL="0" indent="0" algn="ctr">
              <a:lnSpc>
                <a:spcPts val="1800"/>
              </a:lnSpc>
              <a:buNone/>
            </a:pPr>
            <a:r>
              <a:rPr lang="en-US" sz="1200" dirty="0">
                <a:solidFill>
                  <a:srgbClr val="1E293B"/>
                </a:solidFill>
                <a:latin typeface="ui-sans-serif" pitchFamily="34" charset="0"/>
                <a:ea typeface="ui-sans-serif" pitchFamily="34" charset="-122"/>
                <a:cs typeface="ui-sans-serif" pitchFamily="34" charset="-120"/>
              </a:rPr>
              <a:t>Tests common sense reasoning and understanding of language context beyond pattern matching.</a:t>
            </a:r>
            <a:endParaRPr lang="en-US" sz="1200" dirty="0"/>
          </a:p>
        </p:txBody>
      </p:sp>
      <p:sp>
        <p:nvSpPr>
          <p:cNvPr id="22" name="Text 4"/>
          <p:cNvSpPr/>
          <p:nvPr/>
        </p:nvSpPr>
        <p:spPr>
          <a:xfrm>
            <a:off x="4888379" y="3200400"/>
            <a:ext cx="2414945" cy="266700"/>
          </a:xfrm>
          <a:prstGeom prst="rect">
            <a:avLst/>
          </a:prstGeom>
          <a:noFill/>
          <a:ln/>
        </p:spPr>
        <p:txBody>
          <a:bodyPr vert="horz" wrap="square" lIns="0" tIns="0" rIns="0" bIns="0" rtlCol="0" anchor="t"/>
          <a:lstStyle/>
          <a:p>
            <a:pPr marL="0" indent="0" algn="ctr">
              <a:lnSpc>
                <a:spcPts val="2100"/>
              </a:lnSpc>
              <a:buNone/>
            </a:pPr>
            <a:r>
              <a:rPr lang="en-US" sz="1500" b="1" dirty="0">
                <a:solidFill>
                  <a:srgbClr val="1E293B"/>
                </a:solidFill>
                <a:latin typeface="ui-sans-serif" pitchFamily="34" charset="0"/>
                <a:ea typeface="ui-sans-serif" pitchFamily="34" charset="-122"/>
                <a:cs typeface="ui-sans-serif" pitchFamily="34" charset="-120"/>
              </a:rPr>
              <a:t>Visual Turing Tests</a:t>
            </a:r>
            <a:endParaRPr lang="en-US" sz="1500" dirty="0"/>
          </a:p>
        </p:txBody>
      </p:sp>
      <p:sp>
        <p:nvSpPr>
          <p:cNvPr id="23" name="Text 5"/>
          <p:cNvSpPr/>
          <p:nvPr/>
        </p:nvSpPr>
        <p:spPr>
          <a:xfrm>
            <a:off x="4483001" y="3543300"/>
            <a:ext cx="3225850" cy="457200"/>
          </a:xfrm>
          <a:prstGeom prst="rect">
            <a:avLst/>
          </a:prstGeom>
          <a:noFill/>
          <a:ln/>
        </p:spPr>
        <p:txBody>
          <a:bodyPr vert="horz" wrap="square" lIns="0" tIns="0" rIns="0" bIns="0" rtlCol="0" anchor="t"/>
          <a:lstStyle/>
          <a:p>
            <a:pPr marL="0" indent="0" algn="ctr">
              <a:lnSpc>
                <a:spcPts val="1800"/>
              </a:lnSpc>
              <a:buNone/>
            </a:pPr>
            <a:r>
              <a:rPr lang="en-US" sz="1200" dirty="0">
                <a:solidFill>
                  <a:srgbClr val="1E293B"/>
                </a:solidFill>
                <a:latin typeface="ui-sans-serif" pitchFamily="34" charset="0"/>
                <a:ea typeface="ui-sans-serif" pitchFamily="34" charset="-122"/>
                <a:cs typeface="ui-sans-serif" pitchFamily="34" charset="-120"/>
              </a:rPr>
              <a:t>Assesses image understanding and visual reasoning capabilities of AI systems.</a:t>
            </a:r>
            <a:endParaRPr lang="en-US" sz="1200" dirty="0"/>
          </a:p>
        </p:txBody>
      </p:sp>
      <p:sp>
        <p:nvSpPr>
          <p:cNvPr id="24" name="Text 6"/>
          <p:cNvSpPr/>
          <p:nvPr/>
        </p:nvSpPr>
        <p:spPr>
          <a:xfrm>
            <a:off x="8102873" y="3200400"/>
            <a:ext cx="3656707" cy="266700"/>
          </a:xfrm>
          <a:prstGeom prst="rect">
            <a:avLst/>
          </a:prstGeom>
          <a:noFill/>
          <a:ln/>
        </p:spPr>
        <p:txBody>
          <a:bodyPr vert="horz" wrap="square" lIns="0" tIns="0" rIns="0" bIns="0" rtlCol="0" anchor="t"/>
          <a:lstStyle/>
          <a:p>
            <a:pPr marL="0" indent="0" algn="ctr">
              <a:lnSpc>
                <a:spcPts val="2100"/>
              </a:lnSpc>
              <a:buNone/>
            </a:pPr>
            <a:r>
              <a:rPr lang="en-US" sz="1500" b="1" dirty="0">
                <a:solidFill>
                  <a:srgbClr val="1E293B"/>
                </a:solidFill>
                <a:latin typeface="ui-sans-serif" pitchFamily="34" charset="0"/>
                <a:ea typeface="ui-sans-serif" pitchFamily="34" charset="-122"/>
                <a:cs typeface="ui-sans-serif" pitchFamily="34" charset="-120"/>
              </a:rPr>
              <a:t>Comprehensive Benchmarks</a:t>
            </a:r>
            <a:endParaRPr lang="en-US" sz="1500" dirty="0"/>
          </a:p>
        </p:txBody>
      </p:sp>
      <p:sp>
        <p:nvSpPr>
          <p:cNvPr id="25" name="Text 7"/>
          <p:cNvSpPr/>
          <p:nvPr/>
        </p:nvSpPr>
        <p:spPr>
          <a:xfrm>
            <a:off x="8318450" y="3543300"/>
            <a:ext cx="3225701" cy="457200"/>
          </a:xfrm>
          <a:prstGeom prst="rect">
            <a:avLst/>
          </a:prstGeom>
          <a:noFill/>
          <a:ln/>
        </p:spPr>
        <p:txBody>
          <a:bodyPr vert="horz" wrap="square" lIns="0" tIns="0" rIns="0" bIns="0" rtlCol="0" anchor="t"/>
          <a:lstStyle/>
          <a:p>
            <a:pPr marL="0" indent="0" algn="ctr">
              <a:lnSpc>
                <a:spcPts val="1800"/>
              </a:lnSpc>
              <a:buNone/>
            </a:pPr>
            <a:r>
              <a:rPr lang="en-US" sz="1200" dirty="0">
                <a:solidFill>
                  <a:srgbClr val="1E293B"/>
                </a:solidFill>
                <a:latin typeface="ui-sans-serif" pitchFamily="34" charset="0"/>
                <a:ea typeface="ui-sans-serif" pitchFamily="34" charset="-122"/>
                <a:cs typeface="ui-sans-serif" pitchFamily="34" charset="-120"/>
              </a:rPr>
              <a:t>Measure performance across multiple tasks and domains for holistic evaluation.</a:t>
            </a:r>
            <a:endParaRPr lang="en-US" sz="1200" dirty="0"/>
          </a:p>
        </p:txBody>
      </p:sp>
      <p:sp>
        <p:nvSpPr>
          <p:cNvPr id="26" name="Text 8"/>
          <p:cNvSpPr/>
          <p:nvPr/>
        </p:nvSpPr>
        <p:spPr>
          <a:xfrm>
            <a:off x="647700" y="4838700"/>
            <a:ext cx="10896600" cy="266700"/>
          </a:xfrm>
          <a:prstGeom prst="rect">
            <a:avLst/>
          </a:prstGeom>
          <a:noFill/>
          <a:ln/>
        </p:spPr>
        <p:txBody>
          <a:bodyPr vert="horz" wrap="square" lIns="0" tIns="0" rIns="0" bIns="0" rtlCol="0" anchor="t"/>
          <a:lstStyle/>
          <a:p>
            <a:pPr marL="0" indent="0">
              <a:lnSpc>
                <a:spcPts val="2100"/>
              </a:lnSpc>
              <a:buNone/>
            </a:pPr>
            <a:r>
              <a:rPr lang="en-US" sz="1500" b="1" dirty="0">
                <a:solidFill>
                  <a:srgbClr val="1E293B"/>
                </a:solidFill>
                <a:latin typeface="ui-sans-serif" pitchFamily="34" charset="0"/>
                <a:ea typeface="ui-sans-serif" pitchFamily="34" charset="-122"/>
                <a:cs typeface="ui-sans-serif" pitchFamily="34" charset="-120"/>
              </a:rPr>
              <a:t>How Modern Tests Extend Turing's Vision</a:t>
            </a:r>
            <a:endParaRPr lang="en-US" sz="1500" dirty="0"/>
          </a:p>
        </p:txBody>
      </p:sp>
      <p:sp>
        <p:nvSpPr>
          <p:cNvPr id="27" name="Text 9"/>
          <p:cNvSpPr/>
          <p:nvPr/>
        </p:nvSpPr>
        <p:spPr>
          <a:xfrm>
            <a:off x="914400" y="5219700"/>
            <a:ext cx="4139446" cy="228600"/>
          </a:xfrm>
          <a:prstGeom prst="rect">
            <a:avLst/>
          </a:prstGeom>
          <a:noFill/>
          <a:ln/>
        </p:spPr>
        <p:txBody>
          <a:bodyPr vert="horz" wrap="square" lIns="0" tIns="0" rIns="0" bIns="0" rtlCol="0" anchor="t"/>
          <a:lstStyle/>
          <a:p>
            <a:pPr marL="0" indent="0">
              <a:lnSpc>
                <a:spcPts val="1800"/>
              </a:lnSpc>
              <a:buNone/>
            </a:pPr>
            <a:r>
              <a:rPr lang="en-US" sz="1200" dirty="0">
                <a:solidFill>
                  <a:srgbClr val="1E293B"/>
                </a:solidFill>
                <a:latin typeface="ui-sans-serif" pitchFamily="34" charset="0"/>
                <a:ea typeface="ui-sans-serif" pitchFamily="34" charset="-122"/>
                <a:cs typeface="ui-sans-serif" pitchFamily="34" charset="-120"/>
              </a:rPr>
              <a:t>Address creativity and emotional intelligence</a:t>
            </a:r>
            <a:endParaRPr lang="en-US" sz="1200" dirty="0"/>
          </a:p>
        </p:txBody>
      </p:sp>
      <p:sp>
        <p:nvSpPr>
          <p:cNvPr id="28" name="Text 10"/>
          <p:cNvSpPr/>
          <p:nvPr/>
        </p:nvSpPr>
        <p:spPr>
          <a:xfrm>
            <a:off x="6438900" y="5219700"/>
            <a:ext cx="3528834" cy="228600"/>
          </a:xfrm>
          <a:prstGeom prst="rect">
            <a:avLst/>
          </a:prstGeom>
          <a:noFill/>
          <a:ln/>
        </p:spPr>
        <p:txBody>
          <a:bodyPr vert="horz" wrap="square" lIns="0" tIns="0" rIns="0" bIns="0" rtlCol="0" anchor="t"/>
          <a:lstStyle/>
          <a:p>
            <a:pPr marL="0" indent="0">
              <a:lnSpc>
                <a:spcPts val="1800"/>
              </a:lnSpc>
              <a:buNone/>
            </a:pPr>
            <a:r>
              <a:rPr lang="en-US" sz="1200" dirty="0">
                <a:solidFill>
                  <a:srgbClr val="1E293B"/>
                </a:solidFill>
                <a:latin typeface="ui-sans-serif" pitchFamily="34" charset="0"/>
                <a:ea typeface="ui-sans-serif" pitchFamily="34" charset="-122"/>
                <a:cs typeface="ui-sans-serif" pitchFamily="34" charset="-120"/>
              </a:rPr>
              <a:t>Evaluate ethical reasoning capabilities</a:t>
            </a:r>
            <a:endParaRPr lang="en-US" sz="1200" dirty="0"/>
          </a:p>
        </p:txBody>
      </p:sp>
      <p:sp>
        <p:nvSpPr>
          <p:cNvPr id="29" name="Text 11"/>
          <p:cNvSpPr/>
          <p:nvPr/>
        </p:nvSpPr>
        <p:spPr>
          <a:xfrm>
            <a:off x="914400" y="5638800"/>
            <a:ext cx="2997339" cy="228600"/>
          </a:xfrm>
          <a:prstGeom prst="rect">
            <a:avLst/>
          </a:prstGeom>
          <a:noFill/>
          <a:ln/>
        </p:spPr>
        <p:txBody>
          <a:bodyPr vert="horz" wrap="square" lIns="0" tIns="0" rIns="0" bIns="0" rtlCol="0" anchor="t"/>
          <a:lstStyle/>
          <a:p>
            <a:pPr marL="0" indent="0">
              <a:lnSpc>
                <a:spcPts val="1800"/>
              </a:lnSpc>
              <a:buNone/>
            </a:pPr>
            <a:r>
              <a:rPr lang="en-US" sz="1200" dirty="0">
                <a:solidFill>
                  <a:srgbClr val="1E293B"/>
                </a:solidFill>
                <a:latin typeface="ui-sans-serif" pitchFamily="34" charset="0"/>
                <a:ea typeface="ui-sans-serif" pitchFamily="34" charset="-122"/>
                <a:cs typeface="ui-sans-serif" pitchFamily="34" charset="-120"/>
              </a:rPr>
              <a:t>Test continuous learning abilities</a:t>
            </a:r>
            <a:endParaRPr lang="en-US" sz="1200" dirty="0"/>
          </a:p>
        </p:txBody>
      </p:sp>
      <p:sp>
        <p:nvSpPr>
          <p:cNvPr id="30" name="Text 12"/>
          <p:cNvSpPr/>
          <p:nvPr/>
        </p:nvSpPr>
        <p:spPr>
          <a:xfrm>
            <a:off x="6438900" y="5638800"/>
            <a:ext cx="3567946" cy="228600"/>
          </a:xfrm>
          <a:prstGeom prst="rect">
            <a:avLst/>
          </a:prstGeom>
          <a:noFill/>
          <a:ln/>
        </p:spPr>
        <p:txBody>
          <a:bodyPr vert="horz" wrap="square" lIns="0" tIns="0" rIns="0" bIns="0" rtlCol="0" anchor="t"/>
          <a:lstStyle/>
          <a:p>
            <a:pPr marL="0" indent="0">
              <a:lnSpc>
                <a:spcPts val="1800"/>
              </a:lnSpc>
              <a:buNone/>
            </a:pPr>
            <a:r>
              <a:rPr lang="en-US" sz="1200" dirty="0">
                <a:solidFill>
                  <a:srgbClr val="1E293B"/>
                </a:solidFill>
                <a:latin typeface="ui-sans-serif" pitchFamily="34" charset="0"/>
                <a:ea typeface="ui-sans-serif" pitchFamily="34" charset="-122"/>
                <a:cs typeface="ui-sans-serif" pitchFamily="34" charset="-120"/>
              </a:rPr>
              <a:t>Provide transparent evaluation metrics</a:t>
            </a:r>
            <a:endParaRPr lang="en-US" sz="1200" dirty="0"/>
          </a:p>
        </p:txBody>
      </p:sp>
      <p:sp>
        <p:nvSpPr>
          <p:cNvPr id="31" name="Text 13"/>
          <p:cNvSpPr/>
          <p:nvPr/>
        </p:nvSpPr>
        <p:spPr>
          <a:xfrm>
            <a:off x="457200" y="6210300"/>
            <a:ext cx="13533120" cy="190500"/>
          </a:xfrm>
          <a:prstGeom prst="rect">
            <a:avLst/>
          </a:prstGeom>
          <a:noFill/>
          <a:ln/>
        </p:spPr>
        <p:txBody>
          <a:bodyPr vert="horz" wrap="square" lIns="0" tIns="0" rIns="0" bIns="0" rtlCol="0" anchor="t"/>
          <a:lstStyle/>
          <a:p>
            <a:pPr marL="0" indent="0">
              <a:lnSpc>
                <a:spcPts val="1500"/>
              </a:lnSpc>
              <a:buNone/>
            </a:pPr>
            <a:r>
              <a:rPr lang="en-US" sz="1050" i="1" dirty="0">
                <a:solidFill>
                  <a:srgbClr val="4B5563"/>
                </a:solidFill>
                <a:latin typeface="ui-sans-serif" pitchFamily="34" charset="0"/>
                <a:ea typeface="ui-sans-serif" pitchFamily="34" charset="-122"/>
                <a:cs typeface="ui-sans-serif" pitchFamily="34" charset="-120"/>
              </a:rPr>
              <a:t>These modern approaches don't replace the Turing Test but complement it as we seek to better understand AI capabilities.</a:t>
            </a:r>
            <a:endParaRPr lang="en-US" sz="10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2192000" cy="6858000"/>
          </a:xfrm>
          <a:prstGeom prst="rect">
            <a:avLst/>
          </a:prstGeom>
        </p:spPr>
      </p:pic>
      <p:pic>
        <p:nvPicPr>
          <p:cNvPr id="3" name="Image 1" descr="preencoded.png"/>
          <p:cNvPicPr>
            <a:picLocks noChangeAspect="1"/>
          </p:cNvPicPr>
          <p:nvPr/>
        </p:nvPicPr>
        <p:blipFill>
          <a:blip r:embed="rId4"/>
          <a:stretch>
            <a:fillRect/>
          </a:stretch>
        </p:blipFill>
        <p:spPr>
          <a:xfrm>
            <a:off x="457200" y="1219200"/>
            <a:ext cx="11277600" cy="990600"/>
          </a:xfrm>
          <a:prstGeom prst="rect">
            <a:avLst/>
          </a:prstGeom>
        </p:spPr>
      </p:pic>
      <p:pic>
        <p:nvPicPr>
          <p:cNvPr id="4" name="Image 2" descr="preencoded.png"/>
          <p:cNvPicPr>
            <a:picLocks noChangeAspect="1"/>
          </p:cNvPicPr>
          <p:nvPr/>
        </p:nvPicPr>
        <p:blipFill>
          <a:blip r:embed="rId5"/>
          <a:stretch>
            <a:fillRect/>
          </a:stretch>
        </p:blipFill>
        <p:spPr>
          <a:xfrm>
            <a:off x="457200" y="2657475"/>
            <a:ext cx="476250" cy="476250"/>
          </a:xfrm>
          <a:prstGeom prst="rect">
            <a:avLst/>
          </a:prstGeom>
        </p:spPr>
      </p:pic>
      <p:pic>
        <p:nvPicPr>
          <p:cNvPr id="5" name="Image 3" descr="preencoded.png"/>
          <p:cNvPicPr>
            <a:picLocks noChangeAspect="1"/>
          </p:cNvPicPr>
          <p:nvPr/>
        </p:nvPicPr>
        <p:blipFill>
          <a:blip r:embed="rId6"/>
          <a:stretch>
            <a:fillRect/>
          </a:stretch>
        </p:blipFill>
        <p:spPr>
          <a:xfrm>
            <a:off x="581025" y="2743200"/>
            <a:ext cx="228600" cy="304800"/>
          </a:xfrm>
          <a:prstGeom prst="rect">
            <a:avLst/>
          </a:prstGeom>
        </p:spPr>
      </p:pic>
      <p:pic>
        <p:nvPicPr>
          <p:cNvPr id="6" name="Image 4" descr="preencoded.png"/>
          <p:cNvPicPr>
            <a:picLocks noChangeAspect="1"/>
          </p:cNvPicPr>
          <p:nvPr/>
        </p:nvPicPr>
        <p:blipFill>
          <a:blip r:embed="rId7"/>
          <a:stretch>
            <a:fillRect/>
          </a:stretch>
        </p:blipFill>
        <p:spPr>
          <a:xfrm>
            <a:off x="6210300" y="2657475"/>
            <a:ext cx="476250" cy="476250"/>
          </a:xfrm>
          <a:prstGeom prst="rect">
            <a:avLst/>
          </a:prstGeom>
        </p:spPr>
      </p:pic>
      <p:pic>
        <p:nvPicPr>
          <p:cNvPr id="7" name="Image 5" descr="preencoded.png"/>
          <p:cNvPicPr>
            <a:picLocks noChangeAspect="1"/>
          </p:cNvPicPr>
          <p:nvPr/>
        </p:nvPicPr>
        <p:blipFill>
          <a:blip r:embed="rId8"/>
          <a:stretch>
            <a:fillRect/>
          </a:stretch>
        </p:blipFill>
        <p:spPr>
          <a:xfrm>
            <a:off x="6334125" y="2743200"/>
            <a:ext cx="228600" cy="304800"/>
          </a:xfrm>
          <a:prstGeom prst="rect">
            <a:avLst/>
          </a:prstGeom>
        </p:spPr>
      </p:pic>
      <p:pic>
        <p:nvPicPr>
          <p:cNvPr id="8" name="Image 6" descr="preencoded.png"/>
          <p:cNvPicPr>
            <a:picLocks noChangeAspect="1"/>
          </p:cNvPicPr>
          <p:nvPr/>
        </p:nvPicPr>
        <p:blipFill>
          <a:blip r:embed="rId9"/>
          <a:stretch>
            <a:fillRect/>
          </a:stretch>
        </p:blipFill>
        <p:spPr>
          <a:xfrm>
            <a:off x="457200" y="3800475"/>
            <a:ext cx="476250" cy="476250"/>
          </a:xfrm>
          <a:prstGeom prst="rect">
            <a:avLst/>
          </a:prstGeom>
        </p:spPr>
      </p:pic>
      <p:pic>
        <p:nvPicPr>
          <p:cNvPr id="9" name="Image 7" descr="preencoded.png"/>
          <p:cNvPicPr>
            <a:picLocks noChangeAspect="1"/>
          </p:cNvPicPr>
          <p:nvPr/>
        </p:nvPicPr>
        <p:blipFill>
          <a:blip r:embed="rId10"/>
          <a:stretch>
            <a:fillRect/>
          </a:stretch>
        </p:blipFill>
        <p:spPr>
          <a:xfrm>
            <a:off x="552450" y="3886200"/>
            <a:ext cx="285750" cy="304800"/>
          </a:xfrm>
          <a:prstGeom prst="rect">
            <a:avLst/>
          </a:prstGeom>
        </p:spPr>
      </p:pic>
      <p:pic>
        <p:nvPicPr>
          <p:cNvPr id="10" name="Image 8" descr="preencoded.png"/>
          <p:cNvPicPr>
            <a:picLocks noChangeAspect="1"/>
          </p:cNvPicPr>
          <p:nvPr/>
        </p:nvPicPr>
        <p:blipFill>
          <a:blip r:embed="rId11"/>
          <a:stretch>
            <a:fillRect/>
          </a:stretch>
        </p:blipFill>
        <p:spPr>
          <a:xfrm>
            <a:off x="6210300" y="3800475"/>
            <a:ext cx="476250" cy="476250"/>
          </a:xfrm>
          <a:prstGeom prst="rect">
            <a:avLst/>
          </a:prstGeom>
        </p:spPr>
      </p:pic>
      <p:pic>
        <p:nvPicPr>
          <p:cNvPr id="11" name="Image 9" descr="preencoded.png"/>
          <p:cNvPicPr>
            <a:picLocks noChangeAspect="1"/>
          </p:cNvPicPr>
          <p:nvPr/>
        </p:nvPicPr>
        <p:blipFill>
          <a:blip r:embed="rId12"/>
          <a:stretch>
            <a:fillRect/>
          </a:stretch>
        </p:blipFill>
        <p:spPr>
          <a:xfrm>
            <a:off x="6334125" y="3886200"/>
            <a:ext cx="228600" cy="304800"/>
          </a:xfrm>
          <a:prstGeom prst="rect">
            <a:avLst/>
          </a:prstGeom>
        </p:spPr>
      </p:pic>
      <p:pic>
        <p:nvPicPr>
          <p:cNvPr id="12" name="Image 10" descr="preencoded.png"/>
          <p:cNvPicPr>
            <a:picLocks noChangeAspect="1"/>
          </p:cNvPicPr>
          <p:nvPr/>
        </p:nvPicPr>
        <p:blipFill>
          <a:blip r:embed="rId13"/>
          <a:stretch>
            <a:fillRect/>
          </a:stretch>
        </p:blipFill>
        <p:spPr>
          <a:xfrm>
            <a:off x="457200" y="5029200"/>
            <a:ext cx="11277600" cy="1371600"/>
          </a:xfrm>
          <a:prstGeom prst="rect">
            <a:avLst/>
          </a:prstGeom>
        </p:spPr>
      </p:pic>
      <p:sp>
        <p:nvSpPr>
          <p:cNvPr id="13" name="Text 0"/>
          <p:cNvSpPr/>
          <p:nvPr/>
        </p:nvSpPr>
        <p:spPr>
          <a:xfrm>
            <a:off x="457200" y="457200"/>
            <a:ext cx="13533120" cy="457200"/>
          </a:xfrm>
          <a:prstGeom prst="rect">
            <a:avLst/>
          </a:prstGeom>
          <a:noFill/>
          <a:ln/>
        </p:spPr>
        <p:txBody>
          <a:bodyPr vert="horz" wrap="square" lIns="0" tIns="0" rIns="0" bIns="0" rtlCol="0" anchor="t"/>
          <a:lstStyle/>
          <a:p>
            <a:pPr marL="0" indent="0">
              <a:lnSpc>
                <a:spcPts val="3600"/>
              </a:lnSpc>
              <a:buNone/>
            </a:pPr>
            <a:r>
              <a:rPr lang="en-US" sz="3600" b="1" dirty="0">
                <a:solidFill>
                  <a:srgbClr val="F8FAFC"/>
                </a:solidFill>
                <a:latin typeface="Segoe UI" pitchFamily="34" charset="0"/>
                <a:ea typeface="Segoe UI" pitchFamily="34" charset="-122"/>
                <a:cs typeface="Segoe UI" pitchFamily="34" charset="-120"/>
              </a:rPr>
              <a:t>Conclusion: Turing's Lasting Legacy</a:t>
            </a:r>
            <a:endParaRPr lang="en-US" sz="3600" dirty="0"/>
          </a:p>
        </p:txBody>
      </p:sp>
      <p:sp>
        <p:nvSpPr>
          <p:cNvPr id="14" name="Text 1"/>
          <p:cNvSpPr/>
          <p:nvPr/>
        </p:nvSpPr>
        <p:spPr>
          <a:xfrm>
            <a:off x="685800" y="1447800"/>
            <a:ext cx="10820400" cy="533400"/>
          </a:xfrm>
          <a:prstGeom prst="rect">
            <a:avLst/>
          </a:prstGeom>
          <a:noFill/>
          <a:ln/>
        </p:spPr>
        <p:txBody>
          <a:bodyPr vert="horz" wrap="square" lIns="0" tIns="0" rIns="0" bIns="0" rtlCol="0" anchor="t"/>
          <a:lstStyle/>
          <a:p>
            <a:pPr marL="0" indent="0">
              <a:lnSpc>
                <a:spcPts val="2100"/>
              </a:lnSpc>
              <a:buNone/>
            </a:pPr>
            <a:r>
              <a:rPr lang="en-US" sz="1500" dirty="0">
                <a:solidFill>
                  <a:srgbClr val="F8FAFC"/>
                </a:solidFill>
                <a:latin typeface="ui-sans-serif" pitchFamily="34" charset="0"/>
                <a:ea typeface="ui-sans-serif" pitchFamily="34" charset="-122"/>
                <a:cs typeface="ui-sans-serif" pitchFamily="34" charset="-120"/>
              </a:rPr>
              <a:t>Alan Turing gave us a framework for thinking about machine intelligence that remains influential decades later, even as AI has evolved far beyond his wildest expectations.</a:t>
            </a:r>
            <a:endParaRPr lang="en-US" sz="1500" dirty="0"/>
          </a:p>
        </p:txBody>
      </p:sp>
      <p:sp>
        <p:nvSpPr>
          <p:cNvPr id="15" name="Text 2"/>
          <p:cNvSpPr/>
          <p:nvPr/>
        </p:nvSpPr>
        <p:spPr>
          <a:xfrm>
            <a:off x="1085850" y="2514600"/>
            <a:ext cx="4895850" cy="266700"/>
          </a:xfrm>
          <a:prstGeom prst="rect">
            <a:avLst/>
          </a:prstGeom>
          <a:noFill/>
          <a:ln/>
        </p:spPr>
        <p:txBody>
          <a:bodyPr vert="horz" wrap="square" lIns="0" tIns="0" rIns="0" bIns="0" rtlCol="0" anchor="t"/>
          <a:lstStyle/>
          <a:p>
            <a:pPr marL="0" indent="0">
              <a:lnSpc>
                <a:spcPts val="2100"/>
              </a:lnSpc>
              <a:buNone/>
            </a:pPr>
            <a:r>
              <a:rPr lang="en-US" sz="1500" b="1" dirty="0">
                <a:solidFill>
                  <a:srgbClr val="F8FAFC"/>
                </a:solidFill>
                <a:latin typeface="ui-sans-serif" pitchFamily="34" charset="0"/>
                <a:ea typeface="ui-sans-serif" pitchFamily="34" charset="-122"/>
                <a:cs typeface="ui-sans-serif" pitchFamily="34" charset="-120"/>
              </a:rPr>
              <a:t>Shift in Perspective</a:t>
            </a:r>
            <a:endParaRPr lang="en-US" sz="1500" dirty="0"/>
          </a:p>
        </p:txBody>
      </p:sp>
      <p:sp>
        <p:nvSpPr>
          <p:cNvPr id="16" name="Text 3"/>
          <p:cNvSpPr/>
          <p:nvPr/>
        </p:nvSpPr>
        <p:spPr>
          <a:xfrm>
            <a:off x="1085850" y="2819400"/>
            <a:ext cx="4895850" cy="457200"/>
          </a:xfrm>
          <a:prstGeom prst="rect">
            <a:avLst/>
          </a:prstGeom>
          <a:noFill/>
          <a:ln/>
        </p:spPr>
        <p:txBody>
          <a:bodyPr vert="horz" wrap="square" lIns="0" tIns="0" rIns="0" bIns="0" rtlCol="0" anchor="t"/>
          <a:lstStyle/>
          <a:p>
            <a:pPr marL="0" indent="0">
              <a:lnSpc>
                <a:spcPts val="1800"/>
              </a:lnSpc>
              <a:buNone/>
            </a:pPr>
            <a:r>
              <a:rPr lang="en-US" sz="1200" dirty="0">
                <a:solidFill>
                  <a:srgbClr val="F8FAFC"/>
                </a:solidFill>
                <a:latin typeface="ui-sans-serif" pitchFamily="34" charset="0"/>
                <a:ea typeface="ui-sans-serif" pitchFamily="34" charset="-122"/>
                <a:cs typeface="ui-sans-serif" pitchFamily="34" charset="-120"/>
              </a:rPr>
              <a:t>Transformed the question from "Can machines think?" to "What does thinking look like?"</a:t>
            </a:r>
            <a:endParaRPr lang="en-US" sz="1200" dirty="0"/>
          </a:p>
        </p:txBody>
      </p:sp>
      <p:sp>
        <p:nvSpPr>
          <p:cNvPr id="17" name="Text 4"/>
          <p:cNvSpPr/>
          <p:nvPr/>
        </p:nvSpPr>
        <p:spPr>
          <a:xfrm>
            <a:off x="6838950" y="2514600"/>
            <a:ext cx="4895850" cy="266700"/>
          </a:xfrm>
          <a:prstGeom prst="rect">
            <a:avLst/>
          </a:prstGeom>
          <a:noFill/>
          <a:ln/>
        </p:spPr>
        <p:txBody>
          <a:bodyPr vert="horz" wrap="square" lIns="0" tIns="0" rIns="0" bIns="0" rtlCol="0" anchor="t"/>
          <a:lstStyle/>
          <a:p>
            <a:pPr marL="0" indent="0">
              <a:lnSpc>
                <a:spcPts val="2100"/>
              </a:lnSpc>
              <a:buNone/>
            </a:pPr>
            <a:r>
              <a:rPr lang="en-US" sz="1500" b="1" dirty="0">
                <a:solidFill>
                  <a:srgbClr val="F8FAFC"/>
                </a:solidFill>
                <a:latin typeface="ui-sans-serif" pitchFamily="34" charset="0"/>
                <a:ea typeface="ui-sans-serif" pitchFamily="34" charset="-122"/>
                <a:cs typeface="ui-sans-serif" pitchFamily="34" charset="-120"/>
              </a:rPr>
              <a:t>Ongoing Relevance</a:t>
            </a:r>
            <a:endParaRPr lang="en-US" sz="1500" dirty="0"/>
          </a:p>
        </p:txBody>
      </p:sp>
      <p:sp>
        <p:nvSpPr>
          <p:cNvPr id="18" name="Text 5"/>
          <p:cNvSpPr/>
          <p:nvPr/>
        </p:nvSpPr>
        <p:spPr>
          <a:xfrm>
            <a:off x="6838950" y="2819400"/>
            <a:ext cx="4895850" cy="457200"/>
          </a:xfrm>
          <a:prstGeom prst="rect">
            <a:avLst/>
          </a:prstGeom>
          <a:noFill/>
          <a:ln/>
        </p:spPr>
        <p:txBody>
          <a:bodyPr vert="horz" wrap="square" lIns="0" tIns="0" rIns="0" bIns="0" rtlCol="0" anchor="t"/>
          <a:lstStyle/>
          <a:p>
            <a:pPr marL="0" indent="0">
              <a:lnSpc>
                <a:spcPts val="1800"/>
              </a:lnSpc>
              <a:buNone/>
            </a:pPr>
            <a:r>
              <a:rPr lang="en-US" sz="1200" dirty="0">
                <a:solidFill>
                  <a:srgbClr val="F8FAFC"/>
                </a:solidFill>
                <a:latin typeface="ui-sans-serif" pitchFamily="34" charset="0"/>
                <a:ea typeface="ui-sans-serif" pitchFamily="34" charset="-122"/>
                <a:cs typeface="ui-sans-serif" pitchFamily="34" charset="-120"/>
              </a:rPr>
              <a:t>The test continues to guide AI development and raises fundamental questions about intelligence and understanding</a:t>
            </a:r>
            <a:endParaRPr lang="en-US" sz="1200" dirty="0"/>
          </a:p>
        </p:txBody>
      </p:sp>
      <p:sp>
        <p:nvSpPr>
          <p:cNvPr id="19" name="Text 6"/>
          <p:cNvSpPr/>
          <p:nvPr/>
        </p:nvSpPr>
        <p:spPr>
          <a:xfrm>
            <a:off x="1085850" y="3657600"/>
            <a:ext cx="4895850" cy="266700"/>
          </a:xfrm>
          <a:prstGeom prst="rect">
            <a:avLst/>
          </a:prstGeom>
          <a:noFill/>
          <a:ln/>
        </p:spPr>
        <p:txBody>
          <a:bodyPr vert="horz" wrap="square" lIns="0" tIns="0" rIns="0" bIns="0" rtlCol="0" anchor="t"/>
          <a:lstStyle/>
          <a:p>
            <a:pPr marL="0" indent="0">
              <a:lnSpc>
                <a:spcPts val="2100"/>
              </a:lnSpc>
              <a:buNone/>
            </a:pPr>
            <a:r>
              <a:rPr lang="en-US" sz="1500" b="1" dirty="0">
                <a:solidFill>
                  <a:srgbClr val="F8FAFC"/>
                </a:solidFill>
                <a:latin typeface="ui-sans-serif" pitchFamily="34" charset="0"/>
                <a:ea typeface="ui-sans-serif" pitchFamily="34" charset="-122"/>
                <a:cs typeface="ui-sans-serif" pitchFamily="34" charset="-120"/>
              </a:rPr>
              <a:t>Human Reflection</a:t>
            </a:r>
            <a:endParaRPr lang="en-US" sz="1500" dirty="0"/>
          </a:p>
        </p:txBody>
      </p:sp>
      <p:sp>
        <p:nvSpPr>
          <p:cNvPr id="20" name="Text 7"/>
          <p:cNvSpPr/>
          <p:nvPr/>
        </p:nvSpPr>
        <p:spPr>
          <a:xfrm>
            <a:off x="1085850" y="3962400"/>
            <a:ext cx="4895850" cy="457200"/>
          </a:xfrm>
          <a:prstGeom prst="rect">
            <a:avLst/>
          </a:prstGeom>
          <a:noFill/>
          <a:ln/>
        </p:spPr>
        <p:txBody>
          <a:bodyPr vert="horz" wrap="square" lIns="0" tIns="0" rIns="0" bIns="0" rtlCol="0" anchor="t"/>
          <a:lstStyle/>
          <a:p>
            <a:pPr marL="0" indent="0">
              <a:lnSpc>
                <a:spcPts val="1800"/>
              </a:lnSpc>
              <a:buNone/>
            </a:pPr>
            <a:r>
              <a:rPr lang="en-US" sz="1200" dirty="0">
                <a:solidFill>
                  <a:srgbClr val="F8FAFC"/>
                </a:solidFill>
                <a:latin typeface="ui-sans-serif" pitchFamily="34" charset="0"/>
                <a:ea typeface="ui-sans-serif" pitchFamily="34" charset="-122"/>
                <a:cs typeface="ui-sans-serif" pitchFamily="34" charset="-120"/>
              </a:rPr>
              <a:t>Forces us to examine what makes us human in an increasingly AI-integrated world</a:t>
            </a:r>
            <a:endParaRPr lang="en-US" sz="1200" dirty="0"/>
          </a:p>
        </p:txBody>
      </p:sp>
      <p:sp>
        <p:nvSpPr>
          <p:cNvPr id="21" name="Text 8"/>
          <p:cNvSpPr/>
          <p:nvPr/>
        </p:nvSpPr>
        <p:spPr>
          <a:xfrm>
            <a:off x="6838950" y="3657600"/>
            <a:ext cx="4895850" cy="266700"/>
          </a:xfrm>
          <a:prstGeom prst="rect">
            <a:avLst/>
          </a:prstGeom>
          <a:noFill/>
          <a:ln/>
        </p:spPr>
        <p:txBody>
          <a:bodyPr vert="horz" wrap="square" lIns="0" tIns="0" rIns="0" bIns="0" rtlCol="0" anchor="t"/>
          <a:lstStyle/>
          <a:p>
            <a:pPr marL="0" indent="0">
              <a:lnSpc>
                <a:spcPts val="2100"/>
              </a:lnSpc>
              <a:buNone/>
            </a:pPr>
            <a:r>
              <a:rPr lang="en-US" sz="1500" b="1" dirty="0">
                <a:solidFill>
                  <a:srgbClr val="F8FAFC"/>
                </a:solidFill>
                <a:latin typeface="ui-sans-serif" pitchFamily="34" charset="0"/>
                <a:ea typeface="ui-sans-serif" pitchFamily="34" charset="-122"/>
                <a:cs typeface="ui-sans-serif" pitchFamily="34" charset="-120"/>
              </a:rPr>
              <a:t>Incomplete Picture</a:t>
            </a:r>
            <a:endParaRPr lang="en-US" sz="1500" dirty="0"/>
          </a:p>
        </p:txBody>
      </p:sp>
      <p:sp>
        <p:nvSpPr>
          <p:cNvPr id="22" name="Text 9"/>
          <p:cNvSpPr/>
          <p:nvPr/>
        </p:nvSpPr>
        <p:spPr>
          <a:xfrm>
            <a:off x="6838950" y="3962400"/>
            <a:ext cx="4895850" cy="457200"/>
          </a:xfrm>
          <a:prstGeom prst="rect">
            <a:avLst/>
          </a:prstGeom>
          <a:noFill/>
          <a:ln/>
        </p:spPr>
        <p:txBody>
          <a:bodyPr vert="horz" wrap="square" lIns="0" tIns="0" rIns="0" bIns="0" rtlCol="0" anchor="t"/>
          <a:lstStyle/>
          <a:p>
            <a:pPr marL="0" indent="0">
              <a:lnSpc>
                <a:spcPts val="1800"/>
              </a:lnSpc>
              <a:buNone/>
            </a:pPr>
            <a:r>
              <a:rPr lang="en-US" sz="1200" dirty="0">
                <a:solidFill>
                  <a:srgbClr val="F8FAFC"/>
                </a:solidFill>
                <a:latin typeface="ui-sans-serif" pitchFamily="34" charset="0"/>
                <a:ea typeface="ui-sans-serif" pitchFamily="34" charset="-122"/>
                <a:cs typeface="ui-sans-serif" pitchFamily="34" charset="-120"/>
              </a:rPr>
              <a:t>The test is just one piece of a larger puzzle in our quest to understand intelligence</a:t>
            </a:r>
            <a:endParaRPr lang="en-US" sz="1200" dirty="0"/>
          </a:p>
        </p:txBody>
      </p:sp>
      <p:sp>
        <p:nvSpPr>
          <p:cNvPr id="23" name="Text 10"/>
          <p:cNvSpPr/>
          <p:nvPr/>
        </p:nvSpPr>
        <p:spPr>
          <a:xfrm>
            <a:off x="685800" y="5257800"/>
            <a:ext cx="10820400" cy="914400"/>
          </a:xfrm>
          <a:prstGeom prst="rect">
            <a:avLst/>
          </a:prstGeom>
          <a:noFill/>
          <a:ln/>
        </p:spPr>
        <p:txBody>
          <a:bodyPr vert="horz" wrap="square" lIns="0" tIns="0" rIns="0" bIns="0" rtlCol="0" anchor="t"/>
          <a:lstStyle/>
          <a:p>
            <a:pPr marL="0" indent="0" algn="ctr">
              <a:lnSpc>
                <a:spcPts val="2400"/>
              </a:lnSpc>
              <a:buNone/>
            </a:pPr>
            <a:r>
              <a:rPr lang="en-US" sz="1800" i="1" dirty="0">
                <a:solidFill>
                  <a:srgbClr val="F8FAFC"/>
                </a:solidFill>
                <a:latin typeface="ui-sans-serif" pitchFamily="34" charset="0"/>
                <a:ea typeface="ui-sans-serif" pitchFamily="34" charset="-122"/>
                <a:cs typeface="ui-sans-serif" pitchFamily="34" charset="-120"/>
              </a:rPr>
              <a:t>"Perhaps the real legacy of the Turing Test isn't whether machines can fool us, but that it forces us to continually examine what we mean by intelligence, understanding, and what it means to be human."</a:t>
            </a:r>
            <a:endParaRPr lang="en-US" sz="1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10</TotalTime>
  <Words>1081</Words>
  <Application>Microsoft Office PowerPoint</Application>
  <PresentationFormat>Widescreen</PresentationFormat>
  <Paragraphs>125</Paragraphs>
  <Slides>10</Slides>
  <Notes>10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10</vt:i4>
      </vt:variant>
    </vt:vector>
  </HeadingPairs>
  <TitlesOfParts>
    <vt:vector size="14" baseType="lpstr">
      <vt:lpstr>Arial</vt:lpstr>
      <vt:lpstr>Segoe UI</vt:lpstr>
      <vt:lpstr>ui-sans-serif</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Артем Вербицький</cp:lastModifiedBy>
  <cp:revision>3</cp:revision>
  <dcterms:created xsi:type="dcterms:W3CDTF">2025-11-24T20:37:58Z</dcterms:created>
  <dcterms:modified xsi:type="dcterms:W3CDTF">2025-11-25T12:11:42Z</dcterms:modified>
</cp:coreProperties>
</file>