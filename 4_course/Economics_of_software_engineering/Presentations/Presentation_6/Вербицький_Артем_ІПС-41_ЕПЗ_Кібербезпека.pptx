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5438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74320"/>
            <a:ext cx="1005840" cy="1005840"/>
          </a:xfrm>
          <a:prstGeom prst="rect">
            <a:avLst/>
          </a:prstGeom>
          <a:solidFill>
            <a:srgbClr val="163356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59168" y="274320"/>
            <a:ext cx="1005840" cy="1005840"/>
          </a:xfrm>
          <a:prstGeom prst="rect">
            <a:avLst/>
          </a:prstGeom>
          <a:solidFill>
            <a:srgbClr val="163356">
              <a:alpha val="60000"/>
            </a:srgbClr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74736" y="274320"/>
            <a:ext cx="1005840" cy="1005840"/>
          </a:xfrm>
          <a:prstGeom prst="rect">
            <a:avLst/>
          </a:prstGeom>
          <a:solidFill>
            <a:srgbClr val="163356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1389888"/>
            <a:ext cx="1005840" cy="1005840"/>
          </a:xfrm>
          <a:prstGeom prst="rect">
            <a:avLst/>
          </a:prstGeom>
          <a:solidFill>
            <a:srgbClr val="163356">
              <a:alpha val="60000"/>
            </a:srgbClr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59168" y="1389888"/>
            <a:ext cx="1005840" cy="1005840"/>
          </a:xfrm>
          <a:prstGeom prst="rect">
            <a:avLst/>
          </a:prstGeom>
          <a:solidFill>
            <a:srgbClr val="163356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74736" y="1389888"/>
            <a:ext cx="1005840" cy="1005840"/>
          </a:xfrm>
          <a:prstGeom prst="rect">
            <a:avLst/>
          </a:prstGeom>
          <a:solidFill>
            <a:srgbClr val="163356">
              <a:alpha val="60000"/>
            </a:srgbClr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0" y="2514600"/>
            <a:ext cx="3200400" cy="1005840"/>
          </a:xfrm>
          <a:prstGeom prst="rect">
            <a:avLst/>
          </a:prstGeom>
          <a:solidFill>
            <a:srgbClr val="C0392B">
              <a:alpha val="80000"/>
            </a:srgbClr>
          </a:solidFill>
          <a:ln w="12700">
            <a:solidFill>
              <a:srgbClr val="C0392B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00B4D8"/>
                </a:solidFill>
              </a:rPr>
              <a:t>ІНФОРМАЦІЙНІ ТЕХНОЛОГІЇ ТА БІЗНЕС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" y="749808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Кібербезпека: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347472" y="1627632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90E0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виклики та захист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7472" y="228600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7F8C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 цифрову епоху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47472" y="2944368"/>
            <a:ext cx="347472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31272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100" dirty="0">
                <a:solidFill>
                  <a:srgbClr val="7F8C9A"/>
                </a:solidFill>
              </a:rPr>
              <a:t>Вербицький Артем </a:t>
            </a:r>
            <a:r>
              <a:rPr lang="en-US" sz="1100" dirty="0">
                <a:solidFill>
                  <a:srgbClr val="7F8C9A"/>
                </a:solidFill>
              </a:rPr>
              <a:t>•  Група ІПС-41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FFFFF"/>
                </a:solidFill>
              </a:rPr>
              <a:t>ЩО ТАКЕ КІБЕРБЕЗПЕКА?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9144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109728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70432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FFFFFF"/>
                </a:solidFill>
              </a:rPr>
              <a:t>Кібербезпека</a:t>
            </a:r>
            <a:r>
              <a:rPr lang="en-US" sz="1300" i="1" dirty="0">
                <a:solidFill>
                  <a:srgbClr val="FFFFFF"/>
                </a:solidFill>
              </a:rPr>
              <a:t> − це сукупність технологій, процесів і практик, призначених для захисту комп'ютерних систем, мереж і даних від несанкціонованого доступу, атак, пошкодження або крадіжки.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1762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111F"/>
                </a:solidFill>
              </a:rPr>
              <a:t>Тріада CIA − основа кібербезпеки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578608"/>
            <a:ext cx="2697480" cy="2240280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578608"/>
            <a:ext cx="269748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697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C0392B"/>
                </a:solidFill>
              </a:rPr>
              <a:t>C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29768" y="336499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Конфіденційність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" y="3675888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9A"/>
                </a:solidFill>
              </a:rPr>
              <a:t>Дані доступні лише авторизованим користувачам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72968" y="2578608"/>
            <a:ext cx="2697480" cy="2240280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2578608"/>
            <a:ext cx="269748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72968" y="2697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0B4D8"/>
                </a:solidFill>
              </a:rPr>
              <a:t>I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3282696" y="336499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Цілісність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82696" y="3675888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9A"/>
                </a:solidFill>
              </a:rPr>
              <a:t>Дані не змінені несанкціоновано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25896" y="2578608"/>
            <a:ext cx="2697480" cy="2240280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25896" y="2578608"/>
            <a:ext cx="2697480" cy="914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25896" y="2697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DB954"/>
                </a:solidFill>
              </a:rPr>
              <a:t>A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6135624" y="336499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Доступність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35624" y="3675888"/>
            <a:ext cx="24780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9A"/>
                </a:solidFill>
              </a:rPr>
              <a:t>Системи і дані доступні за потреби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FFFFF"/>
                </a:solidFill>
              </a:rPr>
              <a:t>ТИПИ КІБЕРАТАК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029968" cy="1828800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2029968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0700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Malware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51790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</a:rPr>
              <a:t>Шкідливе ПЗ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1773936"/>
            <a:ext cx="1847088" cy="27432"/>
          </a:xfrm>
          <a:prstGeom prst="rect">
            <a:avLst/>
          </a:prstGeom>
          <a:solidFill>
            <a:srgbClr val="163356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85623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Віруси, трояни, черв'яки, шпигунське ПЗ − виконують зловмисний код на пристрої жертви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32304" y="1078992"/>
            <a:ext cx="2029968" cy="1828800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32304" y="1078992"/>
            <a:ext cx="2029968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120700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</a:rPr>
              <a:t>Ransomware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23744" y="151790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</a:rPr>
              <a:t>Здирницьке ПЗ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23744" y="1773936"/>
            <a:ext cx="1847088" cy="27432"/>
          </a:xfrm>
          <a:prstGeom prst="rect">
            <a:avLst/>
          </a:prstGeom>
          <a:solidFill>
            <a:srgbClr val="163356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23744" y="185623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Шифрує файли та вимагає викуп. WannaCry (2017) − $4 млрд збитків у 150 країнах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08576" y="1078992"/>
            <a:ext cx="2029968" cy="1828800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08576" y="1078992"/>
            <a:ext cx="2029968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120700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Phishing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00016" y="151790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</a:rPr>
              <a:t>Фішинг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0016" y="1773936"/>
            <a:ext cx="1847088" cy="27432"/>
          </a:xfrm>
          <a:prstGeom prst="rect">
            <a:avLst/>
          </a:prstGeom>
          <a:solidFill>
            <a:srgbClr val="163356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185623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Маскування під довірену особу/сервіс для викрадення облікових даних через email/SMS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84848" y="1078992"/>
            <a:ext cx="2029968" cy="1828800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84848" y="1078992"/>
            <a:ext cx="202996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6288" y="1207008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DDoS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76288" y="151790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</a:rPr>
              <a:t>Відмова в обслуговуванні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76288" y="1773936"/>
            <a:ext cx="1847088" cy="27432"/>
          </a:xfrm>
          <a:prstGeom prst="rect">
            <a:avLst/>
          </a:prstGeom>
          <a:solidFill>
            <a:srgbClr val="163356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76288" y="1856232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Перевантаження сервісу запитами до повної недоступності. Ботнети → мільйони RPS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3072384"/>
            <a:ext cx="2029968" cy="1828800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6032" y="3072384"/>
            <a:ext cx="2029968" cy="7315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2004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</a:rPr>
              <a:t>MITM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7472" y="351129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</a:rPr>
              <a:t>Атака посередника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" y="3767328"/>
            <a:ext cx="1847088" cy="27432"/>
          </a:xfrm>
          <a:prstGeom prst="rect">
            <a:avLst/>
          </a:prstGeom>
          <a:solidFill>
            <a:srgbClr val="163356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384962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Перехоплення та модифікація трафіку між двома сторонами без їхнього відома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32304" y="3072384"/>
            <a:ext cx="2029968" cy="1828800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32304" y="3072384"/>
            <a:ext cx="2029968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23744" y="32004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</a:rPr>
              <a:t>SQL Injection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523744" y="351129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</a:rPr>
              <a:t>Ін'єкція SQL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23744" y="3767328"/>
            <a:ext cx="1847088" cy="27432"/>
          </a:xfrm>
          <a:prstGeom prst="rect">
            <a:avLst/>
          </a:prstGeom>
          <a:solidFill>
            <a:srgbClr val="163356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23744" y="384962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Впровадження шкідливого SQL-коду в запити до бази даних для обходу авторизації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08576" y="3072384"/>
            <a:ext cx="2029968" cy="1828800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08576" y="3072384"/>
            <a:ext cx="2029968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0016" y="32004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</a:rPr>
              <a:t>Zero-Day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00016" y="351129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</a:rPr>
              <a:t>Нульовий день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00016" y="3767328"/>
            <a:ext cx="1847088" cy="27432"/>
          </a:xfrm>
          <a:prstGeom prst="rect">
            <a:avLst/>
          </a:prstGeom>
          <a:solidFill>
            <a:srgbClr val="163356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0016" y="384962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Атака через невідому вразливість до виходу патча. Stuxnet − перша кіберзброя держрівня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84848" y="3072384"/>
            <a:ext cx="2029968" cy="1828800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784848" y="3072384"/>
            <a:ext cx="2029968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6288" y="3200400"/>
            <a:ext cx="1847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BC9C"/>
                </a:solidFill>
              </a:rPr>
              <a:t>Social Eng.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876288" y="3511296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</a:rPr>
              <a:t>Соціальна інженерія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6288" y="3767328"/>
            <a:ext cx="1847088" cy="27432"/>
          </a:xfrm>
          <a:prstGeom prst="rect">
            <a:avLst/>
          </a:prstGeom>
          <a:solidFill>
            <a:srgbClr val="163356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6288" y="3849624"/>
            <a:ext cx="184708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Маніпуляція людьми для отримання доступу без технічних засобів. 82% зломів (Verizon, 2023)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FFFFF"/>
                </a:solidFill>
              </a:rPr>
              <a:t>ТИПИ КІБЕРБЕЗПЕКИ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61488" cy="175564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73152" cy="17556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8872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Мережева безпека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572768"/>
            <a:ext cx="2505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CE4"/>
                </a:solidFill>
              </a:rPr>
              <a:t>Захист мереж від несанкціонованого доступу: файрволи, IDS/IPS, VPN, сегментація мережі, моніторинг трафіку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82112" y="1097280"/>
            <a:ext cx="2761488" cy="175564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82112" y="1097280"/>
            <a:ext cx="73152" cy="17556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46704" y="118872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Хмарна безпека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46704" y="1572768"/>
            <a:ext cx="2505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CE4"/>
                </a:solidFill>
              </a:rPr>
              <a:t>Захист даних у публічних та гібридних хмарах: CSPM, CASB, шифрування в стані спокою та транзиту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89904" y="1097280"/>
            <a:ext cx="2761488" cy="175564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1097280"/>
            <a:ext cx="73152" cy="17556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18872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Безпека застосунків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54496" y="1572768"/>
            <a:ext cx="2505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CE4"/>
                </a:solidFill>
              </a:rPr>
              <a:t>Захист веб- та мобільних додатків: SAST/DAST, DevSecOps, WAF, аналіз коду, пентестування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2761488" cy="175564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17520"/>
            <a:ext cx="73152" cy="175564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10896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B954"/>
                </a:solidFill>
              </a:rPr>
              <a:t>Операційна безпека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" y="3493008"/>
            <a:ext cx="2505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CE4"/>
                </a:solidFill>
              </a:rPr>
              <a:t>Процеси управління: патч-менеджмент, управління доступом (IAM), контроль привілеїв (PAM)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82112" y="3017520"/>
            <a:ext cx="2761488" cy="175564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82112" y="3017520"/>
            <a:ext cx="73152" cy="17556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310896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</a:rPr>
              <a:t>Безпека кінцевих точок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46704" y="3493008"/>
            <a:ext cx="2505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CE4"/>
                </a:solidFill>
              </a:rPr>
              <a:t>Захист ПК, ноутбуків, мобільних: EDR/XDR, антивірус, MDM, шифрування дисків (BitLocker)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9904" y="3017520"/>
            <a:ext cx="2761488" cy="175564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89904" y="3017520"/>
            <a:ext cx="73152" cy="17556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3108960"/>
            <a:ext cx="2505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</a:rPr>
              <a:t>Захист даних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54496" y="3493008"/>
            <a:ext cx="25054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CE4"/>
                </a:solidFill>
              </a:rPr>
              <a:t>DLP, класифікація даних, GDPR/DORA-відповідність, резервне копіювання, шифрування БД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FFFFF"/>
                </a:solidFill>
              </a:rPr>
              <a:t>БЕЗПЕКА ВЕБ-САЙТІВ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5047488" cy="3749040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</a:rPr>
              <a:t>OWASP Top 10 − найкритичніші вразливості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600200"/>
            <a:ext cx="566928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63677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05840" y="1618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Broken Access Control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1801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</a:rPr>
              <a:t>Порушення контролю доступу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2057400"/>
            <a:ext cx="566928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09397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20756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Cryptographic Failures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22585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</a:rPr>
              <a:t>Слабка криптографія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" y="2514600"/>
            <a:ext cx="566928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55117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05840" y="25328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Injection (SQL/XSS/...)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5840" y="27157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</a:rPr>
              <a:t>Ін'єкції різних типів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2971800"/>
            <a:ext cx="566928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00837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05840" y="29900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Insecure Design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05840" y="31729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</a:rPr>
              <a:t>Небезпечна архітектура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3429000"/>
            <a:ext cx="566928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46557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" y="3447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Security Misconfiguration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5840" y="36301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</a:rPr>
              <a:t>Хибна конфігурація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" y="3886200"/>
            <a:ext cx="566928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92277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A06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" y="39044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Vulnerable Components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5840" y="40873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</a:rPr>
              <a:t>Застарілі компоненти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7472" y="4343400"/>
            <a:ext cx="566928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379976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A07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" y="43616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Auth Failures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05840" y="454456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</a:rPr>
              <a:t>Збої автентифікації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0" y="1078992"/>
            <a:ext cx="3337560" cy="3749040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596128" y="117043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Механізми захисту веб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596128" y="1572768"/>
            <a:ext cx="310896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5DCE4"/>
                </a:solidFill>
              </a:rPr>
              <a:t>WAF (Web Application Firewall)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5DCE4"/>
                </a:solidFill>
              </a:rPr>
              <a:t>HTTPS / TLS 1.3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5DCE4"/>
                </a:solidFill>
              </a:rPr>
              <a:t>CSP (Content Security Policy)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5DCE4"/>
                </a:solidFill>
              </a:rPr>
              <a:t>Валідація та санітизація вводу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5DCE4"/>
                </a:solidFill>
              </a:rPr>
              <a:t>Принцип найменших привілеїв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5DCE4"/>
                </a:solidFill>
              </a:rPr>
              <a:t>Regular Pen Testing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5DCE4"/>
                </a:solidFill>
              </a:rPr>
              <a:t>Dependency scanning (Snyk, OWASP DC)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5DCE4"/>
                </a:solidFill>
              </a:rPr>
              <a:t>Rate limiting &amp; CAPTCHA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FFFFF"/>
                </a:solidFill>
              </a:rPr>
              <a:t>БЕЗПЕКА МОБІЛЬНИХ ДОДАТКІВ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8631936" cy="68580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1887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</a:rPr>
              <a:t>75% мобільних додатків мають хоча б одну критичну вразливість  (Positive Technologies, 2023)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874520"/>
            <a:ext cx="5029200" cy="2926080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OWASP Mobile Top 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377440"/>
            <a:ext cx="475488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414016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</a:rPr>
              <a:t>M1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23865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11F"/>
                </a:solidFill>
              </a:rPr>
              <a:t>Improper Platform Usage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25786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</a:rPr>
              <a:t>Неналежне використання платформи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2852928"/>
            <a:ext cx="475488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889504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</a:rPr>
              <a:t>M2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8620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11F"/>
                </a:solidFill>
              </a:rPr>
              <a:t>Insecure Data Storage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30540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</a:rPr>
              <a:t>Небезпечне зберігання даних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" y="3328416"/>
            <a:ext cx="475488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36499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</a:rPr>
              <a:t>M3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3375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11F"/>
                </a:solidFill>
              </a:rPr>
              <a:t>Insecure Communication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14400" y="35295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</a:rPr>
              <a:t>Незахищена передача даних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3803904"/>
            <a:ext cx="475488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84048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</a:rPr>
              <a:t>M4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81304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11F"/>
                </a:solidFill>
              </a:rPr>
              <a:t>Insecure Authentication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14400" y="40050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</a:rPr>
              <a:t>Ненадійна автентифікація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4279392"/>
            <a:ext cx="475488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315968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111F"/>
                </a:solidFill>
              </a:rPr>
              <a:t>M5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428853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111F"/>
                </a:solidFill>
              </a:rPr>
              <a:t>Insufficient Cryptography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14400" y="448056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8C9A"/>
                </a:solidFill>
              </a:rPr>
              <a:t>Слабка криптографія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0" y="1874520"/>
            <a:ext cx="3401568" cy="2926080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96128" y="1965960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954"/>
                </a:solidFill>
              </a:rPr>
              <a:t>Засоби захисту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96128" y="2331720"/>
            <a:ext cx="3182112" cy="2377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5DCE4"/>
                </a:solidFill>
              </a:rPr>
              <a:t>Certificate Pinning для HTTPS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5DCE4"/>
                </a:solidFill>
              </a:rPr>
              <a:t>Biometric Auth (FaceID, Fingerprint)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5DCE4"/>
                </a:solidFill>
              </a:rPr>
              <a:t>Шифрування локального сховища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5DCE4"/>
                </a:solidFill>
              </a:rPr>
              <a:t>Root/Jailbreak detection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5DCE4"/>
                </a:solidFill>
              </a:rPr>
              <a:t>MDM (Mobile Device Management)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D5DCE4"/>
                </a:solidFill>
              </a:rPr>
              <a:t>RASP (Runtime App Self-Protection)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FFFFF"/>
                </a:solidFill>
              </a:rPr>
              <a:t>БЕЗПЕКА КОМП'ЮТЕРНИХ СИСТЕМ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761488" cy="1847088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2761488" cy="7315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1615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D6D7E"/>
                </a:solidFill>
              </a:rPr>
              <a:t>Фізичний рівень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254203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CE4"/>
                </a:solidFill>
              </a:rPr>
              <a:t>Контроль фізичного доступу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CE4"/>
                </a:solidFill>
              </a:rPr>
              <a:t>Камери, замки, сейфи для серверів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CE4"/>
                </a:solidFill>
              </a:rPr>
              <a:t>Знищення носіїв (degaussing, shredding)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63824" y="1078992"/>
            <a:ext cx="2761488" cy="1847088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63824" y="1078992"/>
            <a:ext cx="2761488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73552" y="121615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39C12"/>
                </a:solidFill>
              </a:rPr>
              <a:t>OS Hardening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73552" y="1581912"/>
            <a:ext cx="254203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CE4"/>
                </a:solidFill>
              </a:rPr>
              <a:t>Вимкнення непотрібних сервісів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CE4"/>
                </a:solidFill>
              </a:rPr>
              <a:t>CIS Benchmark, STIG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CE4"/>
                </a:solidFill>
              </a:rPr>
              <a:t>Мінімізація привілеїв (least privilege)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71616" y="1078992"/>
            <a:ext cx="2761488" cy="1847088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1078992"/>
            <a:ext cx="2761488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21615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</a:rPr>
              <a:t>Шифрування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81344" y="1581912"/>
            <a:ext cx="254203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CE4"/>
                </a:solidFill>
              </a:rPr>
              <a:t>AES-256 для даних в стані спокою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CE4"/>
                </a:solidFill>
              </a:rPr>
              <a:t>TLS 1.3 для передачі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CE4"/>
                </a:solidFill>
              </a:rPr>
              <a:t>BitLocker / LUKS для дисків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3090672"/>
            <a:ext cx="2761488" cy="1847088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3090672"/>
            <a:ext cx="2761488" cy="73152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2783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DB954"/>
                </a:solidFill>
              </a:rPr>
              <a:t>Патч-менеджмент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65760" y="3593592"/>
            <a:ext cx="254203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CE4"/>
                </a:solidFill>
              </a:rPr>
              <a:t>Систематичне оновлення ОС і ПЗ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CE4"/>
                </a:solidFill>
              </a:rPr>
              <a:t>CVE-моніторинг (NVD, MITRE)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CE4"/>
                </a:solidFill>
              </a:rPr>
              <a:t>Автоматизація: WSUS, Ansible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63824" y="3090672"/>
            <a:ext cx="2761488" cy="1847088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63824" y="3090672"/>
            <a:ext cx="2761488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73552" y="322783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74C3C"/>
                </a:solidFill>
              </a:rPr>
              <a:t>Моніторинг та SIEM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273552" y="3593592"/>
            <a:ext cx="254203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CE4"/>
                </a:solidFill>
              </a:rPr>
              <a:t>Splunk, IBM QRadar, Microsoft Sentinel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CE4"/>
                </a:solidFill>
              </a:rPr>
              <a:t>Збір та кореляція логів 24/7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CE4"/>
                </a:solidFill>
              </a:rPr>
              <a:t>Incident Response Plan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71616" y="3090672"/>
            <a:ext cx="2761488" cy="1847088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71616" y="3090672"/>
            <a:ext cx="2761488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3227832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E44AD"/>
                </a:solidFill>
              </a:rPr>
              <a:t>Резервне копіювання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81344" y="3593592"/>
            <a:ext cx="254203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CE4"/>
                </a:solidFill>
              </a:rPr>
              <a:t>Правило 3-2-1 (3 копії, 2 носії, 1 офсайт)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CE4"/>
                </a:solidFill>
              </a:rPr>
              <a:t>Тестування відновлення щомісяця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5DCE4"/>
                </a:solidFill>
              </a:rPr>
              <a:t>Immutable backups (захист від Ransomware)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FFFFF"/>
                </a:solidFill>
              </a:rPr>
              <a:t>КІБЕРБЕЗПЕКА І КРИПТОВАЛЮТА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8631936" cy="658368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188720"/>
            <a:ext cx="8366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39C12"/>
                </a:solidFill>
              </a:rPr>
              <a:t>$24.2 млрд вкрадено з крипторинку за 2022–2023 рр.  (Chainalysis Crypto Crime Report, 2024)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1874520"/>
            <a:ext cx="2761488" cy="1508760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874520"/>
            <a:ext cx="73152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96596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</a:rPr>
              <a:t>Exchange Hacks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0624" y="2331720"/>
            <a:ext cx="2505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CE4"/>
                </a:solidFill>
              </a:rPr>
              <a:t>Зломи бірж: Binance ($570M, 2022), FTX collapse, Mt.Gox ($460M, 2014). Централізовані </a:t>
            </a:r>
            <a:r>
              <a:rPr lang="en-US" sz="1000" dirty="0" err="1">
                <a:solidFill>
                  <a:srgbClr val="D5DCE4"/>
                </a:solidFill>
              </a:rPr>
              <a:t>платформи</a:t>
            </a:r>
            <a:r>
              <a:rPr lang="en-US" sz="1000" dirty="0">
                <a:solidFill>
                  <a:srgbClr val="D5DCE4"/>
                </a:solidFill>
              </a:rPr>
              <a:t> − головна ціль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63824" y="1874520"/>
            <a:ext cx="2761488" cy="1508760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63824" y="1874520"/>
            <a:ext cx="73152" cy="1508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196596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E44AD"/>
                </a:solidFill>
              </a:rPr>
              <a:t>Crypto Drainer / Scam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2331720"/>
            <a:ext cx="2505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CE4"/>
                </a:solidFill>
              </a:rPr>
              <a:t>Фішингові сайти та підроблені DApps зливають гаманці. Drainer-as-a-Service − масова модель для хакерів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1616" y="1874520"/>
            <a:ext cx="2761488" cy="1508760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874520"/>
            <a:ext cx="73152" cy="1508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1965960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</a:rPr>
              <a:t>DeFi Protocol Exploits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36208" y="2331720"/>
            <a:ext cx="2505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CE4"/>
                </a:solidFill>
              </a:rPr>
              <a:t>Вразливості смарт-контрактів: Ronin ($625M), Poly Network ($611M). Re-entrancy, flash loan attacks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3538728"/>
            <a:ext cx="2761488" cy="1508760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538728"/>
            <a:ext cx="73152" cy="1508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363016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Crypto Jacking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20624" y="3995928"/>
            <a:ext cx="2505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CE4"/>
                </a:solidFill>
              </a:rPr>
              <a:t>Прихований майнінг на чужих пристроях: 1.7 млрд атак у 2023 р. (SonicWall). Використовує ресурси CPU/GPU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163824" y="3538728"/>
            <a:ext cx="2761488" cy="1508760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63824" y="3538728"/>
            <a:ext cx="73152" cy="150876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28416" y="363016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954"/>
                </a:solidFill>
              </a:rPr>
              <a:t>Захист гаманців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28416" y="3995928"/>
            <a:ext cx="2505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CE4"/>
                </a:solidFill>
              </a:rPr>
              <a:t>Cold wallet (Ledger, Trezor), Hardware Security Module, мультипідпис (Multisig 2-of-3), seed phrase офлайн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71616" y="3538728"/>
            <a:ext cx="2761488" cy="1508760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71616" y="3538728"/>
            <a:ext cx="73152" cy="15087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363016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BC9C"/>
                </a:solidFill>
              </a:rPr>
              <a:t>Blockchain as Security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36208" y="3995928"/>
            <a:ext cx="2505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CE4"/>
                </a:solidFill>
              </a:rPr>
              <a:t>Незмінюваність блокчейну для логів аудиту. Smart contract formal verification. VASP compliance (FATF)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FFFFF"/>
                </a:solidFill>
              </a:rPr>
              <a:t>КІБЕРЗЛОЧИННІСТЬ У СВІТІ ТА УКРАЇНІ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5047488" cy="3749040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E74C3C"/>
                </a:solidFill>
              </a:rPr>
              <a:t>Глобальна</a:t>
            </a:r>
            <a:r>
              <a:rPr lang="en-US" sz="1300" b="1" dirty="0">
                <a:solidFill>
                  <a:srgbClr val="E74C3C"/>
                </a:solidFill>
              </a:rPr>
              <a:t> картина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627632"/>
            <a:ext cx="4864608" cy="65836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68249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</a:rPr>
              <a:t>$8 трлн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170078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CE4"/>
                </a:solidFill>
              </a:rPr>
              <a:t>глобальних збитків від кіберзлочинів у 2023 р. (Cybersecurity Ventures)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" y="2414016"/>
            <a:ext cx="4864608" cy="65836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468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</a:rPr>
              <a:t>2,200+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24871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CE4"/>
                </a:solidFill>
              </a:rPr>
              <a:t>кібератак відбувається щодня у </a:t>
            </a:r>
            <a:r>
              <a:rPr lang="en-US" sz="1000" dirty="0" err="1">
                <a:solidFill>
                  <a:srgbClr val="D5DCE4"/>
                </a:solidFill>
              </a:rPr>
              <a:t>світі</a:t>
            </a:r>
            <a:r>
              <a:rPr lang="en-US" sz="1000" dirty="0">
                <a:solidFill>
                  <a:srgbClr val="D5DCE4"/>
                </a:solidFill>
              </a:rPr>
              <a:t> − одна кожні 39 секунд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3200400"/>
            <a:ext cx="4864608" cy="65836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25526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</a:rPr>
              <a:t>95%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32735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CE4"/>
                </a:solidFill>
              </a:rPr>
              <a:t>кіберінцидентів спричинені людською помилкою (IBM Cost of Data Breach, 2023)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4864608" cy="65836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404164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</a:rPr>
              <a:t>$4.45 млн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28800" y="40599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5DCE4"/>
                </a:solidFill>
              </a:rPr>
              <a:t>середня вартість витоку даних у 2023 р. − рекорд за 18 років спостережень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1078992"/>
            <a:ext cx="3401568" cy="3749040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96128" y="1170432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0B4D8"/>
                </a:solidFill>
              </a:rPr>
              <a:t>Україна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77840" y="1600200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163677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111F"/>
                </a:solidFill>
              </a:rPr>
              <a:t>2015–16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19088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Атаки на енергосистему (BlackEnergy/Industroyer) − знеструмлення 230 000 будинків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77840" y="2240280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227685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111F"/>
                </a:solidFill>
              </a:rPr>
              <a:t>2017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19088" y="2240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D5DCE4"/>
                </a:solidFill>
              </a:rPr>
              <a:t>NotPetya</a:t>
            </a:r>
            <a:r>
              <a:rPr lang="en-US" sz="950" dirty="0">
                <a:solidFill>
                  <a:srgbClr val="D5DCE4"/>
                </a:solidFill>
              </a:rPr>
              <a:t> − $10 млрд збитків глобально, запущений через M.E.Doc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77840" y="2880360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91693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111F"/>
                </a:solidFill>
              </a:rPr>
              <a:t>2022–24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419088" y="2880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CERT-UA фіксує 2 351 кіберінцидент у 2023 р. (CERT-UA Annual Report)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77840" y="3520440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0" y="355701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111F"/>
                </a:solidFill>
              </a:rPr>
              <a:t>2022–24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19088" y="35204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Sandworm, APT28, </a:t>
            </a:r>
            <a:r>
              <a:rPr lang="en-US" sz="950" dirty="0" err="1">
                <a:solidFill>
                  <a:srgbClr val="D5DCE4"/>
                </a:solidFill>
              </a:rPr>
              <a:t>Gamaredon</a:t>
            </a:r>
            <a:r>
              <a:rPr lang="en-US" sz="950" dirty="0">
                <a:solidFill>
                  <a:srgbClr val="D5DCE4"/>
                </a:solidFill>
              </a:rPr>
              <a:t> − основні APT-групи, що атакують Україну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77840" y="4160520"/>
            <a:ext cx="749808" cy="274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419709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8111F"/>
                </a:solidFill>
              </a:rPr>
              <a:t>2024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419088" y="41605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Атаки на держреєстри, ДТЕК, </a:t>
            </a:r>
            <a:r>
              <a:rPr lang="en-US" sz="950" dirty="0" err="1">
                <a:solidFill>
                  <a:srgbClr val="D5DCE4"/>
                </a:solidFill>
              </a:rPr>
              <a:t>Укртелеком</a:t>
            </a:r>
            <a:r>
              <a:rPr lang="en-US" sz="950" dirty="0">
                <a:solidFill>
                  <a:srgbClr val="D5DCE4"/>
                </a:solidFill>
              </a:rPr>
              <a:t> − ціль: критична інфраструктура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FFFFF"/>
                </a:solidFill>
              </a:rPr>
              <a:t>ЕКОНОМІЧНІ ВТРАТИ ВІД КІБЕРЗАГРОЗ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788920" cy="1234440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27889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8872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</a:rPr>
              <a:t>$8 трлн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56032" y="181051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DCE4"/>
                </a:solidFill>
              </a:rPr>
              <a:t>глобальні збитки 2023 р.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78992"/>
            <a:ext cx="2788920" cy="1234440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78992"/>
            <a:ext cx="2788920" cy="7315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18872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E44AD"/>
                </a:solidFill>
              </a:rPr>
              <a:t>$10.5 трлн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00400" y="181051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DCE4"/>
                </a:solidFill>
              </a:rPr>
              <a:t>прогноз збитків 2025 р.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44768" y="1078992"/>
            <a:ext cx="2788920" cy="1234440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44768" y="1078992"/>
            <a:ext cx="27889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18872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</a:rPr>
              <a:t>$215 млрд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44768" y="181051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DCE4"/>
                </a:solidFill>
              </a:rPr>
              <a:t>ринок кібербезпеки 2024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487168"/>
            <a:ext cx="5029200" cy="2377440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25786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Складові фінансових втрат (IBM, 2023)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4048" y="2999232"/>
            <a:ext cx="566928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03580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11F"/>
                </a:solidFill>
              </a:rPr>
              <a:t>28%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42416" y="30358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CE4"/>
                </a:solidFill>
              </a:rPr>
              <a:t>Виявлення та ескалація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3438144"/>
            <a:ext cx="566928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47472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11F"/>
                </a:solidFill>
              </a:rPr>
              <a:t>27%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42416" y="3474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CE4"/>
                </a:solidFill>
              </a:rPr>
              <a:t>Втрата бізнесу (клієнти, репутація)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4048" y="3877056"/>
            <a:ext cx="566928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913632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11F"/>
                </a:solidFill>
              </a:rPr>
              <a:t>24%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42416" y="39136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CE4"/>
                </a:solidFill>
              </a:rPr>
              <a:t>Реагування на інцидент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" y="4315968"/>
            <a:ext cx="566928" cy="29260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4352544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111F"/>
                </a:solidFill>
              </a:rPr>
              <a:t>21%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43525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CE4"/>
                </a:solidFill>
              </a:rPr>
              <a:t>Сповіщення (регулятор, клієнти)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0" y="2487168"/>
            <a:ext cx="3401568" cy="2377440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596128" y="2578608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954"/>
                </a:solidFill>
              </a:rPr>
              <a:t>ROI інвестицій у кібербезпеку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96128" y="297180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CE4"/>
                </a:solidFill>
              </a:rPr>
              <a:t>$1 витрачений на профілактику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96128" y="3246120"/>
            <a:ext cx="3182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B954"/>
                </a:solidFill>
              </a:rPr>
              <a:t>= $4–$7 збережених при інциденті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596128" y="3584448"/>
            <a:ext cx="3108960" cy="36576"/>
          </a:xfrm>
          <a:prstGeom prst="rect">
            <a:avLst/>
          </a:prstGeom>
          <a:solidFill>
            <a:srgbClr val="163356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96128" y="3657600"/>
            <a:ext cx="3182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</a:rPr>
              <a:t>Середній час виявлення порушення: 204 дні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</a:rPr>
              <a:t>Середній час усунення: 73 дні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C9A"/>
                </a:solidFill>
              </a:rPr>
              <a:t>(IBM Cost of Data Breach 2023)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FFFFF"/>
                </a:solidFill>
              </a:rPr>
              <a:t>ЗАХИСТ І МАЙБУТНЄ КІБЕРБЕЗПЕКИ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5047488" cy="3730752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170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Zero Trust Architecture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5179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9A"/>
                </a:solidFill>
              </a:rPr>
              <a:t>«Ніколи не </a:t>
            </a:r>
            <a:r>
              <a:rPr lang="en-US" sz="1100" i="1" dirty="0" err="1">
                <a:solidFill>
                  <a:srgbClr val="7F8C9A"/>
                </a:solidFill>
              </a:rPr>
              <a:t>довіряй</a:t>
            </a:r>
            <a:r>
              <a:rPr lang="en-US" sz="1100" i="1" dirty="0">
                <a:solidFill>
                  <a:srgbClr val="7F8C9A"/>
                </a:solidFill>
              </a:rPr>
              <a:t> − завжди перевіряй»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1901952"/>
            <a:ext cx="4864608" cy="74980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901952"/>
            <a:ext cx="73152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956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Verify Explicitly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224942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CE4"/>
                </a:solidFill>
              </a:rPr>
              <a:t>Автентифікація кожного запиту: MFA, контекст пристрою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798064"/>
            <a:ext cx="4864608" cy="74980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798064"/>
            <a:ext cx="73152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8529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Least Privilege Access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314553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CE4"/>
                </a:solidFill>
              </a:rPr>
              <a:t>Мінімум прав для кожного: JIT, JEA, мікросегментація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3694176"/>
            <a:ext cx="4864608" cy="74980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694176"/>
            <a:ext cx="73152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Assume Breach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40416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5DCE4"/>
                </a:solidFill>
              </a:rPr>
              <a:t>Передбачай компрометацію: ізоляція, шифрування, логи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0" y="1078992"/>
            <a:ext cx="3401568" cy="3730752"/>
          </a:xfrm>
          <a:prstGeom prst="rect">
            <a:avLst/>
          </a:prstGeom>
          <a:solidFill>
            <a:srgbClr val="0D1E35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96128" y="1170432"/>
            <a:ext cx="3182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</a:rPr>
              <a:t>Тренди майбутнього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577840" y="1627632"/>
            <a:ext cx="3218688" cy="65836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1627632"/>
            <a:ext cx="73152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1673352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AI-driven Security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195681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LLM для аналізу загроз, автоматизований SOC, поведінковий аналіз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77840" y="2414016"/>
            <a:ext cx="3218688" cy="65836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0" y="2414016"/>
            <a:ext cx="73152" cy="6583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24597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</a:rPr>
              <a:t>Post-Quantum Crypto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2743200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NIST PQC стандарти 2024: CRYSTALS-Kyber, CRYSTALS-Dilithium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77840" y="3200400"/>
            <a:ext cx="3218688" cy="65836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77840" y="3200400"/>
            <a:ext cx="73152" cy="658368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3246120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B954"/>
                </a:solidFill>
              </a:rPr>
              <a:t>SASE / SSE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15000" y="3529584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Мережа і безпека як хмарний сервіс: Zscaler, Cloudflare One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77840" y="3986784"/>
            <a:ext cx="3218688" cy="65836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7840" y="3986784"/>
            <a:ext cx="73152" cy="6583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4032504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39C12"/>
                </a:solidFill>
              </a:rPr>
              <a:t>Cyber Insurance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715000" y="4315968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Страхування </a:t>
            </a:r>
            <a:r>
              <a:rPr lang="en-US" sz="950" dirty="0" err="1">
                <a:solidFill>
                  <a:srgbClr val="D5DCE4"/>
                </a:solidFill>
              </a:rPr>
              <a:t>кіберризиків</a:t>
            </a:r>
            <a:r>
              <a:rPr lang="en-US" sz="950" dirty="0">
                <a:solidFill>
                  <a:srgbClr val="D5DCE4"/>
                </a:solidFill>
              </a:rPr>
              <a:t> − ринок $29 млрд до 2027 р.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8111F"/>
          </a:solidFill>
          <a:ln w="12700">
            <a:solidFill>
              <a:srgbClr val="0811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560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kern="0" spc="100" dirty="0">
                <a:solidFill>
                  <a:srgbClr val="FFFFFF"/>
                </a:solidFill>
              </a:rPr>
              <a:t>ДЖЕРЕЛА ІНФОРМАЦІЇ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56032" y="1078992"/>
            <a:ext cx="2788920" cy="376732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278892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07008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</a:rPr>
              <a:t>Галузеві звіти та дослідження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2569464" cy="36576"/>
          </a:xfrm>
          <a:prstGeom prst="rect">
            <a:avLst/>
          </a:prstGeom>
          <a:solidFill>
            <a:srgbClr val="163356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3736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IBM (2023). Cost of a Data Breach Report 2023. IBM Security.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Verizon (2023). Data Breach Investigations Report (DBIR). Verizon Business.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92608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Chainalysis (2024). Crypto Crime Report 2024. Chainalysis Inc.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352044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Cybersecurity Ventures (2023). Cybercrime Report. Cybersecurity Ventures.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1148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SonicWall (2024). Cyber Threat Report 2024. SonicWall Inc.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0" y="1078992"/>
            <a:ext cx="2788920" cy="376732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78992"/>
            <a:ext cx="278892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207008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Стандарти та регуляторні джерела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10128" y="1627632"/>
            <a:ext cx="2569464" cy="36576"/>
          </a:xfrm>
          <a:prstGeom prst="rect">
            <a:avLst/>
          </a:prstGeom>
          <a:solidFill>
            <a:srgbClr val="163356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73736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OWASP (2021). OWASP Top 10:2021. Open Web Application Security Project.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10128" y="233172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OWASP (2023). Mobile Top 10 2023. OWASP Foundation.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10128" y="292608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NIST (2024). Post-Quantum Cryptography Standards. NIST SP 800-208.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352044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CERT-UA (2024). Звіт про кіберзагрози в Україні 2023. ДССЗЗІ України.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0128" y="41148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ENISA (2023). Threat Landscape Report 2023. European Union Agency for Cybersecurity.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44768" y="1078992"/>
            <a:ext cx="2788920" cy="3767328"/>
          </a:xfrm>
          <a:prstGeom prst="rect">
            <a:avLst/>
          </a:prstGeom>
          <a:solidFill>
            <a:srgbClr val="08111F"/>
          </a:solidFill>
          <a:ln w="12700">
            <a:solidFill>
              <a:srgbClr val="163356"/>
            </a:solidFill>
            <a:prstDash val="solid"/>
          </a:ln>
          <a:effectLst>
            <a:outerShdw blurRad="127000" dist="381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44768" y="1078992"/>
            <a:ext cx="2788920" cy="91440"/>
          </a:xfrm>
          <a:prstGeom prst="rect">
            <a:avLst/>
          </a:prstGeom>
          <a:solidFill>
            <a:srgbClr val="1DB954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54496" y="1207008"/>
            <a:ext cx="25694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DB954"/>
                </a:solidFill>
              </a:rPr>
              <a:t>Наукова та освітня література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54496" y="1627632"/>
            <a:ext cx="2569464" cy="36576"/>
          </a:xfrm>
          <a:prstGeom prst="rect">
            <a:avLst/>
          </a:prstGeom>
          <a:solidFill>
            <a:srgbClr val="163356"/>
          </a:solidFill>
          <a:ln w="12700">
            <a:solidFill>
              <a:srgbClr val="16335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173736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Stallings, W. (2022). Cryptography and Network Security. 8th Ed. Pearson.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54496" y="233172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Anderson, R. (2020). Security Engineering. 3rd Ed. Wiley.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54496" y="292608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Positive Technologies (2023). Mobile Application Security. PT Research.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54496" y="352044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Гнатюк, С. (2022). Кібербезпека: основи та методи захисту. КПІ ім. Сікорського.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54496" y="4114800"/>
            <a:ext cx="25694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5DCE4"/>
                </a:solidFill>
              </a:rPr>
              <a:t>MITRE ATT&amp;CK (2024). Enterprise Matrix. MITRE Corporation.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Дякую за увагу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1343</Words>
  <Application>Microsoft Office PowerPoint</Application>
  <PresentationFormat>On-screen Show (16:9)</PresentationFormat>
  <Paragraphs>245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Кібербезпека: виклики та захист у цифрову епоху</dc:title>
  <dc:subject>PptxGenJS Presentation</dc:subject>
  <dc:creator>PptxGenJS</dc:creator>
  <cp:lastModifiedBy>Артем Вербицький</cp:lastModifiedBy>
  <cp:revision>2</cp:revision>
  <dcterms:created xsi:type="dcterms:W3CDTF">2026-04-13T21:25:21Z</dcterms:created>
  <dcterms:modified xsi:type="dcterms:W3CDTF">2026-04-13T21:32:03Z</dcterms:modified>
</cp:coreProperties>
</file>