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9C12"/>
    <a:srgbClr val="8E9BAB"/>
    <a:srgbClr val="1B2A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8E9BAB"/>
                </a:solidFill>
                <a:latin typeface="Arial"/>
              </a:defRPr>
            </a:pPr>
            <a:r>
              <a:rPr lang="ru-RU" sz="1000" b="0" i="0" u="none" strike="noStrike">
                <a:solidFill>
                  <a:srgbClr val="8E9BAB"/>
                </a:solidFill>
                <a:latin typeface="Arial"/>
              </a:rPr>
              <a:t>Рівень піратства ПЗ по регіонах світу (%, BSA 2022)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Рівень піратства ПЗ (%)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758-4877-B0DC-0829847DAB1D}"/>
              </c:ext>
            </c:extLst>
          </c:dPt>
          <c:dPt>
            <c:idx val="1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758-4877-B0DC-0829847DAB1D}"/>
              </c:ext>
            </c:extLst>
          </c:dPt>
          <c:dPt>
            <c:idx val="2"/>
            <c:invertIfNegative val="0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758-4877-B0DC-0829847DAB1D}"/>
              </c:ext>
            </c:extLst>
          </c:dPt>
          <c:dPt>
            <c:idx val="3"/>
            <c:invertIfNegative val="0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758-4877-B0DC-0829847DAB1D}"/>
              </c:ext>
            </c:extLst>
          </c:dPt>
          <c:dPt>
            <c:idx val="4"/>
            <c:invertIfNegative val="0"/>
            <c:bubble3D val="0"/>
            <c:spPr>
              <a:solidFill>
                <a:srgbClr val="D354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758-4877-B0DC-0829847DAB1D}"/>
              </c:ext>
            </c:extLst>
          </c:dPt>
          <c:dPt>
            <c:idx val="5"/>
            <c:invertIfNegative val="0"/>
            <c:bubble3D val="0"/>
            <c:spPr>
              <a:solidFill>
                <a:srgbClr val="922B2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758-4877-B0DC-0829847DAB1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Пн. Америка</c:v>
                </c:pt>
                <c:pt idx="1">
                  <c:v>Зах. Європа</c:v>
                </c:pt>
                <c:pt idx="2">
                  <c:v>ЦСЄ/СНД</c:v>
                </c:pt>
                <c:pt idx="3">
                  <c:v>Латинська Ам.</c:v>
                </c:pt>
                <c:pt idx="4">
                  <c:v>Азія (АТР)</c:v>
                </c:pt>
                <c:pt idx="5">
                  <c:v>Африка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</c:v>
                </c:pt>
                <c:pt idx="1">
                  <c:v>25</c:v>
                </c:pt>
                <c:pt idx="2">
                  <c:v>57</c:v>
                </c:pt>
                <c:pt idx="3">
                  <c:v>55</c:v>
                </c:pt>
                <c:pt idx="4">
                  <c:v>56</c:v>
                </c:pt>
                <c:pt idx="5">
                  <c:v>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758-4877-B0DC-0829847DAB1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9BA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C3E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9BA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B2A3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0673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0" y="54864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dirty="0">
                <a:solidFill>
                  <a:srgbClr val="142035"/>
                </a:solidFill>
              </a:rPr>
              <a:t>☠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5760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КОМП'ЮТЕРНЕ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ПІРАТСТВО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8E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економічне явище</a:t>
            </a:r>
            <a:endParaRPr lang="en-US" sz="2200" dirty="0">
              <a:solidFill>
                <a:srgbClr val="8E9BAB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3246120"/>
            <a:ext cx="5029200" cy="457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383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E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Історія • Типи • Збитки • Методи боротьби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526280"/>
            <a:ext cx="1976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200" dirty="0">
                <a:solidFill>
                  <a:srgbClr val="8E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Підготував студент ІПС-41 Вербицький Артем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таке комп'ютерне піратство?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109728" cy="13716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07008"/>
            <a:ext cx="8046720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Комп'ютерне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піратство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500" kern="1200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незаконне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копіювання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розповсюдження або використання програмного забезпечення, цифрового контенту та інших об'єктів інтелектуальної власності без дозволу правовласника, з метою отримання вигоди або уникнення оплати.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743200"/>
            <a:ext cx="2651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743200"/>
            <a:ext cx="2651760" cy="914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8346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⚖️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65760" y="35204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Правовий аспект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39319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Порушення авторського права та ліцензійних угод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2743200"/>
            <a:ext cx="2651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2743200"/>
            <a:ext cx="2651760" cy="914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28346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💰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200400" y="35204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Економічний аспект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00400" y="39319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Прямі збитки для галузі та держав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2743200"/>
            <a:ext cx="2651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2743200"/>
            <a:ext cx="2651760" cy="914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28346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🌐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035040" y="35204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Суспільний аспект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035040" y="39319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Загрози кібербезпеці та цифровій економіці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Історія комп'ютерного піратства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8229600" cy="45720"/>
          </a:xfrm>
          <a:prstGeom prst="rect">
            <a:avLst/>
          </a:prstGeom>
          <a:solidFill>
            <a:srgbClr val="8E9BAB"/>
          </a:solidFill>
          <a:ln w="12700">
            <a:solidFill>
              <a:srgbClr val="8E9BA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828800"/>
            <a:ext cx="256032" cy="25603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9476" y="1060704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1970-і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" y="1211228"/>
            <a:ext cx="1828800" cy="567631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Перші випадки копіювання програм на дискетах. Білл </a:t>
            </a:r>
            <a:r>
              <a:rPr lang="en-US" sz="850" dirty="0" err="1">
                <a:solidFill>
                  <a:srgbClr val="8E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Гейтс</a:t>
            </a:r>
            <a:r>
              <a:rPr lang="en-US" sz="850" dirty="0">
                <a:solidFill>
                  <a:srgbClr val="8E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«Відкритий лист хакерам» (1976)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240280" y="1828800"/>
            <a:ext cx="256032" cy="25603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28216" y="21488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1980-і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53896" y="2089755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Масове піратство ПЗ для Apple II, IBM PC. Виникнення BBSів як платформ розповсюдження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11880" y="1828800"/>
            <a:ext cx="256032" cy="25603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95244" y="1060704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1990-і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62072" y="1234440"/>
            <a:ext cx="1746504" cy="5166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Інтернет-революція: Napster (1999), піратство MP3, ISO образів CD. Збитки $11 млрд/рік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983480" y="1828800"/>
            <a:ext cx="256032" cy="25603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71416" y="21488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2000-і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97096" y="2327499"/>
            <a:ext cx="1828800" cy="616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BitTorrent (2001), The Pirate Bay (2003). Піратство відео, ігор, ПЗ у масштабах мільярдів $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355080" y="1828800"/>
            <a:ext cx="256032" cy="25603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43016" y="1060704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2010-і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12073" y="1294226"/>
            <a:ext cx="1942045" cy="4797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Стримінг змінює модель. SOPA/PIPA закони. Операція Onymous. Telegram, Discord як нові канали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726680" y="1828800"/>
            <a:ext cx="256032" cy="25603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14616" y="215517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2020-і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40296" y="2385880"/>
            <a:ext cx="1828800" cy="4951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Піратство у хмарах. AI-інструменти для обходу захисту. Збитки &gt;$40 млрд/рік глобально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Типи комп'ютерного піратства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91440" cy="17373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21615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Піратство</a:t>
            </a: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ПЗ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" y="1618488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Незаконне копіювання та розповсюдження програм: ОС, офісних пакетів, ігор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4632" y="231343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Напр: Windows, Adobe, Microsoft Office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54680" y="114300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143000"/>
            <a:ext cx="91440" cy="17373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9272" y="121615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Медіапіратство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19272" y="1618488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Незаконне поширення музики, фільмів, серіалів без ліцензії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19272" y="231343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Напр: Торрент-трекери, IPTV-піратство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89320" y="114300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89320" y="1143000"/>
            <a:ext cx="91440" cy="17373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53912" y="121615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Книжкове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53912" y="1618488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PDF-копії книг, підручників, наукових статей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53912" y="231343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Напр: Library Genesis, Sci-Hub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06324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063240"/>
            <a:ext cx="91440" cy="17373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" y="313639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Ігрове</a:t>
            </a: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піратство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" y="3538728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Крекінг ігор, генератори ключів, емуляція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4632" y="423367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Напр: Steam-пірати, cracked DRM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54680" y="306324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54680" y="3063240"/>
            <a:ext cx="91440" cy="17373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9272" y="313639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Ліцензійне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19272" y="3538728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Перевищення кількості установок, OEM-порушення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319272" y="423367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Напр: Корпоративний soft-ліфтинг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989320" y="306324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89320" y="3063240"/>
            <a:ext cx="91440" cy="17373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53912" y="313639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Онлайн-стримінг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53912" y="3538728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Нелегальні стримінгові платформи та сайти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153912" y="423367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Напр: Нелегальний Netflix, кіносайти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Глобальні економічні збитки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011680" cy="2011680"/>
          </a:xfrm>
          <a:prstGeom prst="rect">
            <a:avLst/>
          </a:prstGeom>
          <a:solidFill>
            <a:srgbClr val="1E2F42"/>
          </a:solidFill>
          <a:ln w="12700">
            <a:solidFill>
              <a:srgbClr val="1E2F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2011680" cy="914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3444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$46 млрд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Глобальні збитки від піратства ПЗ (2023)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2834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E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BSA Global Software Survey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0592" y="1097280"/>
            <a:ext cx="2011680" cy="2011680"/>
          </a:xfrm>
          <a:prstGeom prst="rect">
            <a:avLst/>
          </a:prstGeom>
          <a:solidFill>
            <a:srgbClr val="1E2F42"/>
          </a:solidFill>
          <a:ln w="12700">
            <a:solidFill>
              <a:srgbClr val="1E2F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1097280"/>
            <a:ext cx="2011680" cy="914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0592" y="123444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37%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542032" y="20116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Рівень піратства ПЗ у світі (середній)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50592" y="2834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E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BSA 2022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1097280"/>
            <a:ext cx="2011680" cy="2011680"/>
          </a:xfrm>
          <a:prstGeom prst="rect">
            <a:avLst/>
          </a:prstGeom>
          <a:solidFill>
            <a:srgbClr val="1E2F42"/>
          </a:solidFill>
          <a:ln w="12700">
            <a:solidFill>
              <a:srgbClr val="1E2F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097280"/>
            <a:ext cx="2011680" cy="914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23444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$29 млрд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718304" y="20116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Збитки США від медіапіратства щорічно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26864" y="2834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E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USTR, MPAA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03136" y="1097280"/>
            <a:ext cx="2011680" cy="2011680"/>
          </a:xfrm>
          <a:prstGeom prst="rect">
            <a:avLst/>
          </a:prstGeom>
          <a:solidFill>
            <a:srgbClr val="1E2F42"/>
          </a:solidFill>
          <a:ln w="12700">
            <a:solidFill>
              <a:srgbClr val="1E2F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03136" y="1097280"/>
            <a:ext cx="2011680" cy="914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03136" y="123444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2,4 млн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894576" y="20116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Робочих місць втрачено через піратство в ЄС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03136" y="2834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E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Звіт ЄС, 2015</a:t>
            </a:r>
            <a:endParaRPr lang="en-US" sz="85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274320" y="3246120"/>
          <a:ext cx="859536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1D6FA0"/>
          </a:solidFill>
          <a:ln w="12700">
            <a:solidFill>
              <a:srgbClr val="1D6F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Вітчизняний</a:t>
            </a: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досвід</a:t>
            </a: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Україна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4114800" cy="457200"/>
          </a:xfrm>
          <a:prstGeom prst="rect">
            <a:avLst/>
          </a:prstGeom>
          <a:solidFill>
            <a:srgbClr val="1D6FA0"/>
          </a:solidFill>
          <a:ln w="12700">
            <a:solidFill>
              <a:srgbClr val="1D6F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Ключові факти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64592" cy="164592"/>
          </a:xfrm>
          <a:prstGeom prst="ellipse">
            <a:avLst/>
          </a:prstGeom>
          <a:solidFill>
            <a:srgbClr val="1D6FA0"/>
          </a:solidFill>
          <a:ln w="12700">
            <a:solidFill>
              <a:srgbClr val="1D6F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6459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Рівень піратства ПЗ – ~60% (BSA, 2022)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21408"/>
            <a:ext cx="164592" cy="164592"/>
          </a:xfrm>
          <a:prstGeom prst="ellipse">
            <a:avLst/>
          </a:prstGeom>
          <a:solidFill>
            <a:srgbClr val="1D6FA0"/>
          </a:solidFill>
          <a:ln w="12700">
            <a:solidFill>
              <a:srgbClr val="1D6F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07568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Збитки від піратства ПЗ – $274 млн/рік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51176"/>
            <a:ext cx="164592" cy="164592"/>
          </a:xfrm>
          <a:prstGeom prst="ellipse">
            <a:avLst/>
          </a:prstGeom>
          <a:solidFill>
            <a:srgbClr val="1D6FA0"/>
          </a:solidFill>
          <a:ln w="12700">
            <a:solidFill>
              <a:srgbClr val="1D6F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50545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УЦЗПІ та </a:t>
            </a:r>
            <a:r>
              <a:rPr lang="en-US" sz="11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Держспецзв'язку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основні регулятори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80944"/>
            <a:ext cx="164592" cy="164592"/>
          </a:xfrm>
          <a:prstGeom prst="ellipse">
            <a:avLst/>
          </a:prstGeom>
          <a:solidFill>
            <a:srgbClr val="1D6FA0"/>
          </a:solidFill>
          <a:ln w="12700">
            <a:solidFill>
              <a:srgbClr val="1D6F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93522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Закон України «Про авт. право» (1994, ред. 2023)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10712"/>
            <a:ext cx="164592" cy="164592"/>
          </a:xfrm>
          <a:prstGeom prst="ellipse">
            <a:avLst/>
          </a:prstGeom>
          <a:solidFill>
            <a:srgbClr val="1D6FA0"/>
          </a:solidFill>
          <a:ln w="12700">
            <a:solidFill>
              <a:srgbClr val="1D6F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36499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Операції СБУ проти великих піратських мереж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164592" cy="164592"/>
          </a:xfrm>
          <a:prstGeom prst="ellipse">
            <a:avLst/>
          </a:prstGeom>
          <a:solidFill>
            <a:srgbClr val="1D6FA0"/>
          </a:solidFill>
          <a:ln w="12700">
            <a:solidFill>
              <a:srgbClr val="1D6F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379476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Дизайнерські пірати: Prom, OLX – канали збуту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270248"/>
            <a:ext cx="164592" cy="164592"/>
          </a:xfrm>
          <a:prstGeom prst="ellipse">
            <a:avLst/>
          </a:prstGeom>
          <a:solidFill>
            <a:srgbClr val="1D6FA0"/>
          </a:solidFill>
          <a:ln w="12700">
            <a:solidFill>
              <a:srgbClr val="1D6F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422452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Гармонізація з EU Digital Single Market Directive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1097280"/>
            <a:ext cx="42062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097280"/>
            <a:ext cx="420624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0972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Резонансні випадки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754880" y="1691640"/>
            <a:ext cx="4023360" cy="1005840"/>
          </a:xfrm>
          <a:prstGeom prst="rect">
            <a:avLst/>
          </a:prstGeom>
          <a:solidFill>
            <a:srgbClr val="F5F5F0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1691640"/>
            <a:ext cx="73152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17373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Справа EX.UA (2012)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2011680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із найбільших файлообмінників СНД. СБУ закрила після тиску MPAA/US Embassy. Понад 2 млн відвідувачів/день.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2788920"/>
            <a:ext cx="4023360" cy="1005840"/>
          </a:xfrm>
          <a:prstGeom prst="rect">
            <a:avLst/>
          </a:prstGeom>
          <a:solidFill>
            <a:srgbClr val="F5F5F0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2788920"/>
            <a:ext cx="73152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2834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Піратська мережа ПЗ (Харків, 2019)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92040" y="3108960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Викрито групу, що продавала нелегальне ПЗ на $1.5 млн. Обвинувачено 7 осіб.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3886200"/>
            <a:ext cx="4023360" cy="1005840"/>
          </a:xfrm>
          <a:prstGeom prst="rect">
            <a:avLst/>
          </a:prstGeom>
          <a:solidFill>
            <a:srgbClr val="F5F5F0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3886200"/>
            <a:ext cx="73152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39319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Нелегальний IPTV (2021–2023)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92040" y="4206240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Сотні IPTV-провайдерів без ліцензії. Збитки </a:t>
            </a:r>
            <a:r>
              <a:rPr lang="en-US" sz="10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телеканалам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десятки млн грн щорічно.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Зарубіжний</a:t>
            </a: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досвід</a:t>
            </a: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резонансні кейси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914400"/>
          </a:xfrm>
          <a:prstGeom prst="rect">
            <a:avLst/>
          </a:prstGeom>
          <a:solidFill>
            <a:srgbClr val="1E2F42"/>
          </a:solidFill>
          <a:ln w="12700">
            <a:solidFill>
              <a:srgbClr val="1E2F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78992"/>
            <a:ext cx="91440" cy="9144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2471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🇸🇪 Швеція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9047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E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Pirate Bay (2006–дотепер)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94560" y="1143000"/>
            <a:ext cx="51206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Найвідоміший торент-трекер. Засновників засуджено до 1 року в'язниці та €30 млн штрафу (2009). Сайт заблоковано у 30+ країнах, але досі працює через дзеркала.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406640" y="1078992"/>
            <a:ext cx="1417320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06640" y="1078992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Збитки: $100+ млрд оцінено індустрією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066544"/>
            <a:ext cx="8595360" cy="914400"/>
          </a:xfrm>
          <a:prstGeom prst="rect">
            <a:avLst/>
          </a:prstGeom>
          <a:solidFill>
            <a:srgbClr val="1E2F42"/>
          </a:solidFill>
          <a:ln w="12700">
            <a:solidFill>
              <a:srgbClr val="1E2F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066544"/>
            <a:ext cx="91440" cy="9144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11226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🇷🇺 Росія/США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2478024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E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Megaupload / Kim Dotcom (2012)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94560" y="2130552"/>
            <a:ext cx="51206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Засновника Megaupload Кіма Дотком заарештовано в Новій Зеландії за запитом США. Сервіс мав 50 млн відвідувачів/день. Збитки </a:t>
            </a:r>
            <a:r>
              <a:rPr lang="en-US" sz="10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правовласників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$500 млн.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406640" y="2066544"/>
            <a:ext cx="1417320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2066544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Штраф: $175 млн активів заморожено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054096"/>
            <a:ext cx="8595360" cy="914400"/>
          </a:xfrm>
          <a:prstGeom prst="rect">
            <a:avLst/>
          </a:prstGeom>
          <a:solidFill>
            <a:srgbClr val="1E2F42"/>
          </a:solidFill>
          <a:ln w="12700">
            <a:solidFill>
              <a:srgbClr val="1E2F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054096"/>
            <a:ext cx="91440" cy="9144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09981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🇺🇸 США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465576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E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RIAA vs. Napster (1999–2001)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94560" y="3118104"/>
            <a:ext cx="51206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Перша масова судова справа проти файлообмінника. Napster змусили закрити сервіс. Прецедент у формуванні законодавства про цифрові авторські права.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406640" y="3054096"/>
            <a:ext cx="1417320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06640" y="3054096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Збитки галузі: $300 млн/рік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4041648"/>
            <a:ext cx="8595360" cy="914400"/>
          </a:xfrm>
          <a:prstGeom prst="rect">
            <a:avLst/>
          </a:prstGeom>
          <a:solidFill>
            <a:srgbClr val="1E2F42"/>
          </a:solidFill>
          <a:ln w="12700">
            <a:solidFill>
              <a:srgbClr val="1E2F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4041648"/>
            <a:ext cx="91440" cy="9144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08736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🇨🇳 Китай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445312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E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Масове корпоративне піратство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194560" y="4105656"/>
            <a:ext cx="51206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 встановленого ПЗ – піратське (BSA 2022). Збитки складають ~$6.8 млрд/рік. США регулярно включає КНР до 'Priority Watch List' USTR.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406640" y="4041648"/>
            <a:ext cx="1417320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06640" y="4041648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Рівень піратства: 72%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Піратство як економічне явище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023360" cy="3877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4023360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ПРОГРАЄ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Виробники</a:t>
            </a: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ПЗ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Прямі втрати виручки, менше ресурсів на R&amp;D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3134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Медіаіндустрія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5420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MPAA: $29 млрд/рік збитків лише США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93522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Держава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16382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Неотримані податки, збитки IT-екосистеми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5570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Розробники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78561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Нижча зарплата, скорочення команд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1788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Споживачі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4074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Ризики малварі, відсутність підтримки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0" y="1097280"/>
            <a:ext cx="4297680" cy="38907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1097280"/>
            <a:ext cx="4297680" cy="47548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1097280"/>
            <a:ext cx="4297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ЕКОНОМІЧНА ДИСКУСІЯ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09160" y="16916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Ефект</a:t>
            </a: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заміщення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09160" y="1956816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кожен піратський завантажувач = втрачений продаж. За оцінками, реальні втрати 10–25% від кількості піратських копій.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09160" y="25146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Рекламний ефект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09160" y="2779776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Піратство може підвищувати популярність продукту (напр., Photoshop, Windows). Дехто сплачує після «тест-драйву».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09160" y="33375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Асиметрія</a:t>
            </a: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доходів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09160" y="3602736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країнах з низьким ВВП </a:t>
            </a:r>
            <a:r>
              <a:rPr lang="en-US" sz="10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піратство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єдина можливість доступу до технологій. Глобальна нерівність.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09160" y="41605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Субститут</a:t>
            </a: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vs. доповнення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09160" y="4425696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Піратство стимулює розвиток легальних стримінгових сервісів (Netflix, Spotify) як відповідь ринку.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Методи боротьби з піратством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206240" cy="1828800"/>
          </a:xfrm>
          <a:prstGeom prst="rect">
            <a:avLst/>
          </a:prstGeom>
          <a:solidFill>
            <a:srgbClr val="1E2F42"/>
          </a:solidFill>
          <a:ln w="12700">
            <a:solidFill>
              <a:srgbClr val="1E2F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78992"/>
            <a:ext cx="4206240" cy="5029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7899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Правові</a:t>
            </a: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методи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627632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691640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459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Кримінальна відповідальність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1965960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9202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Цивільні позови (DMCA, ЗУ про АП)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240280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194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Міжнар. договори TRIPS, WIPO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514600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4688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Занесення до 'priority watch list'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1078992"/>
            <a:ext cx="4206240" cy="1828800"/>
          </a:xfrm>
          <a:prstGeom prst="rect">
            <a:avLst/>
          </a:prstGeom>
          <a:solidFill>
            <a:srgbClr val="1E2F42"/>
          </a:solidFill>
          <a:ln w="12700">
            <a:solidFill>
              <a:srgbClr val="1E2F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1078992"/>
            <a:ext cx="4206240" cy="5029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07899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Технічні</a:t>
            </a: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методи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46320" y="1627632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1691640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16459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DRM (Digital Rights Management)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1965960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19202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Серійні ключі та активація онлайн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2240280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2194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Апаратні dongles (ключі захисту)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2514600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24688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Постійне підключення (Denuvo)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3044952"/>
            <a:ext cx="4206240" cy="1828800"/>
          </a:xfrm>
          <a:prstGeom prst="rect">
            <a:avLst/>
          </a:prstGeom>
          <a:solidFill>
            <a:srgbClr val="1E2F42"/>
          </a:solidFill>
          <a:ln w="12700">
            <a:solidFill>
              <a:srgbClr val="1E2F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044952"/>
            <a:ext cx="4206240" cy="5029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04495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Ринкові</a:t>
            </a: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методи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11480" y="3593592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11480" y="3657600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36118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Freemium-моделі (безкоштовний доступ)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11480" y="3931920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8862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Підписки (Netflix, Spotify, Xbox GP)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11480" y="4206240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4160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Зниження цін на ринках EMEA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11480" y="4480560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4434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замість продажу ліцензій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09160" y="3044952"/>
            <a:ext cx="4206240" cy="1828800"/>
          </a:xfrm>
          <a:prstGeom prst="rect">
            <a:avLst/>
          </a:prstGeom>
          <a:solidFill>
            <a:srgbClr val="1E2F42"/>
          </a:solidFill>
          <a:ln w="12700">
            <a:solidFill>
              <a:srgbClr val="1E2F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9160" y="3044952"/>
            <a:ext cx="4206240" cy="5029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304495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Регуляторні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4846320" y="3593592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46320" y="3657600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83480" y="36118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Блокування піратських сайтів ISP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846320" y="3931920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83480" y="38862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Антипіратське законодавство ЄС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846320" y="4206240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83480" y="4160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Координація Interpol/Europol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846320" y="4480560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83480" y="4434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Операції: Onymous, Pangea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1D6FA0"/>
          </a:solidFill>
          <a:ln w="12700">
            <a:solidFill>
              <a:srgbClr val="1D6F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Порівняльний аналіз: Україна vs Світ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1454105"/>
              </p:ext>
            </p:extLst>
          </p:nvPr>
        </p:nvGraphicFramePr>
        <p:xfrm>
          <a:off x="274320" y="1097280"/>
          <a:ext cx="8595360" cy="38404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Показник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🇺🇦 Україна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6F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🇺🇸 США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🇩🇪 Німеччина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🇨🇳 Китай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Рівень піратства ПЗ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57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Збитки від піратства ПЗ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$274 млн/рік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 млрд+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$1.9 млрд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$6.8 млрд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Ключовий закон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ЗУ про авт. право 1994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DMCA 1998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UrhG (рег. EU)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Закон про АП КНР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Блокування сайтів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Часткове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Через суд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Рішення суду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Firewall (масово)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Міжнар. рейтинг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 List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Лідер захисту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Висока захист.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Watch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Тренд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Знижується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Стабільно низький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Знижується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Повільно</a:t>
                      </a: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спадає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Висновки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0" y="1005840"/>
            <a:ext cx="2743200" cy="5486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234440"/>
            <a:ext cx="411480" cy="4114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234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23444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Комп'ютерне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піратство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глобальне економічне явище зі збитками понад $46 млрд/рік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901952"/>
            <a:ext cx="411480" cy="4114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9019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190195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Україна має рівень піратства ~60%, що суттєво перевищує середній по ЄС (25–30%)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2569464"/>
            <a:ext cx="411480" cy="4114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5694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2569464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Боротьба ефективна лише через поєднання правових, технічних та ринкових механізмів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3236976"/>
            <a:ext cx="411480" cy="4114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2369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236976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Легальні альтернативи (стримінг, SaaS, freemium) – найдієвіший ринковий інструмент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" y="3904488"/>
            <a:ext cx="411480" cy="4114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9044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3904488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Гармонізація з EU Digital Single Market Directive – стратегічний пріоритет для України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Дякую за </a:t>
            </a:r>
            <a:r>
              <a:rPr lang="en-US" sz="1300" b="1" dirty="0" err="1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увагу</a:t>
            </a: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☠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Джерела</a:t>
            </a: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інформації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4206240" cy="40233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97280"/>
            <a:ext cx="39867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Міжнародні організації та звіти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1572768"/>
            <a:ext cx="91440" cy="914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5270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BSA | The Software Alliance. Global Software Survey 2022. – Washington: BSA, 2022. – URL: bsa.org/reports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11480" y="1920240"/>
            <a:ext cx="91440" cy="914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8745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USTR. Special 301 Report 2023. – United States Trade Representative, 2023. – URL: ustr.gov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11480" y="2267712"/>
            <a:ext cx="91440" cy="914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2219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WIPO. Understanding Copyright and Related Rights. – Geneva: WIPO, 2016. – URL: wipo.int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11480" y="2615184"/>
            <a:ext cx="91440" cy="914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56946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MPAA / MPA. Global Content Protection. – Motion Picture Association, 2023. – URL: motionpictures.org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09160" y="109728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097280"/>
            <a:ext cx="4206240" cy="402336"/>
          </a:xfrm>
          <a:prstGeom prst="rect">
            <a:avLst/>
          </a:prstGeom>
          <a:solidFill>
            <a:srgbClr val="1D6FA0"/>
          </a:solidFill>
          <a:ln w="12700">
            <a:solidFill>
              <a:srgbClr val="1D6F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8888" y="1097280"/>
            <a:ext cx="39867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Наукові та аналітичні публікації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46320" y="1572768"/>
            <a:ext cx="91440" cy="91440"/>
          </a:xfrm>
          <a:prstGeom prst="ellipse">
            <a:avLst/>
          </a:prstGeom>
          <a:solidFill>
            <a:srgbClr val="1D6FA0"/>
          </a:solidFill>
          <a:ln w="12700">
            <a:solidFill>
              <a:srgbClr val="1D6F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01768" y="15270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Zentner A. Measuring the Effect of File Sharing on Music Purchases // Journal of Law and Economics. – 2006. – Vol. 49, No. 1. – P. 63–90.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846320" y="1920240"/>
            <a:ext cx="91440" cy="91440"/>
          </a:xfrm>
          <a:prstGeom prst="ellipse">
            <a:avLst/>
          </a:prstGeom>
          <a:solidFill>
            <a:srgbClr val="1D6FA0"/>
          </a:solidFill>
          <a:ln w="12700">
            <a:solidFill>
              <a:srgbClr val="1D6F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01768" y="18745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Oberholzer-Gee F., Strumpf K. The Effect of File Sharing on Record Sales // Journal of Political Economy. – 2007. – Vol. 115, No. 1.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846320" y="2267712"/>
            <a:ext cx="91440" cy="91440"/>
          </a:xfrm>
          <a:prstGeom prst="ellipse">
            <a:avLst/>
          </a:prstGeom>
          <a:solidFill>
            <a:srgbClr val="1D6FA0"/>
          </a:solidFill>
          <a:ln w="12700">
            <a:solidFill>
              <a:srgbClr val="1D6F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01768" y="22219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Куцаєнко Т. Захист інтелектуальної власності в Україні в умовах євроінтеграції // Право і суспільство. – 2021. – №4.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301752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017520"/>
            <a:ext cx="420624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3017520"/>
            <a:ext cx="39867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Законодавство та нормативні документи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11480" y="3493008"/>
            <a:ext cx="91440" cy="914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34472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Закон України «Про авторське право і суміжні права» від 23.12.1993 №3792-XII (зі змінами). – URL: zakon.rada.gov.ua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11480" y="3840480"/>
            <a:ext cx="91440" cy="914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37947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Millennium Copyright Act (DMCA), 1998. – USA Congress. – URL: copyright.gov/legislation/dmca.pdf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11480" y="4187952"/>
            <a:ext cx="91440" cy="914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41422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Directive 2019/790/EU on Copyright in the Digital Single Market. – European Parliament, 2019.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09160" y="301752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3017520"/>
            <a:ext cx="4206240" cy="40233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18888" y="3017520"/>
            <a:ext cx="39867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Інтернет-ресурси та медіа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846320" y="3493008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01768" y="34472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TorrentFreak. Piracy Research &amp; Statistics [Електронний ресурс]. – URL: torrentfreak.com (дата звернення: 2025)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846320" y="3840480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01768" y="37947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Держспецзв'язку України. Звіт про кіберзагрози 2023. – URL: cip.gov.ua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46320" y="4187952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01768" y="41422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СБУ. Прес-центр: операції проти піратства 2019–2023. – URL: sbu.gov.ua/news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1404</Words>
  <Application>Microsoft Office PowerPoint</Application>
  <PresentationFormat>On-screen Show (16:9)</PresentationFormat>
  <Paragraphs>216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Комп'ютерне піратство як економічне явище</dc:title>
  <dc:subject>PptxGenJS Presentation</dc:subject>
  <dc:creator>PptxGenJS</dc:creator>
  <cp:lastModifiedBy>Артем Вербицький</cp:lastModifiedBy>
  <cp:revision>5</cp:revision>
  <dcterms:created xsi:type="dcterms:W3CDTF">2026-03-30T17:41:23Z</dcterms:created>
  <dcterms:modified xsi:type="dcterms:W3CDTF">2026-03-30T18:17:24Z</dcterms:modified>
</cp:coreProperties>
</file>