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892A4"/>
                </a:solidFill>
                <a:latin typeface="Arial"/>
              </a:defRPr>
            </a:pPr>
            <a:r>
              <a:rPr lang="uk-UA" sz="1000" b="0" i="0" u="none" strike="noStrike" dirty="0">
                <a:solidFill>
                  <a:srgbClr val="8892A4"/>
                </a:solidFill>
                <a:latin typeface="Arial"/>
              </a:rPr>
              <a:t>Динаміка глобального </a:t>
            </a:r>
            <a:r>
              <a:rPr lang="en-US" sz="1000" b="0" i="0" u="none" strike="noStrike" dirty="0">
                <a:solidFill>
                  <a:srgbClr val="8892A4"/>
                </a:solidFill>
                <a:latin typeface="Arial"/>
              </a:rPr>
              <a:t>e-commerce, $ </a:t>
            </a:r>
            <a:r>
              <a:rPr lang="uk-UA" sz="1000" b="0" i="0" u="none" strike="noStrike" dirty="0">
                <a:solidFill>
                  <a:srgbClr val="8892A4"/>
                </a:solidFill>
                <a:latin typeface="Arial"/>
              </a:rPr>
              <a:t>трлн (</a:t>
            </a:r>
            <a:r>
              <a:rPr lang="en-US" sz="1000" b="0" i="0" u="none" strike="noStrike" dirty="0">
                <a:solidFill>
                  <a:srgbClr val="8892A4"/>
                </a:solidFill>
                <a:latin typeface="Arial"/>
              </a:rPr>
              <a:t>Statista 2024, * – </a:t>
            </a:r>
            <a:r>
              <a:rPr lang="uk-UA" sz="1000" b="0" i="0" u="none" strike="noStrike" dirty="0">
                <a:solidFill>
                  <a:srgbClr val="8892A4"/>
                </a:solidFill>
                <a:latin typeface="Arial"/>
              </a:rPr>
              <a:t>прогноз)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Глобальний e-commerce ($ трлн)</c:v>
                </c:pt>
              </c:strCache>
            </c:strRef>
          </c:tx>
          <c:spPr>
            <a:ln w="38100" cap="flat">
              <a:solidFill>
                <a:srgbClr val="00C2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2FF"/>
              </a:solidFill>
              <a:ln w="9525" cap="flat">
                <a:solidFill>
                  <a:srgbClr val="00C2FF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2026*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3.35</c:v>
                </c:pt>
                <c:pt idx="1">
                  <c:v>4.28</c:v>
                </c:pt>
                <c:pt idx="2">
                  <c:v>4.9400000000000004</c:v>
                </c:pt>
                <c:pt idx="3">
                  <c:v>5.49</c:v>
                </c:pt>
                <c:pt idx="4">
                  <c:v>5.82</c:v>
                </c:pt>
                <c:pt idx="5">
                  <c:v>6.33</c:v>
                </c:pt>
                <c:pt idx="6">
                  <c:v>7.95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730-461A-B0EE-6F1ECFBE5C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1F3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r>
              <a:rPr lang="it-IT" sz="1000" b="0" i="0" u="none" strike="noStrike">
                <a:solidFill>
                  <a:srgbClr val="4A5568"/>
                </a:solidFill>
                <a:latin typeface="Arial"/>
              </a:rPr>
              <a:t>Топ-8 ринків e-commerce, $ млрд (Statista 2024)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E-commerce обсяг ($ млрд, 2023)</c:v>
                </c:pt>
              </c:strCache>
            </c:strRef>
          </c:tx>
          <c:spPr>
            <a:solidFill>
              <a:srgbClr val="0066F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66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B50-4FFB-8A8A-74385A5ED182}"/>
              </c:ext>
            </c:extLst>
          </c:dPt>
          <c:dPt>
            <c:idx val="1"/>
            <c:invertIfNegative val="0"/>
            <c:bubble3D val="0"/>
            <c:spPr>
              <a:solidFill>
                <a:srgbClr val="1A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B50-4FFB-8A8A-74385A5ED182}"/>
              </c:ext>
            </c:extLst>
          </c:dPt>
          <c:dPt>
            <c:idx val="2"/>
            <c:invertIfNegative val="0"/>
            <c:bubble3D val="0"/>
            <c:spPr>
              <a:solidFill>
                <a:srgbClr val="0066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B50-4FFB-8A8A-74385A5ED182}"/>
              </c:ext>
            </c:extLst>
          </c:dPt>
          <c:dPt>
            <c:idx val="3"/>
            <c:invertIfNegative val="0"/>
            <c:bubble3D val="0"/>
            <c:spPr>
              <a:solidFill>
                <a:srgbClr val="1A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B50-4FFB-8A8A-74385A5ED182}"/>
              </c:ext>
            </c:extLst>
          </c:dPt>
          <c:dPt>
            <c:idx val="4"/>
            <c:invertIfNegative val="0"/>
            <c:bubble3D val="0"/>
            <c:spPr>
              <a:solidFill>
                <a:srgbClr val="0066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B50-4FFB-8A8A-74385A5ED182}"/>
              </c:ext>
            </c:extLst>
          </c:dPt>
          <c:dPt>
            <c:idx val="5"/>
            <c:invertIfNegative val="0"/>
            <c:bubble3D val="0"/>
            <c:spPr>
              <a:solidFill>
                <a:srgbClr val="1A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B50-4FFB-8A8A-74385A5ED182}"/>
              </c:ext>
            </c:extLst>
          </c:dPt>
          <c:dPt>
            <c:idx val="6"/>
            <c:invertIfNegative val="0"/>
            <c:bubble3D val="0"/>
            <c:spPr>
              <a:solidFill>
                <a:srgbClr val="0066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B50-4FFB-8A8A-74385A5ED182}"/>
              </c:ext>
            </c:extLst>
          </c:dPt>
          <c:dPt>
            <c:idx val="7"/>
            <c:invertIfNegative val="0"/>
            <c:bubble3D val="0"/>
            <c:spPr>
              <a:solidFill>
                <a:srgbClr val="1A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B50-4FFB-8A8A-74385A5ED18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D374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Китай</c:v>
                </c:pt>
                <c:pt idx="1">
                  <c:v>США</c:v>
                </c:pt>
                <c:pt idx="2">
                  <c:v>Велика Бр.</c:v>
                </c:pt>
                <c:pt idx="3">
                  <c:v>Японія</c:v>
                </c:pt>
                <c:pt idx="4">
                  <c:v>Корея</c:v>
                </c:pt>
                <c:pt idx="5">
                  <c:v>Німеч.</c:v>
                </c:pt>
                <c:pt idx="6">
                  <c:v>Франція</c:v>
                </c:pt>
                <c:pt idx="7">
                  <c:v>Індія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2292</c:v>
                </c:pt>
                <c:pt idx="1">
                  <c:v>1119</c:v>
                </c:pt>
                <c:pt idx="2">
                  <c:v>169</c:v>
                </c:pt>
                <c:pt idx="3">
                  <c:v>144</c:v>
                </c:pt>
                <c:pt idx="4">
                  <c:v>127</c:v>
                </c:pt>
                <c:pt idx="5">
                  <c:v>90</c:v>
                </c:pt>
                <c:pt idx="6">
                  <c:v>75</c:v>
                </c:pt>
                <c:pt idx="7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B50-4FFB-8A8A-74385A5ED1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584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274320"/>
            <a:ext cx="1645920" cy="1645920"/>
          </a:xfrm>
          <a:prstGeom prst="ellipse">
            <a:avLst/>
          </a:prstGeom>
          <a:solidFill>
            <a:srgbClr val="0066FF">
              <a:alpha val="15000"/>
            </a:srgbClr>
          </a:solidFill>
          <a:ln w="12700">
            <a:solidFill>
              <a:srgbClr val="0066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1371600"/>
            <a:ext cx="1097280" cy="1097280"/>
          </a:xfrm>
          <a:prstGeom prst="ellipse">
            <a:avLst/>
          </a:prstGeom>
          <a:solidFill>
            <a:srgbClr val="00C2FF">
              <a:alpha val="12000"/>
            </a:srgbClr>
          </a:solidFill>
          <a:ln w="12700">
            <a:solidFill>
              <a:srgbClr val="00C2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011680"/>
            <a:ext cx="2194560" cy="2194560"/>
          </a:xfrm>
          <a:prstGeom prst="ellipse">
            <a:avLst/>
          </a:prstGeom>
          <a:solidFill>
            <a:srgbClr val="00E5C3">
              <a:alpha val="10000"/>
            </a:srgbClr>
          </a:solidFill>
          <a:ln w="12700">
            <a:solidFill>
              <a:srgbClr val="00E5C3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🌐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365760" y="45720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ЦИФРОВА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ЕКОНОМІКА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1783080" cy="3474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889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Електронний бізнес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2788920"/>
            <a:ext cx="1783080" cy="3474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27889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2788920"/>
            <a:ext cx="1783080" cy="3474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7889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Інтернет-торгівля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291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Сутність • Статистика • Кейси компаній • Тренди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434840"/>
            <a:ext cx="2743200" cy="64008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434840"/>
            <a:ext cx="27432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480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$6.3 трлн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44805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Глобальний e-commerce 2024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4434840"/>
            <a:ext cx="2743200" cy="64008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4434840"/>
            <a:ext cx="27432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4480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5.5 млрд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0" y="44805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Інтернет-користувачів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4434840"/>
            <a:ext cx="2743200" cy="64008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4434840"/>
            <a:ext cx="27432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4480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98080" y="44805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ВВП – цифрова економіка</a:t>
            </a:r>
            <a:endParaRPr lang="en-US" sz="9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876343-E976-078B-2B54-7B8D8A05669C}"/>
              </a:ext>
            </a:extLst>
          </p:cNvPr>
          <p:cNvSpPr txBox="1"/>
          <p:nvPr/>
        </p:nvSpPr>
        <p:spPr>
          <a:xfrm>
            <a:off x="365760" y="3839140"/>
            <a:ext cx="4617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uk-UA" sz="1200" dirty="0">
                <a:solidFill>
                  <a:srgbClr val="8E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Підготував студент ІПС-41 Вербицький Артем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 </a:t>
            </a:r>
            <a:r>
              <a:rPr lang="en-US" sz="2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економіка</a:t>
            </a: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що це?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11887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109728" cy="1188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8183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 економіка (Digital Economy) – економічна діяльність, що базується на цифрових технологіях: інтернеті, хмарних обчисленнях, великих даних, штучному інтелекті та мобільних платформах. Охоплює виробництво, розповсюдження та споживання цифрових товарів і послуг.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2514600"/>
            <a:ext cx="20116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514600"/>
            <a:ext cx="2011680" cy="9144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6060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🏗️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" y="33649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 інфраструктура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85876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Інтернет, 5G, дата-центри, хмари (AWS, Azure, GCP)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50592" y="2514600"/>
            <a:ext cx="20116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2514600"/>
            <a:ext cx="2011680" cy="91440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26060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💼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542032" y="33649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Електронний бізнес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42032" y="385876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Цифрові бізнес-процеси, CRM, ERP, B2B платформи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6864" y="2514600"/>
            <a:ext cx="20116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2514600"/>
            <a:ext cx="2011680" cy="91440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26060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🛒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718304" y="33649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Електронна комерція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18304" y="385876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Онлайн-продажі товарів і послуг, маркетплейси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03136" y="2514600"/>
            <a:ext cx="20116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03136" y="2514600"/>
            <a:ext cx="2011680" cy="914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03136" y="26060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📲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894576" y="33649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Цифрові послуги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94576" y="385876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Стримінг, SaaS, fintech, edtech, healthtech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Глобальна цифрова </a:t>
            </a:r>
            <a:r>
              <a:rPr lang="en-US" sz="2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економіка</a:t>
            </a: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цифри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057400" cy="192024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20574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61872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$6.3 трлн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02996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Глобальний e-commerce 2023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270662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 2024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41448" y="1143000"/>
            <a:ext cx="2057400" cy="192024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1143000"/>
            <a:ext cx="2057400" cy="7315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1261872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6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32888" y="202996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Частка цифр. економіки у світовому ВВП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41448" y="270662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2023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54296" y="1143000"/>
            <a:ext cx="2057400" cy="192024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54296" y="1143000"/>
            <a:ext cx="2057400" cy="73152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1261872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C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5.5 млрд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45736" y="202996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Інтернет-користувачів у світі (2024)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54296" y="270662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 2024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67144" y="1143000"/>
            <a:ext cx="2057400" cy="192024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67144" y="1143000"/>
            <a:ext cx="2057400" cy="7315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67144" y="1261872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 трлн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58584" y="202996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цифрової економіки 2030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67144" y="270662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Global</a:t>
            </a:r>
            <a:endParaRPr lang="en-US" sz="8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28600" y="3127248"/>
          <a:ext cx="86868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Електронний бізнес vs Електронна комерція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3931920" cy="50292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Електронний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бізнес (E-Business)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109728" cy="109728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190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Ширше поняття: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08760" y="171907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Охоплює всі бізнес-процеси через інтернет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368296"/>
            <a:ext cx="109728" cy="109728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0428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Внутрішні процеси: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08760" y="230428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CRM, SCM, HRM у цифровому форматі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953512"/>
            <a:ext cx="109728" cy="109728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8950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взаємодія: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508760" y="288950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Електронний обмін даними між компаніями (EDI)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538728"/>
            <a:ext cx="109728" cy="109728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747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Комунікації: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08760" y="34747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Email-маркетинг, відеоконференції, CMS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123944"/>
            <a:ext cx="109728" cy="109728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05993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08760" y="405993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SAP, Salesforce, Oracle, Microsoft 365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97680" y="2560320"/>
            <a:ext cx="548640" cy="54864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114300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1143000"/>
            <a:ext cx="3931920" cy="502920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1430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Електронна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комерція (E-Commerce)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74920" y="1783080"/>
            <a:ext cx="109728" cy="109728"/>
          </a:xfrm>
          <a:prstGeom prst="ellipse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17190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Вужче поняття: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72200" y="171907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Купівля-продаж товарів і послуг онлайн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74920" y="2368296"/>
            <a:ext cx="109728" cy="109728"/>
          </a:xfrm>
          <a:prstGeom prst="ellipse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230428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Моделі: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72200" y="230428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B2C, B2B, C2C, D2C, G2C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74920" y="2953512"/>
            <a:ext cx="109728" cy="109728"/>
          </a:xfrm>
          <a:prstGeom prst="ellipse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288950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Платежі: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72200" y="288950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Онлайн-транзакції, цифрові гаманці, крипто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74920" y="3538728"/>
            <a:ext cx="109728" cy="109728"/>
          </a:xfrm>
          <a:prstGeom prst="ellipse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34747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Канали: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72200" y="34747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Сайти, маркетплейси, соцмережі, мобільні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74920" y="4123944"/>
            <a:ext cx="109728" cy="109728"/>
          </a:xfrm>
          <a:prstGeom prst="ellipse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7800" y="405993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172200" y="405993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Amazon, Alibaba, Rozetka, Prom.ua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Моделі електронної комерції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2743200" cy="178308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15568"/>
            <a:ext cx="2743200" cy="9144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07008"/>
            <a:ext cx="685800" cy="45720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20700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20700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🏬→👤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709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Business-to-Consumer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0040" y="19933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Бізнес продає напряму споживачу. Найпоширеніша модель інтернет-торгівлі.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505456"/>
            <a:ext cx="2560320" cy="292608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0545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Amazon, Rozetka, Zalando  |  60% усього e-commerce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36392" y="1115568"/>
            <a:ext cx="2743200" cy="178308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36392" y="1115568"/>
            <a:ext cx="2743200" cy="91440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36392" y="1207008"/>
            <a:ext cx="685800" cy="457200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36392" y="120700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21024" y="120700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🏭→🏢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27832" y="1709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Business-to-Business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27832" y="19933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Компанії продають одна одній. Більші суми транзакцій, довші цикли.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27832" y="2505456"/>
            <a:ext cx="2560320" cy="292608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27832" y="250545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Alibaba, SAP, Oracle  |  $7.7 трлн обороту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44184" y="1115568"/>
            <a:ext cx="2743200" cy="178308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44184" y="1115568"/>
            <a:ext cx="2743200" cy="91440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44184" y="1207008"/>
            <a:ext cx="685800" cy="457200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44184" y="120700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C2C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28816" y="120700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👤→👤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35624" y="1709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Consumer-to-Consumer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35624" y="19933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Споживачі торгують між собою через платформу-посередника.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35624" y="2505456"/>
            <a:ext cx="2560320" cy="292608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35624" y="250545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eBay, OLX, Prom.ua  |  Зростання 18%/рік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3035808"/>
            <a:ext cx="2743200" cy="178308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3035808"/>
            <a:ext cx="2743200" cy="914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3127248"/>
            <a:ext cx="685800" cy="4572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312724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D2C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3232" y="312724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🏭→👤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20040" y="36301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Direct-to-Consumer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20040" y="39136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Виробник продає напряму, без посередників. Вищий контроль бренду.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4425696"/>
            <a:ext cx="2560320" cy="292608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4256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Nike.com, Apple Store  |  $212 млрд ринок (США)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136392" y="3035808"/>
            <a:ext cx="2743200" cy="178308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136392" y="3035808"/>
            <a:ext cx="2743200" cy="91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36392" y="3127248"/>
            <a:ext cx="685800" cy="4572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36392" y="312724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G2C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621024" y="312724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🏛️→👤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227832" y="36301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Government-to-Consumer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3227832" y="39136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Державні послуги онлайн: оплата податків, документи, дозволи.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27832" y="4425696"/>
            <a:ext cx="2560320" cy="292608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27832" y="44256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Дія (Україна), GOV.UK  |  Понад 120 країн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044184" y="3035808"/>
            <a:ext cx="2743200" cy="178308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044184" y="3035808"/>
            <a:ext cx="2743200" cy="9144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44184" y="3127248"/>
            <a:ext cx="685800" cy="45720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44184" y="312724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C2B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528816" y="312724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👤→🏢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135624" y="36301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Consumer-to-Business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135624" y="39136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Фізособи пропонують послуги/продукти бізнесу.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135624" y="4425696"/>
            <a:ext cx="2560320" cy="292608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35624" y="44256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Upwork, Fiverr, Shutterstock  |  $455 млрд фриланс-ринок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64592"/>
            <a:ext cx="1371600" cy="7772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4592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783080" y="274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NETFLIX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783080" y="777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Кейс: цифровий бізнес нового покоління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1155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Заснована: 1997, США  |  Модель: D2C Streaming  |  Присутність: 190+ країн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536192"/>
            <a:ext cx="201168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536192"/>
            <a:ext cx="201168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276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260 млн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" y="22128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Підписників (2024 Q1)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50592" y="1536192"/>
            <a:ext cx="201168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1536192"/>
            <a:ext cx="2011680" cy="640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0592" y="16276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$33.7 млрд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450592" y="22128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Виручка 2023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6864" y="1536192"/>
            <a:ext cx="201168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536192"/>
            <a:ext cx="201168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6276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 млрд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26864" y="22128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на контент 2023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03136" y="1536192"/>
            <a:ext cx="201168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1536192"/>
            <a:ext cx="2011680" cy="640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16276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$1,600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03136" y="22128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Ціна акції NFLX (2024)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834640"/>
            <a:ext cx="4114800" cy="21031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834640"/>
            <a:ext cx="4114800" cy="38404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8346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Еволюція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бізнес-моделі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3319272"/>
            <a:ext cx="731520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3192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1997–2006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3000" y="33192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DVD-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прокат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поштою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3639312"/>
            <a:ext cx="731520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6393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2007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43000" y="363931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стримінгу онлайн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3959352"/>
            <a:ext cx="731520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9593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43000" y="395935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Власний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контент (House of Cards)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4279392"/>
            <a:ext cx="731520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279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43000" y="427939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Глобальна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експансія 190 країн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4599432"/>
            <a:ext cx="731520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5994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2022–24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43000" y="459943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Ad-supported план + ігри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63440" y="2834640"/>
            <a:ext cx="4206240" cy="21031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2834640"/>
            <a:ext cx="420624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28346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Фактори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успіху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754880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</a:t>
            </a:r>
            <a:r>
              <a:rPr lang="en-US" sz="1100" b="1" dirty="0" err="1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рекомендації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565392" y="33101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персоналізації утримує глядача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54880" y="36941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Global-local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565392" y="369417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кожною мовою (Squid Game, ЛИХО і т.д.)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54880" y="4078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65392" y="407822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 на основі даних 260 млн підписників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54880" y="4462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565392" y="44622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Стабільний MRR, Ad-tier для росту аудиторії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91440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777240" cy="77724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</a:rPr>
              <a:t>♪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88720" y="2286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SPOTIFY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88720" y="777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Кейс: freemium як двигун цифрового бізнесу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1155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Заснована: 2006, Швеція  |  Модель: Freemium SaaS  |  Присутність: 180+ ринків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536192"/>
            <a:ext cx="2011680" cy="1188720"/>
          </a:xfrm>
          <a:prstGeom prst="rect">
            <a:avLst/>
          </a:prstGeom>
          <a:solidFill>
            <a:srgbClr val="1A1F1A"/>
          </a:solidFill>
          <a:ln w="12700">
            <a:solidFill>
              <a:srgbClr val="2A3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536192"/>
            <a:ext cx="2011680" cy="640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276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602 млн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" y="22128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Активних користувачів (2024)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50592" y="1536192"/>
            <a:ext cx="2011680" cy="1188720"/>
          </a:xfrm>
          <a:prstGeom prst="rect">
            <a:avLst/>
          </a:prstGeom>
          <a:solidFill>
            <a:srgbClr val="1A1F1A"/>
          </a:solidFill>
          <a:ln w="12700">
            <a:solidFill>
              <a:srgbClr val="2A3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1536192"/>
            <a:ext cx="2011680" cy="64008"/>
          </a:xfrm>
          <a:prstGeom prst="rect">
            <a:avLst/>
          </a:prstGeom>
          <a:solidFill>
            <a:srgbClr val="17A843"/>
          </a:solidFill>
          <a:ln w="12700">
            <a:solidFill>
              <a:srgbClr val="17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0592" y="16276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236 млн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450592" y="22128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Платних підписників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6864" y="1536192"/>
            <a:ext cx="2011680" cy="1188720"/>
          </a:xfrm>
          <a:prstGeom prst="rect">
            <a:avLst/>
          </a:prstGeom>
          <a:solidFill>
            <a:srgbClr val="1A1F1A"/>
          </a:solidFill>
          <a:ln w="12700">
            <a:solidFill>
              <a:srgbClr val="2A3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536192"/>
            <a:ext cx="2011680" cy="640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6276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€13.2 млрд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26864" y="22128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Виручка 2023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03136" y="1536192"/>
            <a:ext cx="2011680" cy="1188720"/>
          </a:xfrm>
          <a:prstGeom prst="rect">
            <a:avLst/>
          </a:prstGeom>
          <a:solidFill>
            <a:srgbClr val="1A1F1A"/>
          </a:solidFill>
          <a:ln w="12700">
            <a:solidFill>
              <a:srgbClr val="2A3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1536192"/>
            <a:ext cx="2011680" cy="64008"/>
          </a:xfrm>
          <a:prstGeom prst="rect">
            <a:avLst/>
          </a:prstGeom>
          <a:solidFill>
            <a:srgbClr val="17A843"/>
          </a:solidFill>
          <a:ln w="12700">
            <a:solidFill>
              <a:srgbClr val="17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16276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100+ млн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03136" y="22128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Треків у бібліотеці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834640"/>
            <a:ext cx="4114800" cy="2103120"/>
          </a:xfrm>
          <a:prstGeom prst="rect">
            <a:avLst/>
          </a:prstGeom>
          <a:solidFill>
            <a:srgbClr val="121212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834640"/>
            <a:ext cx="4114800" cy="38404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8346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Freemium-</a:t>
            </a:r>
            <a:r>
              <a:rPr lang="en-US" sz="1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лійка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Spotify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" y="33375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Безкоштовні (Free)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0" y="3401568"/>
            <a:ext cx="1645920" cy="25603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0" y="3401568"/>
            <a:ext cx="987552" cy="256032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84310" y="337413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366 млн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38404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Платні (Premium)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0" y="3904488"/>
            <a:ext cx="1645920" cy="25603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60320" y="3904488"/>
            <a:ext cx="641909" cy="25603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84310" y="386051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236 млн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4343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Конверсія Free→Premium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60320" y="4407408"/>
            <a:ext cx="1645920" cy="25603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0" y="4407408"/>
            <a:ext cx="641909" cy="256032"/>
          </a:xfrm>
          <a:prstGeom prst="rect">
            <a:avLst/>
          </a:prstGeom>
          <a:solidFill>
            <a:srgbClr val="17A843"/>
          </a:solidFill>
          <a:ln w="12700">
            <a:solidFill>
              <a:srgbClr val="17A84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436168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~39%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2834640"/>
            <a:ext cx="4206240" cy="2103120"/>
          </a:xfrm>
          <a:prstGeom prst="rect">
            <a:avLst/>
          </a:prstGeom>
          <a:solidFill>
            <a:srgbClr val="121212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2834640"/>
            <a:ext cx="4206240" cy="384048"/>
          </a:xfrm>
          <a:prstGeom prst="rect">
            <a:avLst/>
          </a:prstGeom>
          <a:solidFill>
            <a:srgbClr val="121212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8346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Spotify – цифровий феномен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54880" y="331012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Персоналізація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46520" y="33101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Weekly, Wrapped – AI на основі слухання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54880" y="369417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Ринок</a:t>
            </a:r>
            <a:r>
              <a:rPr lang="en-US" sz="110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Швеції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46520" y="36941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Вийшла зі Стокгольма, стала №1 у 180 країнах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54880" y="40782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Подкасти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46520" y="40782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Придбала Anchor, Gimlet – диверсифікація контенту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54880" y="446227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Ціноутворення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46520" y="44622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€10.99/міс Premium vs безкоштовна реклама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Інтернет-торгівля: регіональна статистика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97280"/>
            <a:ext cx="3108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97280"/>
            <a:ext cx="3108960" cy="43891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09728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Цікаві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факти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852160" y="1645920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08914" y="1645920"/>
            <a:ext cx="27510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Китай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52% глобального e-commerce. Один «День Холостяка» (11.11) = $156 млрд за добу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852160" y="2121408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008914" y="2121408"/>
            <a:ext cx="27510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Україна: ~$2.3 млрд e-commerce 2023. Зростання попри війну за рахунок Rozetka, Prom.ua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2160" y="2596896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08914" y="2596896"/>
            <a:ext cx="27510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commerce = 73% усіх онлайн-покупок у 2024 (Insider Intelligence)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852160" y="3072384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008914" y="3072384"/>
            <a:ext cx="27510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Середній цикл покупки в e-commerce: 19 хвилин від першого кліку до оплати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852160" y="3547872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008914" y="3547872"/>
            <a:ext cx="27510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BOPIS (Buy Online, Pick Up In Store) зростає на 40%/рік у ЄС та США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4407408"/>
            <a:ext cx="91440" cy="59436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462272"/>
            <a:ext cx="8321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Україна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цифровій економіці: ВВП від IT-сектору ~5% ($7.1 млрд, 2022). 300 000+ IT-спеціалістів.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Дія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топ-1 державний застосунок Європи.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Платформна економіка та бізнес-моделі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2743200" cy="178308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15568"/>
            <a:ext cx="73152" cy="17830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612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93192" y="116869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(Підписка)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773936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Регулярний дохід, низький відтік, передбачуваний MRR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59152"/>
            <a:ext cx="2542032" cy="438912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35915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Netflix, Spotify, Adobe CC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" y="256946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$650 млрд ринок 2025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36392" y="1115568"/>
            <a:ext cx="2743200" cy="178308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36392" y="1115568"/>
            <a:ext cx="73152" cy="17830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11612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73552" y="1179866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(Маркетплейс)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73552" y="1773936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з'єднує продавців і покупців, заробляє комісію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73552" y="2359152"/>
            <a:ext cx="2542032" cy="438912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00984" y="235915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Amazon, Alibaba, Rozetka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00984" y="256946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67% e-com via marketplace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44184" y="1115568"/>
            <a:ext cx="2743200" cy="178308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44184" y="1115568"/>
            <a:ext cx="73152" cy="178308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1344" y="11612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208776" y="116128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81344" y="1773936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Базовий продукт безкоштовно,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розширений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платно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81344" y="2359152"/>
            <a:ext cx="2542032" cy="438912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08776" y="235915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Spotify, Zoom, Dropbox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08776" y="256946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Конверсія 2–10% в платне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3035808"/>
            <a:ext cx="2743200" cy="178308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035808"/>
            <a:ext cx="73152" cy="1783080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0815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393192" y="3099816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E5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(Cloud Software)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3694176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ПЗ як послуга, доступ через браузер/API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279392"/>
            <a:ext cx="2542032" cy="438912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42793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Salesforce, SAP, HubSpot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3192" y="448970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$232 млрд ринок 2024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36392" y="3035808"/>
            <a:ext cx="2743200" cy="178308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36392" y="3035808"/>
            <a:ext cx="73152" cy="17830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73552" y="30815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3300984" y="3065853"/>
            <a:ext cx="2039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 Economy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300" b="1" dirty="0" err="1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Таланти</a:t>
            </a:r>
            <a:r>
              <a:rPr lang="en-US" sz="13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</a:t>
            </a:r>
            <a:r>
              <a:rPr lang="uk-UA" sz="13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запитом</a:t>
            </a:r>
            <a:r>
              <a:rPr lang="en-US" sz="13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273552" y="3694176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для фрілансерів та тимчасової зайнятості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73552" y="4279392"/>
            <a:ext cx="2542032" cy="438912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00984" y="42793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Upwork, Fiverr, Bolt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00984" y="448970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$455 млрд фриланс-ринок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44184" y="3035808"/>
            <a:ext cx="2743200" cy="178308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44184" y="3035808"/>
            <a:ext cx="73152" cy="178308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81344" y="30815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6208776" y="3066869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D2C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(Прямі продажі)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181344" y="3694176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Виробник контролює весь шлях від виробн. до клієнта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81344" y="4279392"/>
            <a:ext cx="2542032" cy="438912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08776" y="42793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Nike.com, Tesla, Apple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08776" y="448970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$212 млрд ринок США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Тренди цифрової економіки 2024–2030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206240" cy="1170432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73152" cy="11704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25296"/>
            <a:ext cx="658368" cy="47548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188720"/>
            <a:ext cx="3218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в бізнесі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77393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Copilot, Gemini змінюють автоматизацію. McKinsey: $4.4 трлн щорічного приросту від AI.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2377440"/>
            <a:ext cx="4206240" cy="1170432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377440"/>
            <a:ext cx="73152" cy="117043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487168"/>
            <a:ext cx="658368" cy="47548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48716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0" y="2450592"/>
            <a:ext cx="3218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Commerce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03580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Shop, Instagram Shopping – продажі напряму у соцмережах. $1.3 трлн ринок до 2025.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639312"/>
            <a:ext cx="4206240" cy="1170432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639312"/>
            <a:ext cx="73152" cy="1170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749040"/>
            <a:ext cx="658368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49040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712464"/>
            <a:ext cx="3218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AR/VR Commerce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297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Примірка товарів у AR (IKEA, Amazon). Meta Horizon Worlds – 3D-магазини у метавсесвіті.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1115568"/>
            <a:ext cx="4206240" cy="1170432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115568"/>
            <a:ext cx="73152" cy="117043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225296"/>
            <a:ext cx="658368" cy="47548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25296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Q⚡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1188720"/>
            <a:ext cx="3218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Commerce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177393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 за 10–30 хв: Glovo, Bolt Food, Meest. Ринок $72 млрд до 2026.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377440"/>
            <a:ext cx="4206240" cy="1170432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377440"/>
            <a:ext cx="73152" cy="1170432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2487168"/>
            <a:ext cx="658368" cy="475488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48716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HDL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3000" y="2450592"/>
            <a:ext cx="3218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Commerce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11480" y="303580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Відокремлення frontend від backend. Повна гнучкість для омніканальних продажів.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3639312"/>
            <a:ext cx="4206240" cy="1170432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639312"/>
            <a:ext cx="73152" cy="117043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3749040"/>
            <a:ext cx="658368" cy="47548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749040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77840" y="3712464"/>
            <a:ext cx="3218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Digital Economy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46320" y="4297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та сталий розвиток: зелені дата-центри, вуглецева нейтральність. Microsoft Net Zero 2030.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</a:t>
            </a: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економіка України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011680" cy="7315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6187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$7.1 млрд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89280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IT-експорт 2022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14300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143000"/>
            <a:ext cx="2011680" cy="7315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26187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6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50592" y="189280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у ВВП України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114300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143000"/>
            <a:ext cx="2011680" cy="73152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26187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C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$2.3 млрд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26864" y="189280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ринок 2023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03136" y="114300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1143000"/>
            <a:ext cx="2011680" cy="73152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126187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C4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 тис.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03136" y="189280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IT-спеціалістів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514600"/>
            <a:ext cx="41148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514600"/>
            <a:ext cx="4114800" cy="43891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514600"/>
            <a:ext cx="38953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Ключові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гравці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4048" y="3035808"/>
            <a:ext cx="1097280" cy="3474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0358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Rozetka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36192" y="30358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Найбільший e-commerce маркетплейс. 12 млн відвідувачів/міс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13632" y="303580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маркетплейс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84048" y="3511296"/>
            <a:ext cx="1097280" cy="3474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51129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Prom.ua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36192" y="35112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B2B+B2C платформа, 500 тис. продавців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13632" y="351129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84048" y="3986784"/>
            <a:ext cx="1097280" cy="3474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9867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Monobank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536192" y="39867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Перший мобільний банк без офісів. 7 млн клієнтів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13632" y="398678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/ Neobank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84048" y="4462272"/>
            <a:ext cx="1097280" cy="3474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44622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Дія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536192" y="44622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Держпослуги у смартфоні. 20 млн користувачів, 120+ послуг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13632" y="446227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GovTech / G2C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63440" y="2514600"/>
            <a:ext cx="4206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2514600"/>
            <a:ext cx="4206240" cy="438912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2514600"/>
            <a:ext cx="3986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Стратегія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цифровізації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773168" y="3072384"/>
            <a:ext cx="128016" cy="128016"/>
          </a:xfrm>
          <a:prstGeom prst="ellipse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56048" y="30175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Дія City: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961888" y="301752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Спеціальний IT-режим, 800+ компаній-резидентів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73168" y="3511296"/>
            <a:ext cx="128016" cy="128016"/>
          </a:xfrm>
          <a:prstGeom prst="ellipse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345643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Digital Market: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961888" y="345643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Гармонізація з цифровим ринком ЄС (угода 2022)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73168" y="3950208"/>
            <a:ext cx="128016" cy="128016"/>
          </a:xfrm>
          <a:prstGeom prst="ellipse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56048" y="389534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Broadband 2030: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61888" y="3895344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Охоплення широкосмуговим інтернетом 95% домогосп.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773168" y="4389120"/>
            <a:ext cx="128016" cy="128016"/>
          </a:xfrm>
          <a:prstGeom prst="ellipse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56048" y="433425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Strategy: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961888" y="4334256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Національна стратегія ШІ до 2030 року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956048" y="47731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961888" y="477316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Висновки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0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5568" y="1170432"/>
            <a:ext cx="745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економіка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$6.3 трлн і зростає. До 2030 – понад $11 трлн за прогнозами McKinsey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883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15568" y="1883664"/>
            <a:ext cx="745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і Spotify – еталонні приклади того, як підписна модель та AI-персоналізація змінюють галузі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596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uk-UA" sz="2200" dirty="0"/>
              <a:t>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15568" y="2596896"/>
            <a:ext cx="745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трансформує роздрібну торгівлю: 26% всіх покупок у 2024 – онлайн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15568" y="3310128"/>
            <a:ext cx="745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Україна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IT-нація: $7.1 млрд IT-експорту, Дія як еталон GovTech, Rozetka як лідер e-commerce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15568" y="4023360"/>
            <a:ext cx="745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Social Commerce та Quick Commerce – три ключові тренди, що визначатимуть 2025–2030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</a:t>
            </a:r>
            <a:r>
              <a:rPr lang="en-US" sz="14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економіка</a:t>
            </a:r>
            <a:r>
              <a:rPr lang="en-US" sz="14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не майбутнє. Це теперішнє.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Джерела</a:t>
            </a: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інформації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206240" cy="402336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97280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Міжнародні організації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591056"/>
            <a:ext cx="91440" cy="9144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36192"/>
            <a:ext cx="3767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Statista. Global E-Commerce Report 2024. – URL: statista.com/outlook/dmo/ecommerce/worldwide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1929384"/>
            <a:ext cx="91440" cy="9144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874520"/>
            <a:ext cx="3767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ITU. Measuring Digital Development: Facts and Figures 2024. – Geneva: ITU, 2024. – URL: itu.int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2267712"/>
            <a:ext cx="91440" cy="9144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212848"/>
            <a:ext cx="3767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Global Institute. The Digital Economy Report 2023. – URL: mckinsey.com/digital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606040"/>
            <a:ext cx="91440" cy="9144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551176"/>
            <a:ext cx="3767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Bank. Digital Economy for Africa: Country Diagnostic. – Washington: WB, 2023.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97280"/>
            <a:ext cx="4206240" cy="40233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097280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Корпоративні звіти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591056"/>
            <a:ext cx="91440" cy="9144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1536192"/>
            <a:ext cx="3767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Inc. Annual Report 2023 (Form 10-K). – URL: ir.netflix.net/ir/doc/annual-reports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46320" y="1929384"/>
            <a:ext cx="91440" cy="9144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1874520"/>
            <a:ext cx="3767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Technology S.A. Annual Report 2023. – URL: investors.spotify.com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46320" y="2267712"/>
            <a:ext cx="91440" cy="9144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2212848"/>
            <a:ext cx="3767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Annual Report 2023. – URL: ir.aboutamazon.com/annual-reports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0175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17520"/>
            <a:ext cx="4206240" cy="402336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017520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Наукові публікації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3511296"/>
            <a:ext cx="91440" cy="91440"/>
          </a:xfrm>
          <a:prstGeom prst="ellipse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456432"/>
            <a:ext cx="3767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Tapscott D. The Digital Economy: Rethinking Promise and Peril in the Age of Networked Intelligence. – McGraw-Hill, 2014.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3849624"/>
            <a:ext cx="91440" cy="91440"/>
          </a:xfrm>
          <a:prstGeom prst="ellipse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794760"/>
            <a:ext cx="3767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Brynjolfsson E., McAfee A. The Second Machine Age. – W.W. Norton &amp; Company, 2014.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1480" y="4187952"/>
            <a:ext cx="91440" cy="91440"/>
          </a:xfrm>
          <a:prstGeom prst="ellipse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133088"/>
            <a:ext cx="3767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Єресько І. Цифрова трансформація економіки України // Економіка та суспільство. – 2023. – №48.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30175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017520"/>
            <a:ext cx="4206240" cy="40233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3017520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Інтернет-ресурси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46320" y="3511296"/>
            <a:ext cx="91440" cy="9144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01768" y="3456432"/>
            <a:ext cx="3767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Мінцифри України. </a:t>
            </a:r>
            <a:r>
              <a:rPr lang="en-US" sz="85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Дія</a:t>
            </a: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статистика використання 2024. – URL: diia.gov.ua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46320" y="3849624"/>
            <a:ext cx="91440" cy="9144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01768" y="3794760"/>
            <a:ext cx="3767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 Group. Ринок e-commerce України 2023: підсумки. – URL: evo.company/news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46320" y="4187952"/>
            <a:ext cx="91440" cy="9144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01768" y="4133088"/>
            <a:ext cx="3767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Intelligence. Global E-Commerce Forecast 2024. – URL: insiderintelligence.com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1587</Words>
  <Application>Microsoft Office PowerPoint</Application>
  <PresentationFormat>On-screen Show (16:9)</PresentationFormat>
  <Paragraphs>285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Цифрова економіка. Електронний бізнес. Електронна комерція.</dc:title>
  <dc:subject>PptxGenJS Presentation</dc:subject>
  <dc:creator>PptxGenJS</dc:creator>
  <cp:lastModifiedBy>Артем Вербицький</cp:lastModifiedBy>
  <cp:revision>4</cp:revision>
  <dcterms:created xsi:type="dcterms:W3CDTF">2026-03-30T18:28:41Z</dcterms:created>
  <dcterms:modified xsi:type="dcterms:W3CDTF">2026-03-30T18:46:43Z</dcterms:modified>
</cp:coreProperties>
</file>