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A2A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91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604A-29BB-F124-0D77-CAF3A151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5E0E0-B2B3-F236-4D2D-2677C1D3F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26F03-5D7F-A11E-1FEE-D36DE6B4B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F1210-6EB9-A012-95A8-D7B370296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89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A763-23D3-E16E-BF93-371AB7EBE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3720F-AE8B-D2AB-E817-4DB174FC3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EA1F7-6A21-35D3-7DBA-0B6C7BFD4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F4FD7-3D1A-C8F8-8284-BCA24D382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20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growth.design/" TargetMode="External"/><Relationship Id="rId3" Type="http://schemas.openxmlformats.org/officeDocument/2006/relationships/hyperlink" Target="http://lennysnewsletter.com/" TargetMode="External"/><Relationship Id="rId7" Type="http://schemas.openxmlformats.org/officeDocument/2006/relationships/hyperlink" Target="http://productled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emrush.com/" TargetMode="External"/><Relationship Id="rId5" Type="http://schemas.openxmlformats.org/officeDocument/2006/relationships/hyperlink" Target="http://similarweb.com/" TargetMode="External"/><Relationship Id="rId4" Type="http://schemas.openxmlformats.org/officeDocument/2006/relationships/hyperlink" Target="http://every.to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</a:t>
            </a:r>
            <a:r>
              <a:rPr lang="en-US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r>
              <a:rPr lang="en-US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</a:t>
            </a:r>
            <a:r>
              <a:rPr lang="en-US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культурним</a:t>
            </a:r>
            <a:r>
              <a:rPr lang="en-US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феноменом</a:t>
            </a:r>
            <a:r>
              <a:rPr lang="en-US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uk-UA" i="1" dirty="0">
              <a:solidFill>
                <a:srgbClr val="77777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традиційної</a:t>
            </a:r>
            <a:r>
              <a:rPr lang="en-US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реклами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Підготував: Вербицький Артем, ІПС-41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 таке Notion?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 заснування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Іван Чжао та Саймон Ласт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Сан-Франциско, США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05840"/>
            <a:ext cx="1920240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50592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компанії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2176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Станом на 2021 рік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(серія С)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05840"/>
            <a:ext cx="1920240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30M+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26864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2176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Активних щомісяця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2023 році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05840"/>
            <a:ext cx="1920240" cy="73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4M+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03136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03136" y="21762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Корпоративних команд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використовують Notion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</a:t>
            </a:r>
            <a:r>
              <a:rPr lang="uk-UA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all-in-one workspace: нотатки, бази даних, вікі, управління проєктами та документи в одному інструменті. Продукт позиціонується як «другий мозок» для команд і особистої продуктивності.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Суть маркетингової стратегії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майже не витрачав гроші на традиційну рекламу.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14800" cy="13716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00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1600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growth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Спільноти у Reddit, Twitter/X, YouTube та Discord стали основним каналом просування. Користувачі самі розповідали про Notion.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114800" cy="13716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002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21808" y="1600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— User Generated Content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9842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Мільйони шаблонів, туторіалів, відео «my Notion setup» органічно просували продукт. YouTube-канали набирали сотні тисяч переглядів.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114800" cy="13716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688" y="3154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 Program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запустив програму «Notion Campus Leaders» та «Certified Consultants» </a:t>
            </a:r>
            <a:r>
              <a:rPr lang="uk-UA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адвокати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бренду отримували доступ і статус в обмін на контент.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114800" cy="13716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21808" y="3154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Gallery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5387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Публічна галерея шаблонів стала маркетинговим інструментом: автори отримували трафік, а Notion </a:t>
            </a:r>
            <a:r>
              <a:rPr lang="uk-UA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нових користувачів.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UGC — двигун зростання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232323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F80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D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 не платили за жодну рекламу у перші роки. Наші користувачі були нашою рекламою.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8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Іван Чжао, CEO Notion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1920240" cy="1600200"/>
          </a:xfrm>
          <a:prstGeom prst="rect">
            <a:avLst/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514600"/>
            <a:ext cx="1920240" cy="640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6334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 на YouTube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словом «Notion»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2514600"/>
            <a:ext cx="1920240" cy="1600200"/>
          </a:xfrm>
          <a:prstGeom prst="rect">
            <a:avLst/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2514600"/>
            <a:ext cx="1920240" cy="640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6334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50592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постів у Reddit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Notion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2514600"/>
            <a:ext cx="1920240" cy="1600200"/>
          </a:xfrm>
          <a:prstGeom prst="rect">
            <a:avLst/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2514600"/>
            <a:ext cx="1920240" cy="640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26334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200K+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26864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шаблонів у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галереї Notion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2514600"/>
            <a:ext cx="1920240" cy="1600200"/>
          </a:xfrm>
          <a:prstGeom prst="rect">
            <a:avLst/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2514600"/>
            <a:ext cx="1920240" cy="6400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26334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03136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нових користувачів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прийшли органічно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Програма амбасадорів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78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Leaders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Студенти університетів по всьому світу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Організовували воркшопи і Notion-клуби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Отримували безкоштовний Pro-акаунт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081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Ставали представниками бренду в кампусі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584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охопила 500+ університетів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978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Consultants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Зовнішні спеціалісти з впровадження Notion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075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Сертифікація від самого Notion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578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Публічний профіль у каталозі Notion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081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до бета-функцій і підтримки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584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Монетизація через послуги клієнтам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Gallery як маркетинговий інструмент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Галерея шаблонів — унікальний приклад, коли продуктова функція стає каналом залучення користувачів.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463040" cy="22860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54480"/>
            <a:ext cx="1463040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Творець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Будує шаблон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Notion 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публікує його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2697480"/>
            <a:ext cx="25603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554480"/>
            <a:ext cx="1463040" cy="22860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554480"/>
            <a:ext cx="1463040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93392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Галерея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93392" y="25146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виводить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у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публічний каталог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56432" y="2697480"/>
            <a:ext cx="25603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554480"/>
            <a:ext cx="1463040" cy="22860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1554480"/>
            <a:ext cx="1463040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12464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Новий юзер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12464" y="25146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Знаходить шаблон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Google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 соцмережі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75504" y="2697480"/>
            <a:ext cx="25603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1554480"/>
            <a:ext cx="1463040" cy="22860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1536" y="1554480"/>
            <a:ext cx="1463040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31536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31536" y="25146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використання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потрібен акаунт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94576" y="2697480"/>
            <a:ext cx="256032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554480"/>
            <a:ext cx="1463040" cy="228600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50608" y="1554480"/>
            <a:ext cx="1463040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50608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50608" y="25146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Юзер залишається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зручність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шаблони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200,000+ шаблонів у галереї, кожен з яких — точка входу для нових користувачів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Соцмережі та YouTube-екосистема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11430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«Notion tutorial» – 10M+ переглядів у топ-відео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59105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як Thomas Frank (3M+ підписників) будували кар'єру на Notion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83794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спонсорував відео замість прямої реклами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91440" cy="1143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/ r/Notion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Спільнота 400K+ учасників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91693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Щоденні пости зі скріншотами і питаннями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16382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word-of-mouth без модерації від компанії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8595360" cy="1143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11880"/>
            <a:ext cx="91440" cy="1143000"/>
          </a:xfrm>
          <a:prstGeom prst="rect">
            <a:avLst/>
          </a:prstGeom>
          <a:solidFill>
            <a:srgbClr val="1D9BF0"/>
          </a:solidFill>
          <a:ln w="12700">
            <a:solidFill>
              <a:srgbClr val="1D9B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99592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«My Notion setup» – вірусний формат постів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24281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ретвітив контент користувачів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48970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Хештег #NotionTips набрав мільярди показів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Результати кампанії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" y="1371600"/>
            <a:ext cx="0" cy="429768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Заснування. Запуск для закритого бета-тесту. Перші шаблони від команди.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" y="2121408"/>
            <a:ext cx="0" cy="429768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755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Безкоштовний план для персонального використання. Початок органічного зростання.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" y="2871216"/>
            <a:ext cx="0" cy="429768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054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505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Пандемія прискорила зростання: 4M → 20M користувачів за рік завдяки UGC.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300984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" y="3621024"/>
            <a:ext cx="0" cy="429768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552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2552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$10B. Серія C. Notion API відкрито — нові інтеграції та шаблони.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050792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050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0050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30M+ активних користувачів. Notion AI запущено. Ріст без масової реклами.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Ключові уроки від Notion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887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188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149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найкраща реклама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990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продукт вирішує реальну проблему красиво і гнучко, користувачі самі стануть його адвокатами. Notion зробив ставку на якість UX.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1887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73152" cy="1188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05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0149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Спільнота понад все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13990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Інвестиції у спільноту дешевші за платну рекламу та дають довготривалий ефект. Люди довіряють іншим людям більше, ніж брендам.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73152" cy="1188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317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408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Зробити контент-маховик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724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 → YouTube → Reddit → нові користувачі → нові шаблони. Самопідсилювальний цикл без прямих рекламних витрат.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14800" cy="11887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73152" cy="1188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3317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3408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як точка входу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2724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Безкоштовний план знизив бар'єр входу. Люди ділились Notion, бо могли порадити без витрат для друга.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73152" cy="1188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57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6667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 партнерства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4050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</a:t>
            </a:r>
            <a:r>
              <a:rPr lang="en-US" sz="9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реклами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спонсорства YouTubers і блогерів продуктивності. Аудиторія сприймає це як щиру рекомендацію.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14800" cy="11887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73152" cy="1188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657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6667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Відкритий API = нові ринки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752" y="4050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API у 2021 дозволив розробникам будувати інтеграції та інструменти, що додатково просували Notion.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0F628-541B-3AD6-A2AB-E82D2192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B08A04-C1A7-C600-889D-BBF3913D91A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819C74-F1CE-7BE0-3476-5AD8578C99E4}"/>
              </a:ext>
            </a:extLst>
          </p:cNvPr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Джерела інформації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29AF21-65DF-E655-D7D0-5147F38A38D8}"/>
              </a:ext>
            </a:extLst>
          </p:cNvPr>
          <p:cNvSpPr/>
          <p:nvPr/>
        </p:nvSpPr>
        <p:spPr>
          <a:xfrm>
            <a:off x="914400" y="1196340"/>
            <a:ext cx="73152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notion.so/about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notion.so/templates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notion.so/notion-certified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TechCrunch </a:t>
            </a:r>
            <a:r>
              <a:rPr lang="uk-UA" dirty="0"/>
              <a:t>–</a:t>
            </a:r>
            <a:r>
              <a:rPr lang="en-US" sz="1400" dirty="0"/>
              <a:t> «Notion raises $275M at $10B valuation» (2021)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Crunchbase </a:t>
            </a:r>
            <a:r>
              <a:rPr lang="uk-UA" dirty="0"/>
              <a:t>–</a:t>
            </a:r>
            <a:r>
              <a:rPr lang="en-US" sz="1400" dirty="0"/>
              <a:t> Notion Labs Inc.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First Round Review </a:t>
            </a:r>
            <a:r>
              <a:rPr lang="uk-UA" dirty="0"/>
              <a:t>–</a:t>
            </a:r>
            <a:r>
              <a:rPr lang="en-US" sz="1400" dirty="0"/>
              <a:t> </a:t>
            </a:r>
            <a:r>
              <a:rPr lang="uk-UA" sz="1400" dirty="0"/>
              <a:t>інтерв'ю з Іваном </a:t>
            </a:r>
            <a:r>
              <a:rPr lang="uk-UA" sz="1400" dirty="0" err="1"/>
              <a:t>Чжао</a:t>
            </a:r>
            <a:endParaRPr lang="uk-UA" sz="14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Lenny's Newsletter </a:t>
            </a:r>
            <a:r>
              <a:rPr lang="uk-UA" dirty="0"/>
              <a:t>–</a:t>
            </a:r>
            <a:r>
              <a:rPr lang="en-US" sz="1400" dirty="0"/>
              <a:t> </a:t>
            </a:r>
            <a:r>
              <a:rPr lang="en-US" sz="1400" dirty="0">
                <a:hlinkClick r:id="rId3"/>
              </a:rPr>
              <a:t>lennysnewsletter.com</a:t>
            </a:r>
            <a:endParaRPr lang="en-US" sz="14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Every.to</a:t>
            </a:r>
            <a:r>
              <a:rPr lang="en-US" sz="1400" dirty="0"/>
              <a:t> </a:t>
            </a:r>
            <a:r>
              <a:rPr lang="uk-UA" dirty="0"/>
              <a:t>–</a:t>
            </a:r>
            <a:r>
              <a:rPr lang="en-US" sz="1400" dirty="0"/>
              <a:t> «How Notion Grew to $10 Billion»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reddit.com/r/Notion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YouTube </a:t>
            </a:r>
            <a:r>
              <a:rPr lang="uk-UA" dirty="0"/>
              <a:t>–</a:t>
            </a:r>
            <a:r>
              <a:rPr lang="en-US" sz="1400" dirty="0"/>
              <a:t> </a:t>
            </a:r>
            <a:r>
              <a:rPr lang="uk-UA" sz="1400" dirty="0"/>
              <a:t>канал </a:t>
            </a:r>
            <a:r>
              <a:rPr lang="en-US" sz="1400" dirty="0"/>
              <a:t>Thomas Frank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similarweb.com</a:t>
            </a:r>
            <a:endParaRPr lang="en-US" sz="14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semrush.com</a:t>
            </a:r>
            <a:endParaRPr lang="en-US" sz="14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ProductLed.com</a:t>
            </a:r>
            <a:endParaRPr lang="en-US" sz="14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 err="1">
                <a:hlinkClick r:id="rId8"/>
              </a:rPr>
              <a:t>Growth.design</a:t>
            </a:r>
            <a:endParaRPr lang="en-US" sz="14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HubSpot Blog </a:t>
            </a:r>
            <a:r>
              <a:rPr lang="uk-UA" dirty="0"/>
              <a:t>–</a:t>
            </a:r>
            <a:r>
              <a:rPr lang="en-US" sz="1400" dirty="0"/>
              <a:t> «Examples of Community-Led Growth»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0A6A575-1F78-B4CE-EAA7-BB05121E234A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65F889-FF69-38AC-571B-6EAAC8B98E6F}"/>
              </a:ext>
            </a:extLst>
          </p:cNvPr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5810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DEB6F-0067-6307-6782-D35F288B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C113004-A14B-DA2E-5010-01B146F4C83C}"/>
              </a:ext>
            </a:extLst>
          </p:cNvPr>
          <p:cNvSpPr/>
          <p:nvPr/>
        </p:nvSpPr>
        <p:spPr>
          <a:xfrm>
            <a:off x="685800" y="156591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Дякую</a:t>
            </a:r>
            <a:r>
              <a:rPr lang="uk-UA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6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</a:t>
            </a: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увагу</a:t>
            </a: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3592458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</TotalTime>
  <Words>809</Words>
  <Application>Microsoft Office PowerPoint</Application>
  <PresentationFormat>On-screen Show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Notion — Рекламна кампанія</dc:title>
  <dc:subject>PptxGenJS Presentation</dc:subject>
  <dc:creator>PptxGenJS</dc:creator>
  <cp:lastModifiedBy>Артем Вербицький</cp:lastModifiedBy>
  <cp:revision>4</cp:revision>
  <dcterms:created xsi:type="dcterms:W3CDTF">2026-03-07T15:35:51Z</dcterms:created>
  <dcterms:modified xsi:type="dcterms:W3CDTF">2026-03-07T19:01:45Z</dcterms:modified>
</cp:coreProperties>
</file>