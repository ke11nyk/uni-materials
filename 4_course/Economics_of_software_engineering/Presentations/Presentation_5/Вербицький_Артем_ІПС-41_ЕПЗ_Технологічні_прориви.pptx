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14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C96E"/>
                </a:solidFill>
              </a:rPr>
              <a:t>ІНФОРМАЦІЙНІ ТЕХНОЛОГІЇ ТА БІЗНЕС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Технологічні</a:t>
            </a: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прориви</a:t>
            </a: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в ІТ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2C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 їх вплив на бізнес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36576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dirty="0">
                <a:solidFill>
                  <a:srgbClr val="7A8899"/>
                </a:solidFill>
              </a:rPr>
              <a:t>Вербицький Артем </a:t>
            </a:r>
            <a:r>
              <a:rPr lang="en-US" sz="1200" dirty="0">
                <a:solidFill>
                  <a:srgbClr val="7A8899"/>
                </a:solidFill>
              </a:rPr>
              <a:t>•  Група ІПС-41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ЩО ТАКЕ ТЕХНОЛОГІЧНИЙ ПРОРИВ В ІТ?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9875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09728" cy="9875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ІТ-</a:t>
            </a:r>
            <a:r>
              <a:rPr lang="en-US" sz="1300" i="1" dirty="0" err="1">
                <a:solidFill>
                  <a:srgbClr val="FFFFFF"/>
                </a:solidFill>
              </a:rPr>
              <a:t>прорив</a:t>
            </a:r>
            <a:r>
              <a:rPr lang="en-US" sz="1300" i="1" dirty="0">
                <a:solidFill>
                  <a:srgbClr val="FFFFFF"/>
                </a:solidFill>
              </a:rPr>
              <a:t> − </a:t>
            </a:r>
            <a:r>
              <a:rPr lang="en-US" sz="1300" i="1" dirty="0" err="1">
                <a:solidFill>
                  <a:srgbClr val="FFFFFF"/>
                </a:solidFill>
              </a:rPr>
              <a:t>це</a:t>
            </a:r>
            <a:r>
              <a:rPr lang="en-US" sz="1300" i="1" dirty="0">
                <a:solidFill>
                  <a:srgbClr val="FFFFFF"/>
                </a:solidFill>
              </a:rPr>
              <a:t> технологічна інновація в обчисленнях, зв'язку або програмному забезпеченні, яка кардинально змінює можливості людини та бізнесу, породжуючи нові індустрії та роблячи попередні рішення застарілими.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267712"/>
            <a:ext cx="2029968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67712"/>
            <a:ext cx="202996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Радикальність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76148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Не </a:t>
            </a:r>
            <a:r>
              <a:rPr lang="en-US" sz="1100" dirty="0" err="1">
                <a:solidFill>
                  <a:srgbClr val="7A8899"/>
                </a:solidFill>
              </a:rPr>
              <a:t>покращення</a:t>
            </a:r>
            <a:r>
              <a:rPr lang="en-US" sz="1100" dirty="0">
                <a:solidFill>
                  <a:srgbClr val="7A8899"/>
                </a:solidFill>
              </a:rPr>
              <a:t> − зміна парадигми. Новий принцип роботи з даними або обчисленнями.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2267712"/>
            <a:ext cx="2029968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2267712"/>
            <a:ext cx="202996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Масштаб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76148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Охоплює цілі індустрії: від стартапів до державного управління.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2267712"/>
            <a:ext cx="2029968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2267712"/>
            <a:ext cx="202996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Незворотність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82312" y="276148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Після впровадження повернення до старого стандарту стає неможливим.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48856" y="2267712"/>
            <a:ext cx="2029968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2267712"/>
            <a:ext cx="202996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Мережевий ефект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58584" y="276148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Цінність зростає експоненційно зі збільшенням числа учасників.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ЕВОЛЮЦІЯ ІТ: ВІД ТРАНЗИСТОРА ДО ХМАРИ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97280"/>
            <a:ext cx="2761488" cy="502920"/>
          </a:xfrm>
          <a:prstGeom prst="rect">
            <a:avLst/>
          </a:prstGeom>
          <a:solidFill>
            <a:srgbClr val="6B4C11"/>
          </a:solidFill>
          <a:ln w="12700">
            <a:solidFill>
              <a:srgbClr val="6B4C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338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6E"/>
                </a:solidFill>
              </a:rPr>
              <a:t>1947–60s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33502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Транзистор і мейнфрейм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IBM мейнфрейми, FORTRAN/COBOL, перші корпоративні обчислення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3824" y="109728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1097280"/>
            <a:ext cx="2761488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1338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6E"/>
                </a:solidFill>
              </a:rPr>
              <a:t>1970–80s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55264" y="133502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Персональний комп'ютер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55264" y="166420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Intel 4004, Apple II, IBM PC, MS-DOS − обчислення для мас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09728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097280"/>
            <a:ext cx="2761488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1338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6E"/>
                </a:solidFill>
              </a:rPr>
              <a:t>1990s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63056" y="133502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Інтернет та WWW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166420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TCP/IP, HTML, браузери, електронна пошта, e-commerce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090672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090672"/>
            <a:ext cx="2761488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1272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6E"/>
                </a:solidFill>
              </a:rPr>
              <a:t>2000s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3328416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2.0 / Соцмережі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36576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Ajax, Google, Facebook, YouTube − користувач як творець контенту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63824" y="3090672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63824" y="3090672"/>
            <a:ext cx="276148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31272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6E"/>
                </a:solidFill>
              </a:rPr>
              <a:t>2010s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55264" y="3328416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Мобільність і хмара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55264" y="36576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iOS/Android, AWS, SaaS − обчислення скрізь і завжди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3090672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3090672"/>
            <a:ext cx="2761488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31272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96E"/>
                </a:solidFill>
              </a:rPr>
              <a:t>2020s+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63056" y="3328416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Генеративний ШІ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63056" y="365760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LLM, ChatGPT, Copilot − автоматизація когнітивної праці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ІНТЕРНЕТ І ВЕБ − ФУНДАМЕНТ ЦИФРОВОЇ ЕКОНОМІКИ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029200" cy="3703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Ключові події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1969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15727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ARPANET − перший пакет між UCLA та SRI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848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1983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20299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TCP/IP стає стандартом (народження Інтернету)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420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1991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4871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Tim Berners-Lee публікує WWW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992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1994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29443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Netscape, Amazon, Yahoo − комерційний веб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4564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564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1998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70432" y="34015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Google − пошук як основна точка входу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136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2004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38587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Facebook − соціальна мережа для мас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370832"/>
            <a:ext cx="658368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708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4B"/>
                </a:solidFill>
              </a:rPr>
              <a:t>2009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70432" y="43159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</a:rPr>
              <a:t>Bitcoin − блокчейн і децентралізація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1097280"/>
            <a:ext cx="3246120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11521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</a:rPr>
              <a:t>5.5 млрд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669280" y="16459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користувачів Інтернету у 2024 р.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(68% населення Землі)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359152"/>
            <a:ext cx="3246120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24140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</a:rPr>
              <a:t>$6.3 трлн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669280" y="29077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обсяг глобальної e-commerce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(прогноз 2024, Statista)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621024"/>
            <a:ext cx="3246120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3675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</a:rPr>
              <a:t>×1 000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669280" y="41696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зростання пропускної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здатності мереж за 20 років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МОБІЛЬНІ ТЕХНОЛОГІЇ ТА APP ECONOMY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8503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07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2007 − iPhone: «один пристрій, який змінив все»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96E"/>
                </a:solidFill>
              </a:rPr>
              <a:t>Перший масовий багатофункціональний смартфон породив нову технологічну парадигму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0848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84832"/>
            <a:ext cx="73152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1762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App Store / Google Play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52374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Нова індустрія мобільних застосунків: $935 млрд доходу у 2023 р. (Sensor Tower)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20848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084832"/>
            <a:ext cx="73152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1762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Gig-економіка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2424" y="252374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Uber, Airbnb, </a:t>
            </a:r>
            <a:r>
              <a:rPr lang="en-US" sz="1000" dirty="0" err="1">
                <a:solidFill>
                  <a:srgbClr val="7A8899"/>
                </a:solidFill>
              </a:rPr>
              <a:t>Glovo</a:t>
            </a:r>
            <a:r>
              <a:rPr lang="en-US" sz="1000" dirty="0">
                <a:solidFill>
                  <a:srgbClr val="7A8899"/>
                </a:solidFill>
              </a:rPr>
              <a:t> − мільярдні компанії без власних активів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20848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2084832"/>
            <a:ext cx="73152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1762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Mobile-first бізнес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252374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Понад 60% </a:t>
            </a:r>
            <a:r>
              <a:rPr lang="en-US" sz="1000" dirty="0" err="1">
                <a:solidFill>
                  <a:srgbClr val="7A8899"/>
                </a:solidFill>
              </a:rPr>
              <a:t>веб-трафіку</a:t>
            </a:r>
            <a:r>
              <a:rPr lang="en-US" sz="1000" dirty="0">
                <a:solidFill>
                  <a:srgbClr val="7A8899"/>
                </a:solidFill>
              </a:rPr>
              <a:t> − з мобільних; дизайн і маркетинг переорієнтовані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39312"/>
            <a:ext cx="73152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73075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Фінтех та mPayments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407822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Apple Pay, Google Pay, </a:t>
            </a:r>
            <a:r>
              <a:rPr lang="en-US" sz="1000" dirty="0" err="1">
                <a:solidFill>
                  <a:srgbClr val="7A8899"/>
                </a:solidFill>
              </a:rPr>
              <a:t>Monobank</a:t>
            </a:r>
            <a:r>
              <a:rPr lang="en-US" sz="1000" dirty="0">
                <a:solidFill>
                  <a:srgbClr val="7A8899"/>
                </a:solidFill>
              </a:rPr>
              <a:t> − банківські послуги у смартфоні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27832" y="363931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3639312"/>
            <a:ext cx="73152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373075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Соцмережі та контент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92424" y="407822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TikTok, Instagram Reels − відео-перший контент, нова рекламна модель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35624" y="363931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3639312"/>
            <a:ext cx="73152" cy="14173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373075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IoT і розумні пристрої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0216" y="407822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Смартфон як хаб: 15+ млрд пристроїв IoT підключені через мобільні мережі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ШТУЧНИЙ ІНТЕЛЕКТ І МАШИННЕ НАВЧАННЯ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600200" cy="502920"/>
          </a:xfrm>
          <a:prstGeom prst="rect">
            <a:avLst/>
          </a:prstGeom>
          <a:solidFill>
            <a:srgbClr val="6B4C11"/>
          </a:solidFill>
          <a:ln w="12700">
            <a:solidFill>
              <a:srgbClr val="6B4C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1950–80s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Символьний ШІ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899"/>
                </a:solidFill>
              </a:rPr>
              <a:t>Правила і логіка, вузьке застосування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51560"/>
            <a:ext cx="1600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97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1980–2000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Експертні системи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6276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899"/>
                </a:solidFill>
              </a:rPr>
              <a:t>Бізнес-правила, LISP, обмежений масштаб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051560"/>
            <a:ext cx="160020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097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2006–2012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1325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6276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899"/>
                </a:solidFill>
              </a:rPr>
              <a:t>Hinton, LeCun, Bengio − навчання з даних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051560"/>
            <a:ext cx="1600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097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2017–2020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1325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Трансформери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16276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899"/>
                </a:solidFill>
              </a:rPr>
              <a:t>Attention Is All You Need, BERT, GPT-2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1051560"/>
            <a:ext cx="1600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097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2022+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1325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GenAI / LLM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16276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899"/>
                </a:solidFill>
              </a:rPr>
              <a:t>ChatGPT, Gemini, Claude − масовий доступ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8503920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50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Бізнес-вплив генеративного ШІ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2852928"/>
            <a:ext cx="4133088" cy="93268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52928"/>
            <a:ext cx="73152" cy="9326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2926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Автоматизація коду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3218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GitHub Copilot: +55% швидкість розробки (GitHub, 2023)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36008" y="2852928"/>
            <a:ext cx="4133088" cy="93268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36008" y="2852928"/>
            <a:ext cx="73152" cy="9326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26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Обслуговування клієнтів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218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AI-агенти закривають до 80% тікетів без участі людини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31920"/>
            <a:ext cx="4133088" cy="93268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931920"/>
            <a:ext cx="73152" cy="9326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40050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Маркетинг і контент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" y="4297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Персоналізований контент у масштабі, A/B-тест на льоту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36008" y="3931920"/>
            <a:ext cx="4133088" cy="93268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36008" y="3931920"/>
            <a:ext cx="73152" cy="9326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0050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Наука та R&amp;D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29768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AlphaFold розв'язав задачу згортання білка за 50 років роботи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ХМАРНІ ОБЧИСЛЕННЯ ТА SAAS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120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Еволюція моделей доставки ПЗ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960120" cy="566928"/>
          </a:xfrm>
          <a:prstGeom prst="rect">
            <a:avLst/>
          </a:prstGeom>
          <a:solidFill>
            <a:srgbClr val="6B4C11"/>
          </a:solidFill>
          <a:ln w="12700">
            <a:solidFill>
              <a:srgbClr val="6B4C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36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До 2006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On-Premise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673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Купівля ліцензій, власні сервери, висока вартість впровадження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96012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140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2006+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IaaS / PaaS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450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AWS (2006), оренда обчислень і платформ за потребою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154680"/>
            <a:ext cx="960120" cy="5669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91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2010+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227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Salesforce, Slack, Zoom − підписка, нульове адміністрування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96012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96E"/>
                </a:solidFill>
              </a:rPr>
              <a:t>2020+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206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Serverless / Edge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Функції без сервера, обчислення ближче до користувача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1097280"/>
            <a:ext cx="3200400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11521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</a:rPr>
              <a:t>$679 млрд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1500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світовий ринок хмар 2024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(Gartner, 2024)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2359152"/>
            <a:ext cx="3200400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24140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</a:rPr>
              <a:t>94%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71500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компаній зі списку Fortune 500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використовують AWS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621024"/>
            <a:ext cx="3200400" cy="10972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15000" y="36758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</a:rPr>
              <a:t>3× швидше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715000" y="4169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зростають SaaS-компанії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3"/>
                </a:solidFill>
              </a:rPr>
              <a:t>порівняно з традиційним ПЗ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ВПЛИВ ІТ-ПРОРИВІВ НА БІЗНЕС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61488" cy="166420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61488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618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Дезінтермедіація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62763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</a:rPr>
              <a:t>ІТ виключає посередників: Booking замінив турагентів, Amazon − дистриб'юторів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1097280"/>
            <a:ext cx="2761488" cy="166420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1097280"/>
            <a:ext cx="2761488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618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Платформізація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</a:rPr>
              <a:t>Мережеві ефекти: Apple App Store, Google Play − winner-take-all ринки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097280"/>
            <a:ext cx="2761488" cy="166420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097280"/>
            <a:ext cx="2761488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2618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Дані як актив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62763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</a:rPr>
              <a:t>Google, Meta монетизують дані; дата-driven рішення стали стандартом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61488" cy="166420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6148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Підписна модель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45643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</a:rPr>
              <a:t>SaaS переорієнтував ІТ-індустрію: передбачуваний дохід замість разових продажів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2112" y="2926080"/>
            <a:ext cx="2761488" cy="166420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926080"/>
            <a:ext cx="276148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API-економіка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45643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</a:rPr>
              <a:t>Stripe, Twilio, SendGrid − модульний бізнес із готових ІТ-компонентів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9904" y="2926080"/>
            <a:ext cx="2761488" cy="166420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926080"/>
            <a:ext cx="2761488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Швидкість інновацій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9632" y="345643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9"/>
                </a:solidFill>
              </a:rPr>
              <a:t>Agile, CI/CD, DevOps скоротили цикл від ідеї до продукту з 2 років до 2 тижнів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КЕЙС-СТУДІЇ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97280"/>
            <a:ext cx="278892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Web Services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899"/>
                </a:solidFill>
              </a:rPr>
              <a:t>Інфраструктура як сервіс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2569464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</a:rPr>
              <a:t>Прорив: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Хмарні обчислення (IaaS), 2006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256946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Перетворив внутрішні ІТ-ресурси Amazon на комерційну платформу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AWS формує ~67% операційного прибутку Amazon (2023, Amazon Annual Report)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Знизив поріг входу для стартапів: замість $1M </a:t>
            </a:r>
            <a:r>
              <a:rPr lang="en-US" sz="950" dirty="0" err="1">
                <a:solidFill>
                  <a:srgbClr val="7A8899"/>
                </a:solidFill>
              </a:rPr>
              <a:t>серверів</a:t>
            </a:r>
            <a:r>
              <a:rPr lang="en-US" sz="950" dirty="0">
                <a:solidFill>
                  <a:srgbClr val="7A8899"/>
                </a:solidFill>
              </a:rPr>
              <a:t> − $100/міс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2788920" cy="1097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26187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iPhone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17190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899"/>
                </a:solidFill>
              </a:rPr>
              <a:t>Мобільна обчислювальна революція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0128" y="2029968"/>
            <a:ext cx="2569464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1031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</a:rPr>
              <a:t>Прорив: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28600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Перший багатофункціональний смартфон, 2007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743200"/>
            <a:ext cx="256946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Породив App Economy: $935 млрд доходу застосунків (2023, Sensor Tower)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Змінив музику (iTunes), карти (Google Maps), медіа (YouTube)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Підштовхнув до банкрутства Motorola, Nokia, BlackBerry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1097280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97280"/>
            <a:ext cx="2788920" cy="10972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26187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/ OpenAI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54496" y="17190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899"/>
                </a:solidFill>
              </a:rPr>
              <a:t>Генеративний ШІ для мас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4496" y="2029968"/>
            <a:ext cx="2569464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1031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A37F"/>
                </a:solidFill>
              </a:rPr>
              <a:t>Прорив: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228600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GPT-3.5 / ChatGPT (листопад 2022)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743200"/>
            <a:ext cx="256946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100 млн користувачів за 2 </a:t>
            </a:r>
            <a:r>
              <a:rPr lang="en-US" sz="950" dirty="0" err="1">
                <a:solidFill>
                  <a:srgbClr val="7A8899"/>
                </a:solidFill>
              </a:rPr>
              <a:t>місяці</a:t>
            </a:r>
            <a:r>
              <a:rPr lang="en-US" sz="950" dirty="0">
                <a:solidFill>
                  <a:srgbClr val="7A8899"/>
                </a:solidFill>
              </a:rPr>
              <a:t> − найшвидше в історії ПЗ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Трансформував ринок: Microsoft, Google, Meta прискорили ШІ-інвестиції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A8899"/>
                </a:solidFill>
              </a:rPr>
              <a:t>GitHub Copilot збільшив продуктивність розробників на 55% (GitHub, 2023)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ІТ-ПРОРИВИ МАЙБУТНЬОГО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27632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162763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Квантові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обчислення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1764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</a:rPr>
              <a:t>2028–2035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1444752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76272"/>
            <a:ext cx="14813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Зламає RSA/ECC шифрування; революція в оптимізації, ML та хімічному моделюванні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56816" y="1051560"/>
            <a:ext cx="1627632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56816" y="1051560"/>
            <a:ext cx="1627632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0972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29968" y="1764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</a:rPr>
              <a:t>2030–2040?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48256" y="2084832"/>
            <a:ext cx="1444752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2176272"/>
            <a:ext cx="14813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Автономний загальний інтелект: автоматизація більшості розумових професій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0752" y="1051560"/>
            <a:ext cx="1627632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051560"/>
            <a:ext cx="1627632" cy="10789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10972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Нейро-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інтерфейси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03904" y="1764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</a:rPr>
              <a:t>2030+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22192" y="2084832"/>
            <a:ext cx="1444752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2176272"/>
            <a:ext cx="14813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BCI (Neuralink, Synchron): прямий зв'язок мозку з пристроями та мережами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04688" y="1051560"/>
            <a:ext cx="1627632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04688" y="1051560"/>
            <a:ext cx="1627632" cy="10789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0972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Розподілені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реєстри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764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</a:rPr>
              <a:t>2025–2030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96128" y="2084832"/>
            <a:ext cx="1444752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176272"/>
            <a:ext cx="14813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Web3, смарт-контракти, DeFi − нова інфраструктура довіри без посередників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78624" y="1051560"/>
            <a:ext cx="1627632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78624" y="1051560"/>
            <a:ext cx="162763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776" y="10972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6G та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Edge 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51776" y="1764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</a:rPr>
              <a:t>2030+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70064" y="2084832"/>
            <a:ext cx="1444752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2176272"/>
            <a:ext cx="14813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</a:rPr>
              <a:t>Мікросекундна затримка, ШІ на пристрої: хмара «переїжджає» на край мережі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ДЖЕРЕЛА ІНФОРМАЦІЇ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7889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Наукові та галузеві звіти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627632"/>
            <a:ext cx="2569464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37360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Gartner (2024). Forecast: Public Cloud Services, Worldwide. − Gartner Research.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GitHub (2023). The Impact of AI on Developer Productivity. − GitHub Blog.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163824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Sensor Tower (2023). State of Mobile 2024. − Sensor Tower Report.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877056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Statista (2024). Global E-Commerce Revenue 2024. − Statista Market Outlook.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078992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78992"/>
            <a:ext cx="278892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20700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Первинні корпоративні джерела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28416" y="1627632"/>
            <a:ext cx="2569464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737360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Amazon (2023). Amazon.com, Inc. Annual Report 2022. − SEC Filing.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2450592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OpenAI (2023). ChatGPT: 100 Million Users in Two Months. − OpenAI Blog.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28416" y="3163824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Vaswani et al. (2017). Attention Is All You Need. − NeurIPS Proceedings.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3877056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Berners-Lee, T. (1989). Information Management: A Proposal. − CERN.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63056" y="1078992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078992"/>
            <a:ext cx="2788920" cy="914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20700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Книги та освітні матеріали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2784" y="1627632"/>
            <a:ext cx="2569464" cy="3657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737360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Christensen, C. (1997). The Innovator's Dilemma. Harvard Business Review Press.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72784" y="2450592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Schwab, K. (2016). The Fourth Industrial Revolution. World Economic Forum.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72784" y="3163824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Brynjolfsson, E. &amp; McAfee, A. (2014). The Second Machine Age. W.W. Norton.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3877056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9"/>
                </a:solidFill>
              </a:rPr>
              <a:t>Leiner, B. et al. (2009). A Brief History of the Internet. ACM SIGCOMM.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Дякую за увагу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1175</Words>
  <Application>Microsoft Office PowerPoint</Application>
  <PresentationFormat>On-screen Show (16:9)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Технологічні прориви в ІТ та їх вплив на бізнес</dc:title>
  <dc:subject>PptxGenJS Presentation</dc:subject>
  <dc:creator>PptxGenJS</dc:creator>
  <cp:lastModifiedBy>Артем Вербицький</cp:lastModifiedBy>
  <cp:revision>3</cp:revision>
  <dcterms:created xsi:type="dcterms:W3CDTF">2026-04-13T20:51:33Z</dcterms:created>
  <dcterms:modified xsi:type="dcterms:W3CDTF">2026-04-13T21:22:08Z</dcterms:modified>
</cp:coreProperties>
</file>