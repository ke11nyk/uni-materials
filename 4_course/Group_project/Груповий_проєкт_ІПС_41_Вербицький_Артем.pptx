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5353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16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16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17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26" Type="http://schemas.openxmlformats.org/officeDocument/2006/relationships/image" Target="../media/image74.png"/><Relationship Id="rId3" Type="http://schemas.openxmlformats.org/officeDocument/2006/relationships/image" Target="../media/image16.png"/><Relationship Id="rId21" Type="http://schemas.openxmlformats.org/officeDocument/2006/relationships/image" Target="../media/image69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5" Type="http://schemas.openxmlformats.org/officeDocument/2006/relationships/image" Target="../media/image7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24" Type="http://schemas.openxmlformats.org/officeDocument/2006/relationships/image" Target="../media/image72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23" Type="http://schemas.openxmlformats.org/officeDocument/2006/relationships/image" Target="../media/image71.png"/><Relationship Id="rId28" Type="http://schemas.openxmlformats.org/officeDocument/2006/relationships/image" Target="../media/image76.png"/><Relationship Id="rId10" Type="http://schemas.openxmlformats.org/officeDocument/2006/relationships/image" Target="../media/image58.png"/><Relationship Id="rId19" Type="http://schemas.openxmlformats.org/officeDocument/2006/relationships/image" Target="../media/image67.png"/><Relationship Id="rId4" Type="http://schemas.openxmlformats.org/officeDocument/2006/relationships/image" Target="../media/image17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Relationship Id="rId22" Type="http://schemas.openxmlformats.org/officeDocument/2006/relationships/image" Target="../media/image70.png"/><Relationship Id="rId27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37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91" y="202241"/>
            <a:ext cx="2986418" cy="298641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5308" y="4122308"/>
            <a:ext cx="2118585" cy="211858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6082" y="3206732"/>
            <a:ext cx="2311436" cy="231143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6606" y="1716414"/>
            <a:ext cx="1004154" cy="59624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5147" y="3727831"/>
            <a:ext cx="1030484" cy="103048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802" y="3334237"/>
            <a:ext cx="1663475" cy="47134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733550"/>
            <a:ext cx="12192000" cy="3390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9600" y="3638550"/>
            <a:ext cx="609600" cy="609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10100" y="379095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4000" y="3638550"/>
            <a:ext cx="609600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24500" y="379095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0" y="3638550"/>
            <a:ext cx="609600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62800" y="3638550"/>
            <a:ext cx="609600" cy="609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24725" y="3790950"/>
            <a:ext cx="285750" cy="3048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457200" y="203835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uk-UA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Звіт роботи у груповому </a:t>
            </a:r>
            <a:r>
              <a:rPr lang="uk-UA" sz="27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проєкті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457200" y="2647950"/>
            <a:ext cx="11277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AppRouter, ProtectedRoute, ContainerDetailsPage та LanguageSwitcher</a:t>
            </a:r>
            <a:endParaRPr lang="en-US" sz="2250" dirty="0"/>
          </a:p>
        </p:txBody>
      </p:sp>
      <p:sp>
        <p:nvSpPr>
          <p:cNvPr id="20" name="Text 2"/>
          <p:cNvSpPr/>
          <p:nvPr/>
        </p:nvSpPr>
        <p:spPr>
          <a:xfrm>
            <a:off x="457200" y="455295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uk-UA" sz="1350" dirty="0">
                <a:solidFill>
                  <a:srgbClr val="4B5563"/>
                </a:solidFill>
                <a:ea typeface="ui-sans-serif" pitchFamily="34" charset="-122"/>
              </a:rPr>
              <a:t>Підготував студент ІІПС-41 Вербицький Артем</a:t>
            </a:r>
            <a:endParaRPr lang="en-US" sz="1350" dirty="0"/>
          </a:p>
        </p:txBody>
      </p:sp>
      <p:sp>
        <p:nvSpPr>
          <p:cNvPr id="21" name="Text 3"/>
          <p:cNvSpPr/>
          <p:nvPr/>
        </p:nvSpPr>
        <p:spPr>
          <a:xfrm>
            <a:off x="10109448" y="6515100"/>
            <a:ext cx="222474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001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638300"/>
            <a:ext cx="5600700" cy="2095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838325"/>
            <a:ext cx="34290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638300"/>
            <a:ext cx="5600700" cy="2095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838325"/>
            <a:ext cx="34290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3962400"/>
            <a:ext cx="5600700" cy="2095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3962400"/>
            <a:ext cx="5600700" cy="2095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4162425"/>
            <a:ext cx="428625" cy="34290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381000" y="381000"/>
            <a:ext cx="13716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Огляд</a:t>
            </a:r>
            <a:r>
              <a:rPr lang="en-US" sz="2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uk-UA" sz="2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реалізованих</a:t>
            </a:r>
            <a:r>
              <a:rPr lang="en-US" sz="2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компонентів системи</a:t>
            </a:r>
            <a:endParaRPr lang="en-US" sz="2250" dirty="0"/>
          </a:p>
        </p:txBody>
      </p:sp>
      <p:sp>
        <p:nvSpPr>
          <p:cNvPr id="12" name="Text 1"/>
          <p:cNvSpPr/>
          <p:nvPr/>
        </p:nvSpPr>
        <p:spPr>
          <a:xfrm>
            <a:off x="381000" y="114300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Архітектура програми включає компоненти різних типів, що забезпечують функціональність, безпеку та зручність використання.</a:t>
            </a:r>
            <a:endParaRPr lang="en-US" sz="1500" dirty="0"/>
          </a:p>
        </p:txBody>
      </p:sp>
      <p:sp>
        <p:nvSpPr>
          <p:cNvPr id="13" name="Text 2"/>
          <p:cNvSpPr/>
          <p:nvPr/>
        </p:nvSpPr>
        <p:spPr>
          <a:xfrm>
            <a:off x="1066800" y="1828800"/>
            <a:ext cx="472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AppRouter.tsx</a:t>
            </a:r>
            <a:endParaRPr lang="en-US" sz="1500" dirty="0"/>
          </a:p>
        </p:txBody>
      </p:sp>
      <p:sp>
        <p:nvSpPr>
          <p:cNvPr id="14" name="Text 3"/>
          <p:cNvSpPr/>
          <p:nvPr/>
        </p:nvSpPr>
        <p:spPr>
          <a:xfrm>
            <a:off x="1066800" y="2171700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Централізоване управління маршрутами в додатку. Визначає, який компонент буде відображено залежно від поточного URL.</a:t>
            </a:r>
            <a:endParaRPr lang="en-US" sz="1200" dirty="0"/>
          </a:p>
        </p:txBody>
      </p:sp>
      <p:sp>
        <p:nvSpPr>
          <p:cNvPr id="15" name="Text 4"/>
          <p:cNvSpPr/>
          <p:nvPr/>
        </p:nvSpPr>
        <p:spPr>
          <a:xfrm>
            <a:off x="6896100" y="1828800"/>
            <a:ext cx="472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ProtectedRoute.tsx</a:t>
            </a:r>
            <a:endParaRPr lang="en-US" sz="1500" dirty="0"/>
          </a:p>
        </p:txBody>
      </p:sp>
      <p:sp>
        <p:nvSpPr>
          <p:cNvPr id="16" name="Text 5"/>
          <p:cNvSpPr/>
          <p:nvPr/>
        </p:nvSpPr>
        <p:spPr>
          <a:xfrm>
            <a:off x="6896100" y="2171700"/>
            <a:ext cx="47244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Захист приватних маршрутів, що вимагають автентифікації користувача. Перевіряє права доступу перед переходом на сторінку.</a:t>
            </a:r>
            <a:endParaRPr lang="en-US" sz="1200" dirty="0"/>
          </a:p>
        </p:txBody>
      </p:sp>
      <p:sp>
        <p:nvSpPr>
          <p:cNvPr id="17" name="Text 6"/>
          <p:cNvSpPr/>
          <p:nvPr/>
        </p:nvSpPr>
        <p:spPr>
          <a:xfrm>
            <a:off x="723900" y="4152900"/>
            <a:ext cx="6080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ContainerDetailsPage.tsx</a:t>
            </a:r>
            <a:endParaRPr lang="en-US" sz="1500" dirty="0"/>
          </a:p>
        </p:txBody>
      </p:sp>
      <p:sp>
        <p:nvSpPr>
          <p:cNvPr id="18" name="Text 7"/>
          <p:cNvSpPr/>
          <p:nvPr/>
        </p:nvSpPr>
        <p:spPr>
          <a:xfrm>
            <a:off x="723900" y="4495800"/>
            <a:ext cx="5067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Відображення детальної інформації про конкретний контейнер. Отримує ідентифікатор з URL та відображає відповідні дані.</a:t>
            </a:r>
            <a:endParaRPr lang="en-US" sz="1200" dirty="0"/>
          </a:p>
        </p:txBody>
      </p:sp>
      <p:sp>
        <p:nvSpPr>
          <p:cNvPr id="19" name="Text 8"/>
          <p:cNvSpPr/>
          <p:nvPr/>
        </p:nvSpPr>
        <p:spPr>
          <a:xfrm>
            <a:off x="6981825" y="4152900"/>
            <a:ext cx="46386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LanguageSwitcher.tsx</a:t>
            </a:r>
            <a:endParaRPr lang="en-US" sz="1500" dirty="0"/>
          </a:p>
        </p:txBody>
      </p:sp>
      <p:sp>
        <p:nvSpPr>
          <p:cNvPr id="20" name="Text 9"/>
          <p:cNvSpPr/>
          <p:nvPr/>
        </p:nvSpPr>
        <p:spPr>
          <a:xfrm>
            <a:off x="6981825" y="4495800"/>
            <a:ext cx="463867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 для забезпечення багатомовності інтерфейсу. Дозволяє користувачеві змінювати мову між українською та англійською.</a:t>
            </a:r>
            <a:endParaRPr lang="en-US" sz="1200" dirty="0"/>
          </a:p>
        </p:txBody>
      </p:sp>
      <p:sp>
        <p:nvSpPr>
          <p:cNvPr id="21" name="Text 10"/>
          <p:cNvSpPr/>
          <p:nvPr/>
        </p:nvSpPr>
        <p:spPr>
          <a:xfrm>
            <a:off x="381000" y="6286500"/>
            <a:ext cx="10363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22" name="Text 11"/>
          <p:cNvSpPr/>
          <p:nvPr/>
        </p:nvSpPr>
        <p:spPr>
          <a:xfrm>
            <a:off x="10228064" y="6286500"/>
            <a:ext cx="189952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001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999" y="1676400"/>
            <a:ext cx="11239499" cy="2324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438400"/>
            <a:ext cx="152400" cy="152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31242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6195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4229100"/>
            <a:ext cx="11239500" cy="1219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857750"/>
            <a:ext cx="285750" cy="3429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381000" y="381000"/>
            <a:ext cx="13716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AppRouter.tsx: централізоване управління маршрутами</a:t>
            </a:r>
            <a:endParaRPr lang="en-US" sz="2250" dirty="0"/>
          </a:p>
        </p:txBody>
      </p:sp>
      <p:sp>
        <p:nvSpPr>
          <p:cNvPr id="27" name="Text 1"/>
          <p:cNvSpPr/>
          <p:nvPr/>
        </p:nvSpPr>
        <p:spPr>
          <a:xfrm>
            <a:off x="380999" y="1066800"/>
            <a:ext cx="11215717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 відповідає за маршрутизацію в додатку, визначаючи, який компонент буде відображено залежно від поточного URL.</a:t>
            </a:r>
            <a:endParaRPr lang="en-US" sz="1500" dirty="0"/>
          </a:p>
        </p:txBody>
      </p:sp>
      <p:sp>
        <p:nvSpPr>
          <p:cNvPr id="28" name="Text 2"/>
          <p:cNvSpPr/>
          <p:nvPr/>
        </p:nvSpPr>
        <p:spPr>
          <a:xfrm>
            <a:off x="571500" y="1956998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Основні функції:</a:t>
            </a:r>
            <a:endParaRPr lang="en-US" dirty="0"/>
          </a:p>
        </p:txBody>
      </p:sp>
      <p:sp>
        <p:nvSpPr>
          <p:cNvPr id="29" name="Text 3"/>
          <p:cNvSpPr/>
          <p:nvPr/>
        </p:nvSpPr>
        <p:spPr>
          <a:xfrm>
            <a:off x="800100" y="2389414"/>
            <a:ext cx="4800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Центральний елемент для навігації та організації структури сторінок</a:t>
            </a:r>
            <a:endParaRPr lang="en-US" sz="1400" dirty="0"/>
          </a:p>
        </p:txBody>
      </p:sp>
      <p:sp>
        <p:nvSpPr>
          <p:cNvPr id="30" name="Text 4"/>
          <p:cNvSpPr/>
          <p:nvPr/>
        </p:nvSpPr>
        <p:spPr>
          <a:xfrm>
            <a:off x="838200" y="3119923"/>
            <a:ext cx="387334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Розділення маршрутів на публічні та приватні</a:t>
            </a:r>
            <a:endParaRPr lang="en-US" sz="1400" dirty="0"/>
          </a:p>
        </p:txBody>
      </p:sp>
      <p:sp>
        <p:nvSpPr>
          <p:cNvPr id="31" name="Text 5"/>
          <p:cNvSpPr/>
          <p:nvPr/>
        </p:nvSpPr>
        <p:spPr>
          <a:xfrm>
            <a:off x="800100" y="3581400"/>
            <a:ext cx="493918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Визначення компонентів для відображення на основі URL</a:t>
            </a:r>
            <a:endParaRPr lang="en-US" sz="1400" dirty="0"/>
          </a:p>
        </p:txBody>
      </p:sp>
      <p:sp>
        <p:nvSpPr>
          <p:cNvPr id="32" name="Text 6"/>
          <p:cNvSpPr/>
          <p:nvPr/>
        </p:nvSpPr>
        <p:spPr>
          <a:xfrm>
            <a:off x="571500" y="4419600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Технології:</a:t>
            </a:r>
            <a:endParaRPr lang="en-US" sz="1500" dirty="0"/>
          </a:p>
        </p:txBody>
      </p:sp>
      <p:sp>
        <p:nvSpPr>
          <p:cNvPr id="33" name="Text 7"/>
          <p:cNvSpPr/>
          <p:nvPr/>
        </p:nvSpPr>
        <p:spPr>
          <a:xfrm>
            <a:off x="971550" y="4885481"/>
            <a:ext cx="6096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Використання бібліотеки 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react-router-dom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для реалізації маршрутизації</a:t>
            </a:r>
            <a:endParaRPr lang="en-US" sz="1200" dirty="0"/>
          </a:p>
        </p:txBody>
      </p:sp>
      <p:sp>
        <p:nvSpPr>
          <p:cNvPr id="34" name="Text 8"/>
          <p:cNvSpPr/>
          <p:nvPr/>
        </p:nvSpPr>
        <p:spPr>
          <a:xfrm>
            <a:off x="6134100" y="1295400"/>
            <a:ext cx="5943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35" name="Text 9"/>
          <p:cNvSpPr/>
          <p:nvPr/>
        </p:nvSpPr>
        <p:spPr>
          <a:xfrm>
            <a:off x="6972300" y="1857375"/>
            <a:ext cx="1687354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36" name="Text 10"/>
          <p:cNvSpPr/>
          <p:nvPr/>
        </p:nvSpPr>
        <p:spPr>
          <a:xfrm>
            <a:off x="8573244" y="1819275"/>
            <a:ext cx="1047274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38" name="Text 12"/>
          <p:cNvSpPr/>
          <p:nvPr/>
        </p:nvSpPr>
        <p:spPr>
          <a:xfrm>
            <a:off x="8630841" y="2505075"/>
            <a:ext cx="2127052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39" name="Text 13"/>
          <p:cNvSpPr/>
          <p:nvPr/>
        </p:nvSpPr>
        <p:spPr>
          <a:xfrm>
            <a:off x="7327255" y="3228975"/>
            <a:ext cx="901898" cy="3905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0" name="Text 14"/>
          <p:cNvSpPr/>
          <p:nvPr/>
        </p:nvSpPr>
        <p:spPr>
          <a:xfrm>
            <a:off x="9794349" y="3228975"/>
            <a:ext cx="1802368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1" name="Text 15"/>
          <p:cNvSpPr/>
          <p:nvPr/>
        </p:nvSpPr>
        <p:spPr>
          <a:xfrm>
            <a:off x="8331845" y="4038600"/>
            <a:ext cx="215473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2" name="Text 16"/>
          <p:cNvSpPr/>
          <p:nvPr/>
        </p:nvSpPr>
        <p:spPr>
          <a:xfrm>
            <a:off x="6591300" y="5029200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43" name="Text 17"/>
          <p:cNvSpPr/>
          <p:nvPr/>
        </p:nvSpPr>
        <p:spPr>
          <a:xfrm>
            <a:off x="6896100" y="5486400"/>
            <a:ext cx="6584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001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828800"/>
            <a:ext cx="2198340" cy="1371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7696" y="1981200"/>
            <a:ext cx="3048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4590" y="2505075"/>
            <a:ext cx="811560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1400" y="1924050"/>
            <a:ext cx="2198340" cy="1181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66183" y="2076450"/>
            <a:ext cx="428625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4990" y="2505075"/>
            <a:ext cx="811560" cy="190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1800" y="1828800"/>
            <a:ext cx="2438400" cy="1371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86688" y="1981200"/>
            <a:ext cx="428625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72600" y="1828800"/>
            <a:ext cx="2438400" cy="1371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77488" y="1981200"/>
            <a:ext cx="428625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3505200"/>
            <a:ext cx="5600700" cy="2095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369570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3505200"/>
            <a:ext cx="5600700" cy="2095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3695700"/>
            <a:ext cx="285750" cy="3048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81000" y="381000"/>
            <a:ext cx="13716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ProtectedRoute.tsx: захист приватних маршрутів</a:t>
            </a:r>
            <a:endParaRPr lang="en-US" sz="2250" dirty="0"/>
          </a:p>
        </p:txBody>
      </p:sp>
      <p:sp>
        <p:nvSpPr>
          <p:cNvPr id="19" name="Text 1"/>
          <p:cNvSpPr/>
          <p:nvPr/>
        </p:nvSpPr>
        <p:spPr>
          <a:xfrm>
            <a:off x="381000" y="1066800"/>
            <a:ext cx="11430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 </a:t>
            </a:r>
            <a:r>
              <a:rPr lang="en-US" sz="15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ProtectedRoute.tsx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є обгорткою (Higher-Order Component - HOC), призначеною для захисту маршрутів, доступ до яких вимагає автентифікації користувача.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344046" y="2438400"/>
            <a:ext cx="227224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Захищений маршрут</a:t>
            </a:r>
            <a:endParaRPr lang="en-US" sz="1200" dirty="0"/>
          </a:p>
        </p:txBody>
      </p:sp>
      <p:sp>
        <p:nvSpPr>
          <p:cNvPr id="21" name="Text 3"/>
          <p:cNvSpPr/>
          <p:nvPr/>
        </p:nvSpPr>
        <p:spPr>
          <a:xfrm>
            <a:off x="533400" y="2667000"/>
            <a:ext cx="189354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до якого вимагає автентифікації</a:t>
            </a:r>
            <a:endParaRPr lang="en-US" sz="1050" dirty="0"/>
          </a:p>
        </p:txBody>
      </p:sp>
      <p:sp>
        <p:nvSpPr>
          <p:cNvPr id="22" name="Text 4"/>
          <p:cNvSpPr/>
          <p:nvPr/>
        </p:nvSpPr>
        <p:spPr>
          <a:xfrm>
            <a:off x="3544446" y="2533650"/>
            <a:ext cx="227224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Перевірка статусу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3544446" y="2762250"/>
            <a:ext cx="227224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авторизований користувач</a:t>
            </a:r>
            <a:endParaRPr lang="en-US" sz="1050" dirty="0"/>
          </a:p>
        </p:txBody>
      </p:sp>
      <p:sp>
        <p:nvSpPr>
          <p:cNvPr id="24" name="Text 6"/>
          <p:cNvSpPr/>
          <p:nvPr/>
        </p:nvSpPr>
        <p:spPr>
          <a:xfrm>
            <a:off x="6720840" y="2438400"/>
            <a:ext cx="2560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Перенаправлення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6934200" y="2667000"/>
            <a:ext cx="2133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неавторизованих користувачів</a:t>
            </a:r>
            <a:endParaRPr lang="en-US" sz="1050" dirty="0"/>
          </a:p>
        </p:txBody>
      </p:sp>
      <p:sp>
        <p:nvSpPr>
          <p:cNvPr id="26" name="Text 8"/>
          <p:cNvSpPr/>
          <p:nvPr/>
        </p:nvSpPr>
        <p:spPr>
          <a:xfrm>
            <a:off x="9311640" y="2438400"/>
            <a:ext cx="2560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дозволений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9311640" y="2667000"/>
            <a:ext cx="2560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авторизованих користувачів</a:t>
            </a:r>
            <a:endParaRPr lang="en-US" sz="1050" dirty="0"/>
          </a:p>
        </p:txBody>
      </p:sp>
      <p:sp>
        <p:nvSpPr>
          <p:cNvPr id="28" name="Text 10"/>
          <p:cNvSpPr/>
          <p:nvPr/>
        </p:nvSpPr>
        <p:spPr>
          <a:xfrm>
            <a:off x="914400" y="3714750"/>
            <a:ext cx="157073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Логіка роботи</a:t>
            </a:r>
            <a:endParaRPr lang="en-US" sz="1500" dirty="0"/>
          </a:p>
        </p:txBody>
      </p:sp>
      <p:sp>
        <p:nvSpPr>
          <p:cNvPr id="29" name="Text 11"/>
          <p:cNvSpPr/>
          <p:nvPr/>
        </p:nvSpPr>
        <p:spPr>
          <a:xfrm>
            <a:off x="685800" y="4114800"/>
            <a:ext cx="5105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Перевіряє статус користувача при спробі доступу до захищеного маршруту</a:t>
            </a:r>
            <a:endParaRPr lang="en-US" sz="1200" dirty="0"/>
          </a:p>
        </p:txBody>
      </p:sp>
      <p:sp>
        <p:nvSpPr>
          <p:cNvPr id="30" name="Text 12"/>
          <p:cNvSpPr/>
          <p:nvPr/>
        </p:nvSpPr>
        <p:spPr>
          <a:xfrm>
            <a:off x="685800" y="4648200"/>
            <a:ext cx="5105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користувач не автентифікований, автоматично перенаправляє на сторінку входу (/login)</a:t>
            </a:r>
            <a:endParaRPr lang="en-US" sz="1200" dirty="0"/>
          </a:p>
        </p:txBody>
      </p:sp>
      <p:sp>
        <p:nvSpPr>
          <p:cNvPr id="31" name="Text 13"/>
          <p:cNvSpPr/>
          <p:nvPr/>
        </p:nvSpPr>
        <p:spPr>
          <a:xfrm>
            <a:off x="685800" y="5181600"/>
            <a:ext cx="6126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користувач автентифікований, рендерить дочірні компоненти</a:t>
            </a:r>
            <a:endParaRPr lang="en-US" sz="1200" dirty="0"/>
          </a:p>
        </p:txBody>
      </p:sp>
      <p:sp>
        <p:nvSpPr>
          <p:cNvPr id="32" name="Text 14"/>
          <p:cNvSpPr/>
          <p:nvPr/>
        </p:nvSpPr>
        <p:spPr>
          <a:xfrm>
            <a:off x="6800850" y="3714750"/>
            <a:ext cx="11849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Реалізація</a:t>
            </a:r>
            <a:endParaRPr lang="en-US" sz="1500" dirty="0"/>
          </a:p>
        </p:txBody>
      </p:sp>
      <p:sp>
        <p:nvSpPr>
          <p:cNvPr id="33" name="Text 15"/>
          <p:cNvSpPr/>
          <p:nvPr/>
        </p:nvSpPr>
        <p:spPr>
          <a:xfrm>
            <a:off x="6515100" y="4114800"/>
            <a:ext cx="5105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Використовує перевірку наявності токена автентифікації в локальному сховищі</a:t>
            </a:r>
            <a:endParaRPr lang="en-US" sz="1200" dirty="0"/>
          </a:p>
        </p:txBody>
      </p:sp>
      <p:sp>
        <p:nvSpPr>
          <p:cNvPr id="34" name="Text 16"/>
          <p:cNvSpPr/>
          <p:nvPr/>
        </p:nvSpPr>
        <p:spPr>
          <a:xfrm>
            <a:off x="6515100" y="4648200"/>
            <a:ext cx="6126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 перевіряти стан користувача в контексті додатка</a:t>
            </a:r>
            <a:endParaRPr lang="en-US" sz="1200" dirty="0"/>
          </a:p>
        </p:txBody>
      </p:sp>
      <p:sp>
        <p:nvSpPr>
          <p:cNvPr id="35" name="Text 17"/>
          <p:cNvSpPr/>
          <p:nvPr/>
        </p:nvSpPr>
        <p:spPr>
          <a:xfrm>
            <a:off x="6515100" y="4953000"/>
            <a:ext cx="6126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Забезпечує безпечний перехід між захищеними маршрутами</a:t>
            </a:r>
            <a:endParaRPr lang="en-US" sz="1200" dirty="0"/>
          </a:p>
        </p:txBody>
      </p:sp>
      <p:sp>
        <p:nvSpPr>
          <p:cNvPr id="36" name="Text 18"/>
          <p:cNvSpPr/>
          <p:nvPr/>
        </p:nvSpPr>
        <p:spPr>
          <a:xfrm>
            <a:off x="381000" y="6286500"/>
            <a:ext cx="10363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37" name="Text 19"/>
          <p:cNvSpPr/>
          <p:nvPr/>
        </p:nvSpPr>
        <p:spPr>
          <a:xfrm>
            <a:off x="10228064" y="6286500"/>
            <a:ext cx="189952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001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2234" y="1828800"/>
            <a:ext cx="6447383" cy="1219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4634" y="1981200"/>
            <a:ext cx="940296" cy="914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1907" y="2095500"/>
            <a:ext cx="28575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7805" y="2428875"/>
            <a:ext cx="914400" cy="190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5080" y="1981200"/>
            <a:ext cx="1319659" cy="914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1960" y="2095500"/>
            <a:ext cx="28575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7614" y="2428875"/>
            <a:ext cx="914400" cy="190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84889" y="1981200"/>
            <a:ext cx="1482328" cy="914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97466" y="2095500"/>
            <a:ext cx="25717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3733800"/>
            <a:ext cx="5638800" cy="1104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3886200"/>
            <a:ext cx="19050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72200" y="3733800"/>
            <a:ext cx="5638800" cy="1104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62700" y="3886200"/>
            <a:ext cx="219075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4991100"/>
            <a:ext cx="5638800" cy="1104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5143500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72200" y="4991100"/>
            <a:ext cx="5638800" cy="1104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62700" y="5143500"/>
            <a:ext cx="190500" cy="2667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81000" y="381000"/>
            <a:ext cx="13716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ContainerDetailsPage.tsx: відображення детальної інформації</a:t>
            </a:r>
            <a:endParaRPr lang="en-US" sz="2250" dirty="0"/>
          </a:p>
        </p:txBody>
      </p:sp>
      <p:sp>
        <p:nvSpPr>
          <p:cNvPr id="22" name="Text 1"/>
          <p:cNvSpPr/>
          <p:nvPr/>
        </p:nvSpPr>
        <p:spPr>
          <a:xfrm>
            <a:off x="381000" y="1066800"/>
            <a:ext cx="11430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 відповідає за відображення детальної інформації про конкретний контейнер. Він отримує ідентифікатор з URL, завантажує дані через API та представляє їх користувачеві.</a:t>
            </a:r>
            <a:endParaRPr lang="en-US" sz="1500" dirty="0"/>
          </a:p>
        </p:txBody>
      </p:sp>
      <p:sp>
        <p:nvSpPr>
          <p:cNvPr id="23" name="Text 2"/>
          <p:cNvSpPr/>
          <p:nvPr/>
        </p:nvSpPr>
        <p:spPr>
          <a:xfrm>
            <a:off x="3138934" y="2438400"/>
            <a:ext cx="71169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</a:t>
            </a:r>
            <a:endParaRPr lang="en-US" sz="1050" dirty="0"/>
          </a:p>
        </p:txBody>
      </p:sp>
      <p:sp>
        <p:nvSpPr>
          <p:cNvPr id="24" name="Text 3"/>
          <p:cNvSpPr/>
          <p:nvPr/>
        </p:nvSpPr>
        <p:spPr>
          <a:xfrm>
            <a:off x="3067764" y="2628900"/>
            <a:ext cx="85403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/containers/:id</a:t>
            </a:r>
            <a:endParaRPr lang="en-US" sz="900" dirty="0"/>
          </a:p>
        </p:txBody>
      </p:sp>
      <p:sp>
        <p:nvSpPr>
          <p:cNvPr id="25" name="Text 4"/>
          <p:cNvSpPr/>
          <p:nvPr/>
        </p:nvSpPr>
        <p:spPr>
          <a:xfrm>
            <a:off x="5170274" y="2438400"/>
            <a:ext cx="130927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запит</a:t>
            </a:r>
            <a:endParaRPr lang="en-US" sz="1050" dirty="0"/>
          </a:p>
        </p:txBody>
      </p:sp>
      <p:sp>
        <p:nvSpPr>
          <p:cNvPr id="26" name="Text 5"/>
          <p:cNvSpPr/>
          <p:nvPr/>
        </p:nvSpPr>
        <p:spPr>
          <a:xfrm>
            <a:off x="5170274" y="2628900"/>
            <a:ext cx="130927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завантаження даних</a:t>
            </a:r>
            <a:endParaRPr lang="en-US" sz="900" dirty="0"/>
          </a:p>
        </p:txBody>
      </p:sp>
      <p:sp>
        <p:nvSpPr>
          <p:cNvPr id="27" name="Text 6"/>
          <p:cNvSpPr/>
          <p:nvPr/>
        </p:nvSpPr>
        <p:spPr>
          <a:xfrm>
            <a:off x="7673816" y="2438400"/>
            <a:ext cx="150447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Відображення</a:t>
            </a:r>
            <a:endParaRPr lang="en-US" sz="1050" dirty="0"/>
          </a:p>
        </p:txBody>
      </p:sp>
      <p:sp>
        <p:nvSpPr>
          <p:cNvPr id="28" name="Text 7"/>
          <p:cNvSpPr/>
          <p:nvPr/>
        </p:nvSpPr>
        <p:spPr>
          <a:xfrm>
            <a:off x="7673816" y="2628900"/>
            <a:ext cx="1504474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інформації користувачу</a:t>
            </a:r>
            <a:endParaRPr lang="en-US" sz="900" dirty="0"/>
          </a:p>
        </p:txBody>
      </p:sp>
      <p:sp>
        <p:nvSpPr>
          <p:cNvPr id="29" name="Text 8"/>
          <p:cNvSpPr/>
          <p:nvPr/>
        </p:nvSpPr>
        <p:spPr>
          <a:xfrm>
            <a:off x="381000" y="3352800"/>
            <a:ext cx="11430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Ключові елементи інтерфейсу</a:t>
            </a:r>
            <a:endParaRPr lang="en-US" sz="1500" dirty="0"/>
          </a:p>
        </p:txBody>
      </p:sp>
      <p:sp>
        <p:nvSpPr>
          <p:cNvPr id="30" name="Text 9"/>
          <p:cNvSpPr/>
          <p:nvPr/>
        </p:nvSpPr>
        <p:spPr>
          <a:xfrm>
            <a:off x="876300" y="3886200"/>
            <a:ext cx="268551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Ідентифікатор контейнера</a:t>
            </a:r>
            <a:endParaRPr lang="en-US" sz="1350" dirty="0"/>
          </a:p>
        </p:txBody>
      </p:sp>
      <p:sp>
        <p:nvSpPr>
          <p:cNvPr id="31" name="Text 10"/>
          <p:cNvSpPr/>
          <p:nvPr/>
        </p:nvSpPr>
        <p:spPr>
          <a:xfrm>
            <a:off x="571500" y="4229100"/>
            <a:ext cx="63550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Чітке ідентифікування об'єкта, інформація про який відображається.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6696075" y="3886200"/>
            <a:ext cx="190773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Детальні атрибути</a:t>
            </a:r>
            <a:endParaRPr lang="en-US" sz="1350" dirty="0"/>
          </a:p>
        </p:txBody>
      </p:sp>
      <p:sp>
        <p:nvSpPr>
          <p:cNvPr id="33" name="Text 12"/>
          <p:cNvSpPr/>
          <p:nvPr/>
        </p:nvSpPr>
        <p:spPr>
          <a:xfrm>
            <a:off x="6362700" y="4229100"/>
            <a:ext cx="5295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Відображення різноманітних даних: статус, тип, розміри, місцезнаходження.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876300" y="5143500"/>
            <a:ext cx="95047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Навігація</a:t>
            </a:r>
            <a:endParaRPr lang="en-US" sz="1350" dirty="0"/>
          </a:p>
        </p:txBody>
      </p:sp>
      <p:sp>
        <p:nvSpPr>
          <p:cNvPr id="35" name="Text 14"/>
          <p:cNvSpPr/>
          <p:nvPr/>
        </p:nvSpPr>
        <p:spPr>
          <a:xfrm>
            <a:off x="571500" y="5486400"/>
            <a:ext cx="5295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Можливість повернення до списку контейнерів або переходу до пов'язаних сторінок.</a:t>
            </a:r>
            <a:endParaRPr lang="en-US" sz="1200" dirty="0"/>
          </a:p>
        </p:txBody>
      </p:sp>
      <p:sp>
        <p:nvSpPr>
          <p:cNvPr id="36" name="Text 15"/>
          <p:cNvSpPr/>
          <p:nvPr/>
        </p:nvSpPr>
        <p:spPr>
          <a:xfrm>
            <a:off x="6667500" y="5143500"/>
            <a:ext cx="260675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Індикатори завантаження</a:t>
            </a:r>
            <a:endParaRPr lang="en-US" sz="1350" dirty="0"/>
          </a:p>
        </p:txBody>
      </p:sp>
      <p:sp>
        <p:nvSpPr>
          <p:cNvPr id="37" name="Text 16"/>
          <p:cNvSpPr/>
          <p:nvPr/>
        </p:nvSpPr>
        <p:spPr>
          <a:xfrm>
            <a:off x="6362700" y="5486400"/>
            <a:ext cx="5295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Відображення стану завантаження та повідомлень про помилки при отриманні інформації.</a:t>
            </a:r>
            <a:endParaRPr lang="en-US" sz="1200" dirty="0"/>
          </a:p>
        </p:txBody>
      </p:sp>
      <p:sp>
        <p:nvSpPr>
          <p:cNvPr id="39" name="Text 18"/>
          <p:cNvSpPr/>
          <p:nvPr/>
        </p:nvSpPr>
        <p:spPr>
          <a:xfrm>
            <a:off x="10228064" y="6286500"/>
            <a:ext cx="189952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239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2209800"/>
            <a:ext cx="190500" cy="152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2743200"/>
            <a:ext cx="114300" cy="152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3429000"/>
            <a:ext cx="2743200" cy="609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35433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4200" y="3429000"/>
            <a:ext cx="2743200" cy="609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0" y="35433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4114800"/>
            <a:ext cx="2743200" cy="609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42291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24200" y="4114800"/>
            <a:ext cx="2743200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00400" y="4229100"/>
            <a:ext cx="13335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1295400"/>
            <a:ext cx="5562600" cy="1752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1562100"/>
            <a:ext cx="1659731" cy="647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63991" y="1600200"/>
            <a:ext cx="28575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31981" y="1876425"/>
            <a:ext cx="439043" cy="190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66274" y="1447800"/>
            <a:ext cx="1207591" cy="8763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55770" y="1485900"/>
            <a:ext cx="2286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69116" y="1876425"/>
            <a:ext cx="439043" cy="190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03409" y="1447800"/>
            <a:ext cx="1131540" cy="8763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54804" y="1485900"/>
            <a:ext cx="22860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69572" y="2438400"/>
            <a:ext cx="1227088" cy="457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45772" y="2514600"/>
            <a:ext cx="515838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61611" y="2514600"/>
            <a:ext cx="558850" cy="304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10960" y="2590800"/>
            <a:ext cx="1143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339560" y="2514600"/>
            <a:ext cx="1102519" cy="304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24600" y="3200400"/>
            <a:ext cx="5562600" cy="29337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38900" y="3352800"/>
            <a:ext cx="1905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38900" y="3581400"/>
            <a:ext cx="5334000" cy="24384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304800" y="304800"/>
            <a:ext cx="138988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LanguageSwitcher.tsx: забезпечення багатомовності</a:t>
            </a:r>
            <a:endParaRPr lang="en-US" sz="2250" dirty="0"/>
          </a:p>
        </p:txBody>
      </p:sp>
      <p:sp>
        <p:nvSpPr>
          <p:cNvPr id="32" name="Text 1"/>
          <p:cNvSpPr/>
          <p:nvPr/>
        </p:nvSpPr>
        <p:spPr>
          <a:xfrm>
            <a:off x="304800" y="914400"/>
            <a:ext cx="55626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 </a:t>
            </a:r>
            <a:r>
              <a:rPr lang="en-US" sz="15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LanguageSwitcher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дозволяє змінювати мову інтерфейсу між українською та англійською, використовуючи </a:t>
            </a: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react-i18next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33" name="Text 2"/>
          <p:cNvSpPr/>
          <p:nvPr/>
        </p:nvSpPr>
        <p:spPr>
          <a:xfrm>
            <a:off x="304800" y="1828800"/>
            <a:ext cx="5562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Технологічний стек:</a:t>
            </a:r>
            <a:endParaRPr lang="en-US" sz="1500" dirty="0"/>
          </a:p>
        </p:txBody>
      </p:sp>
      <p:sp>
        <p:nvSpPr>
          <p:cNvPr id="34" name="Text 3"/>
          <p:cNvSpPr/>
          <p:nvPr/>
        </p:nvSpPr>
        <p:spPr>
          <a:xfrm>
            <a:off x="609600" y="2171700"/>
            <a:ext cx="4169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react-i18next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бібліотека для інтернаціоналізації</a:t>
            </a:r>
            <a:endParaRPr lang="en-US" sz="1200" dirty="0"/>
          </a:p>
        </p:txBody>
      </p:sp>
      <p:sp>
        <p:nvSpPr>
          <p:cNvPr id="35" name="Text 4"/>
          <p:cNvSpPr/>
          <p:nvPr/>
        </p:nvSpPr>
        <p:spPr>
          <a:xfrm>
            <a:off x="419100" y="2438400"/>
            <a:ext cx="357544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useTranslation()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хук для доступу до i18n</a:t>
            </a:r>
            <a:endParaRPr lang="en-US" sz="1200" dirty="0"/>
          </a:p>
        </p:txBody>
      </p:sp>
      <p:sp>
        <p:nvSpPr>
          <p:cNvPr id="36" name="Text 5"/>
          <p:cNvSpPr/>
          <p:nvPr/>
        </p:nvSpPr>
        <p:spPr>
          <a:xfrm>
            <a:off x="533400" y="2705100"/>
            <a:ext cx="404425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LanguageSwitcher.css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CSS-стилі компонента</a:t>
            </a:r>
            <a:endParaRPr lang="en-US" sz="1200" dirty="0"/>
          </a:p>
        </p:txBody>
      </p:sp>
      <p:sp>
        <p:nvSpPr>
          <p:cNvPr id="37" name="Text 6"/>
          <p:cNvSpPr/>
          <p:nvPr/>
        </p:nvSpPr>
        <p:spPr>
          <a:xfrm>
            <a:off x="304800" y="3086100"/>
            <a:ext cx="5562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Особливості реалізації:</a:t>
            </a:r>
            <a:endParaRPr lang="en-US" sz="1500" dirty="0"/>
          </a:p>
        </p:txBody>
      </p:sp>
      <p:sp>
        <p:nvSpPr>
          <p:cNvPr id="38" name="Text 7"/>
          <p:cNvSpPr/>
          <p:nvPr/>
        </p:nvSpPr>
        <p:spPr>
          <a:xfrm>
            <a:off x="609600" y="3505200"/>
            <a:ext cx="134838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Підтримка мов</a:t>
            </a:r>
            <a:endParaRPr lang="en-US" sz="1200" dirty="0"/>
          </a:p>
        </p:txBody>
      </p:sp>
      <p:sp>
        <p:nvSpPr>
          <p:cNvPr id="39" name="Text 8"/>
          <p:cNvSpPr/>
          <p:nvPr/>
        </p:nvSpPr>
        <p:spPr>
          <a:xfrm>
            <a:off x="381000" y="3771900"/>
            <a:ext cx="31089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Українська (ua) та англійська (en)</a:t>
            </a:r>
            <a:endParaRPr lang="en-US" sz="1050" dirty="0"/>
          </a:p>
        </p:txBody>
      </p:sp>
      <p:sp>
        <p:nvSpPr>
          <p:cNvPr id="40" name="Text 9"/>
          <p:cNvSpPr/>
          <p:nvPr/>
        </p:nvSpPr>
        <p:spPr>
          <a:xfrm>
            <a:off x="3429000" y="3505200"/>
            <a:ext cx="14948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Динамічна зміна</a:t>
            </a:r>
            <a:endParaRPr lang="en-US" sz="1200" dirty="0"/>
          </a:p>
        </p:txBody>
      </p:sp>
      <p:sp>
        <p:nvSpPr>
          <p:cNvPr id="41" name="Text 10"/>
          <p:cNvSpPr/>
          <p:nvPr/>
        </p:nvSpPr>
        <p:spPr>
          <a:xfrm>
            <a:off x="3200400" y="3771900"/>
            <a:ext cx="31089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Миттєвий переклад</a:t>
            </a:r>
            <a:endParaRPr lang="en-US" sz="1050" dirty="0"/>
          </a:p>
        </p:txBody>
      </p:sp>
      <p:sp>
        <p:nvSpPr>
          <p:cNvPr id="42" name="Text 11"/>
          <p:cNvSpPr/>
          <p:nvPr/>
        </p:nvSpPr>
        <p:spPr>
          <a:xfrm>
            <a:off x="609600" y="4191000"/>
            <a:ext cx="111478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Доступність</a:t>
            </a:r>
            <a:endParaRPr lang="en-US" sz="1200" dirty="0"/>
          </a:p>
        </p:txBody>
      </p:sp>
      <p:sp>
        <p:nvSpPr>
          <p:cNvPr id="43" name="Text 12"/>
          <p:cNvSpPr/>
          <p:nvPr/>
        </p:nvSpPr>
        <p:spPr>
          <a:xfrm>
            <a:off x="381000" y="4457700"/>
            <a:ext cx="31089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Використання aria-label</a:t>
            </a:r>
            <a:endParaRPr lang="en-US" sz="1050" dirty="0"/>
          </a:p>
        </p:txBody>
      </p:sp>
      <p:sp>
        <p:nvSpPr>
          <p:cNvPr id="44" name="Text 13"/>
          <p:cNvSpPr/>
          <p:nvPr/>
        </p:nvSpPr>
        <p:spPr>
          <a:xfrm>
            <a:off x="3409950" y="4191000"/>
            <a:ext cx="152715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Розширюваність</a:t>
            </a:r>
            <a:endParaRPr lang="en-US" sz="1200" dirty="0"/>
          </a:p>
        </p:txBody>
      </p:sp>
      <p:sp>
        <p:nvSpPr>
          <p:cNvPr id="45" name="Text 14"/>
          <p:cNvSpPr/>
          <p:nvPr/>
        </p:nvSpPr>
        <p:spPr>
          <a:xfrm>
            <a:off x="3200400" y="4457700"/>
            <a:ext cx="31089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Легке додавання нових мов</a:t>
            </a:r>
            <a:endParaRPr lang="en-US" sz="1050" dirty="0"/>
          </a:p>
        </p:txBody>
      </p:sp>
      <p:sp>
        <p:nvSpPr>
          <p:cNvPr id="46" name="Text 15"/>
          <p:cNvSpPr/>
          <p:nvPr/>
        </p:nvSpPr>
        <p:spPr>
          <a:xfrm>
            <a:off x="6324600" y="914400"/>
            <a:ext cx="6675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компонент використовується в додатку:</a:t>
            </a:r>
            <a:endParaRPr lang="en-US" sz="1500" dirty="0"/>
          </a:p>
        </p:txBody>
      </p:sp>
      <p:sp>
        <p:nvSpPr>
          <p:cNvPr id="47" name="Text 16"/>
          <p:cNvSpPr/>
          <p:nvPr/>
        </p:nvSpPr>
        <p:spPr>
          <a:xfrm>
            <a:off x="6493907" y="1943100"/>
            <a:ext cx="162591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LanguageSwitcher</a:t>
            </a:r>
            <a:endParaRPr lang="en-US" sz="1200" dirty="0"/>
          </a:p>
        </p:txBody>
      </p:sp>
      <p:sp>
        <p:nvSpPr>
          <p:cNvPr id="48" name="Text 17"/>
          <p:cNvSpPr/>
          <p:nvPr/>
        </p:nvSpPr>
        <p:spPr>
          <a:xfrm>
            <a:off x="8918674" y="1828800"/>
            <a:ext cx="90279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react-i18next</a:t>
            </a:r>
            <a:endParaRPr lang="en-US" sz="1200" dirty="0"/>
          </a:p>
        </p:txBody>
      </p:sp>
      <p:sp>
        <p:nvSpPr>
          <p:cNvPr id="49" name="Text 18"/>
          <p:cNvSpPr/>
          <p:nvPr/>
        </p:nvSpPr>
        <p:spPr>
          <a:xfrm>
            <a:off x="10755809" y="1828800"/>
            <a:ext cx="82674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Зміна мови</a:t>
            </a:r>
            <a:endParaRPr lang="en-US" sz="1200" dirty="0"/>
          </a:p>
        </p:txBody>
      </p:sp>
      <p:sp>
        <p:nvSpPr>
          <p:cNvPr id="50" name="Text 19"/>
          <p:cNvSpPr/>
          <p:nvPr/>
        </p:nvSpPr>
        <p:spPr>
          <a:xfrm>
            <a:off x="7960072" y="2514600"/>
            <a:ext cx="61900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УКР</a:t>
            </a:r>
            <a:endParaRPr lang="en-US" sz="1200" dirty="0"/>
          </a:p>
        </p:txBody>
      </p:sp>
      <p:sp>
        <p:nvSpPr>
          <p:cNvPr id="51" name="Text 20"/>
          <p:cNvSpPr/>
          <p:nvPr/>
        </p:nvSpPr>
        <p:spPr>
          <a:xfrm>
            <a:off x="8475911" y="2514600"/>
            <a:ext cx="5588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</a:t>
            </a:r>
            <a:endParaRPr lang="en-US" sz="1200" dirty="0"/>
          </a:p>
        </p:txBody>
      </p:sp>
      <p:sp>
        <p:nvSpPr>
          <p:cNvPr id="52" name="Text 21"/>
          <p:cNvSpPr/>
          <p:nvPr/>
        </p:nvSpPr>
        <p:spPr>
          <a:xfrm>
            <a:off x="9453860" y="2514600"/>
            <a:ext cx="132302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Застосувати</a:t>
            </a:r>
            <a:endParaRPr lang="en-US" sz="1200" dirty="0"/>
          </a:p>
        </p:txBody>
      </p:sp>
      <p:sp>
        <p:nvSpPr>
          <p:cNvPr id="53" name="Text 22"/>
          <p:cNvSpPr/>
          <p:nvPr/>
        </p:nvSpPr>
        <p:spPr>
          <a:xfrm>
            <a:off x="6705600" y="3314700"/>
            <a:ext cx="5334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 використання</a:t>
            </a:r>
            <a:endParaRPr lang="en-US" sz="1200" dirty="0"/>
          </a:p>
        </p:txBody>
      </p:sp>
      <p:sp>
        <p:nvSpPr>
          <p:cNvPr id="54" name="Text 23"/>
          <p:cNvSpPr/>
          <p:nvPr/>
        </p:nvSpPr>
        <p:spPr>
          <a:xfrm>
            <a:off x="6515100" y="3657600"/>
            <a:ext cx="62179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components/LanguageSwitcher.tsx</a:t>
            </a:r>
            <a:endParaRPr lang="en-US" sz="1050" dirty="0"/>
          </a:p>
        </p:txBody>
      </p:sp>
      <p:sp>
        <p:nvSpPr>
          <p:cNvPr id="55" name="Text 24"/>
          <p:cNvSpPr/>
          <p:nvPr/>
        </p:nvSpPr>
        <p:spPr>
          <a:xfrm>
            <a:off x="6515100" y="3848100"/>
            <a:ext cx="5181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import</a:t>
            </a:r>
            <a:endParaRPr lang="en-US" sz="1050" dirty="0"/>
          </a:p>
        </p:txBody>
      </p:sp>
      <p:sp>
        <p:nvSpPr>
          <p:cNvPr id="56" name="Text 25"/>
          <p:cNvSpPr/>
          <p:nvPr/>
        </p:nvSpPr>
        <p:spPr>
          <a:xfrm>
            <a:off x="6591300" y="4038600"/>
            <a:ext cx="5105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i18n</a:t>
            </a:r>
            <a:endParaRPr lang="en-US" sz="1050" dirty="0"/>
          </a:p>
        </p:txBody>
      </p:sp>
      <p:sp>
        <p:nvSpPr>
          <p:cNvPr id="57" name="Text 26"/>
          <p:cNvSpPr/>
          <p:nvPr/>
        </p:nvSpPr>
        <p:spPr>
          <a:xfrm>
            <a:off x="6515100" y="4229100"/>
            <a:ext cx="5181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from</a:t>
            </a:r>
            <a:endParaRPr lang="en-US" sz="1050" dirty="0"/>
          </a:p>
        </p:txBody>
      </p:sp>
      <p:sp>
        <p:nvSpPr>
          <p:cNvPr id="58" name="Text 27"/>
          <p:cNvSpPr/>
          <p:nvPr/>
        </p:nvSpPr>
        <p:spPr>
          <a:xfrm>
            <a:off x="6591300" y="4419600"/>
            <a:ext cx="5105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"react-i18next"</a:t>
            </a:r>
            <a:endParaRPr lang="en-US" sz="1050" dirty="0"/>
          </a:p>
        </p:txBody>
      </p:sp>
      <p:sp>
        <p:nvSpPr>
          <p:cNvPr id="59" name="Text 28"/>
          <p:cNvSpPr/>
          <p:nvPr/>
        </p:nvSpPr>
        <p:spPr>
          <a:xfrm>
            <a:off x="6515100" y="4610100"/>
            <a:ext cx="5181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;</a:t>
            </a:r>
            <a:endParaRPr lang="en-US" sz="1050" dirty="0"/>
          </a:p>
        </p:txBody>
      </p:sp>
      <p:sp>
        <p:nvSpPr>
          <p:cNvPr id="60" name="Text 29"/>
          <p:cNvSpPr/>
          <p:nvPr/>
        </p:nvSpPr>
        <p:spPr>
          <a:xfrm>
            <a:off x="6515100" y="4819650"/>
            <a:ext cx="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
</a:t>
            </a:r>
            <a:endParaRPr lang="en-US" sz="1050" dirty="0"/>
          </a:p>
        </p:txBody>
      </p:sp>
      <p:sp>
        <p:nvSpPr>
          <p:cNvPr id="61" name="Text 30"/>
          <p:cNvSpPr/>
          <p:nvPr/>
        </p:nvSpPr>
        <p:spPr>
          <a:xfrm>
            <a:off x="6515100" y="4991100"/>
            <a:ext cx="5181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const</a:t>
            </a:r>
            <a:endParaRPr lang="en-US" sz="1050" dirty="0"/>
          </a:p>
        </p:txBody>
      </p:sp>
      <p:sp>
        <p:nvSpPr>
          <p:cNvPr id="62" name="Text 31"/>
          <p:cNvSpPr/>
          <p:nvPr/>
        </p:nvSpPr>
        <p:spPr>
          <a:xfrm>
            <a:off x="6591300" y="5181600"/>
            <a:ext cx="5105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changeLanguage</a:t>
            </a:r>
            <a:endParaRPr lang="en-US" sz="1050" dirty="0"/>
          </a:p>
        </p:txBody>
      </p:sp>
      <p:sp>
        <p:nvSpPr>
          <p:cNvPr id="63" name="Text 32"/>
          <p:cNvSpPr/>
          <p:nvPr/>
        </p:nvSpPr>
        <p:spPr>
          <a:xfrm>
            <a:off x="6515100" y="5372100"/>
            <a:ext cx="62179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 (event: React.ChangeEvent&lt;HTMLSelectElement&gt;) =&gt; {</a:t>
            </a:r>
            <a:endParaRPr lang="en-US" sz="1050" dirty="0"/>
          </a:p>
        </p:txBody>
      </p:sp>
      <p:sp>
        <p:nvSpPr>
          <p:cNvPr id="64" name="Text 33"/>
          <p:cNvSpPr/>
          <p:nvPr/>
        </p:nvSpPr>
        <p:spPr>
          <a:xfrm>
            <a:off x="6667500" y="5562600"/>
            <a:ext cx="60350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i18n.changeLanguage(event.target.value);</a:t>
            </a:r>
            <a:endParaRPr lang="en-US" sz="1050" dirty="0"/>
          </a:p>
        </p:txBody>
      </p:sp>
      <p:sp>
        <p:nvSpPr>
          <p:cNvPr id="65" name="Text 34"/>
          <p:cNvSpPr/>
          <p:nvPr/>
        </p:nvSpPr>
        <p:spPr>
          <a:xfrm>
            <a:off x="6515100" y="5753100"/>
            <a:ext cx="5181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};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501</Words>
  <Application>Microsoft Office PowerPoint</Application>
  <PresentationFormat>Widescreen</PresentationFormat>
  <Paragraphs>97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ui-monospace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Артем Вербицький</cp:lastModifiedBy>
  <cp:revision>2</cp:revision>
  <dcterms:created xsi:type="dcterms:W3CDTF">2025-12-03T01:50:57Z</dcterms:created>
  <dcterms:modified xsi:type="dcterms:W3CDTF">2025-12-03T02:05:19Z</dcterms:modified>
</cp:coreProperties>
</file>