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9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23FF8-9FC8-452E-ADF2-A5E7415B7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C8477A12-6992-45FD-962D-E6510BB1F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25F4745-55FA-47F2-95DC-5F5C7E51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CAB81A1-EDEE-471F-ADB7-F1C5B6C0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D557ED7-FC65-41B6-8C94-209DC5D7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8245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18E5C-590C-4A48-B965-F2D8CEAF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AF45A4-AFE7-4F89-8DE8-E3BBD0545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B9201BB-57EC-4361-A39B-24937769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51FC59A-CAC2-4830-A13B-AEC6921F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2083566-BB26-4703-AC23-E4FDFDAF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579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CE8FD-3220-4D9D-9D92-279BABE5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BB513A0-F65E-4A11-8D00-1ACDAF1D0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A583606-41A9-440F-83ED-A0B2FB62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3489E7D-388C-4ADB-9E75-ED0A8198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9CE10C-F59A-4D75-80A6-0F608191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975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826D7-3816-4917-A27E-0F7493B2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0541E97-FBB2-4DF8-B654-F47336E66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EA915FE-DEB0-42D2-8B51-E9F501279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E4733EB-9E39-4451-9F6E-D090CCE0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38B1530-1082-440B-BCFA-FF614DC3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BCF7A71-ADCC-42F3-A1A6-8E3791CD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811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91DE1-FE4F-443B-9A6C-945EAD6D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2EA0385-B01B-4560-88AF-D4061A87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4748E39-CA4A-4C57-93AD-62778525D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4B4303A-7B88-4E7C-B0F5-EB9948835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FF7062C-B3EE-4D79-BF5E-0BE9F5C49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F348BEC-A283-47E6-AB2E-AC7CB32F7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0127645-DAA6-451B-A0C6-4EDC03FA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C96B43D-4F9E-4D8F-A157-FBB0EDD3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903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81757-C10E-4EDB-9334-8FC1BA12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48F63D7-E897-4F7A-9F14-55098B98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6C45E0B-410E-4D9F-9B56-5A53695D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2D5DA12-D459-488F-9A8A-3A3F9032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3192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28F9F4D-7C83-49D2-B112-23D2435C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73C8847-1D6C-44B9-9AD9-8CE7D47F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175D096-A5D8-4548-A62F-D6644CA8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896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68A83-D315-4562-9A80-95D6B939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0F1A18-ED0C-44D4-A608-882BF05D7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F5169E6-116A-41FF-AE1E-89226961F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09BE965-91C3-4709-BCD4-6FD1928D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B61FE88-3338-4F44-884A-8917254C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570EFEF-D5FE-4336-B096-12E1E29F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685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121B2-10DE-4C79-956A-000BE83A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7DE4F3FB-4E95-488F-8AA9-AD216ACD1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89BD757-7CD9-4866-814C-289390947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4E9051A-2D61-4512-99CB-727D45B6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8F68F7C-A6A7-48FB-A360-38F069A2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4C4C726-8F26-4F7A-A612-05B3452A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088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78938-9793-457D-A679-C9E94302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41E20AC-BF88-4B07-B786-63BDD47D6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9BECA2B-8B32-4870-912E-B2CFDEAA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BF43955-0A69-43D2-8554-1E93737F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162C0E2-28CA-400C-9A53-796BFB1E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244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4BF8EEE-1E19-4D28-B0F7-207677FA7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A1832CB-C19E-4F31-8288-F468F31AB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2F83CC1-6B85-4953-AAD9-25664418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35DC151-414C-4A39-9A2B-0BD2CA4F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DDDB2BD-0912-48FF-AC7E-2604471B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11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0E2D96C-5DEF-41F8-80E5-3BFABAD0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D6C7672-2433-44EC-8CC6-5AB0B6FB4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7B74A5A-B135-4890-A4A3-D6D41E742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7A990-51C1-4EAE-8B84-1C4ACAB8C72B}" type="datetimeFigureOut">
              <a:rPr lang="uk-UA" smtClean="0"/>
              <a:t>09.09.2026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266F0C-A476-4610-9650-B81EA2EEA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68BF0BE-EE39-4E37-AFF0-C0AAB1342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804A3-D748-4503-8B25-39EB4CCDAA3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336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4DDDBAAB-774E-4D9B-B2DA-6B5B3F57E7F3}"/>
              </a:ext>
            </a:extLst>
          </p:cNvPr>
          <p:cNvSpPr/>
          <p:nvPr/>
        </p:nvSpPr>
        <p:spPr>
          <a:xfrm>
            <a:off x="3868189" y="418011"/>
            <a:ext cx="1567543" cy="600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Кіностудії</a:t>
            </a:r>
          </a:p>
        </p:txBody>
      </p:sp>
      <p:cxnSp>
        <p:nvCxnSpPr>
          <p:cNvPr id="7" name="Пряма сполучна лінія 6">
            <a:extLst>
              <a:ext uri="{FF2B5EF4-FFF2-40B4-BE49-F238E27FC236}">
                <a16:creationId xmlns:a16="http://schemas.microsoft.com/office/drawing/2014/main" id="{24DDF143-4C4B-407A-82AF-538ED1AA813E}"/>
              </a:ext>
            </a:extLst>
          </p:cNvPr>
          <p:cNvCxnSpPr/>
          <p:nvPr/>
        </p:nvCxnSpPr>
        <p:spPr>
          <a:xfrm>
            <a:off x="3980608" y="1428206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360B837B-B3CA-479C-97C3-D426877B316A}"/>
              </a:ext>
            </a:extLst>
          </p:cNvPr>
          <p:cNvCxnSpPr/>
          <p:nvPr/>
        </p:nvCxnSpPr>
        <p:spPr>
          <a:xfrm>
            <a:off x="3971898" y="1793964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0C2373-3D08-4537-9FBE-E36F9BD5E90C}"/>
              </a:ext>
            </a:extLst>
          </p:cNvPr>
          <p:cNvSpPr txBox="1"/>
          <p:nvPr/>
        </p:nvSpPr>
        <p:spPr>
          <a:xfrm>
            <a:off x="4093820" y="1114697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назва 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9C42A-9483-4145-979B-E381802F8BB8}"/>
              </a:ext>
            </a:extLst>
          </p:cNvPr>
          <p:cNvSpPr txBox="1"/>
          <p:nvPr/>
        </p:nvSpPr>
        <p:spPr>
          <a:xfrm>
            <a:off x="4093820" y="1463038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адреса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53069478-3240-4602-86C8-51A46B0E93F6}"/>
              </a:ext>
            </a:extLst>
          </p:cNvPr>
          <p:cNvCxnSpPr/>
          <p:nvPr/>
        </p:nvCxnSpPr>
        <p:spPr>
          <a:xfrm flipV="1">
            <a:off x="3971900" y="1036320"/>
            <a:ext cx="0" cy="757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67D87CB1-D21B-4D12-B76B-B9649A52B1D1}"/>
              </a:ext>
            </a:extLst>
          </p:cNvPr>
          <p:cNvSpPr/>
          <p:nvPr/>
        </p:nvSpPr>
        <p:spPr>
          <a:xfrm>
            <a:off x="296092" y="418011"/>
            <a:ext cx="1532708" cy="627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Президенти</a:t>
            </a:r>
          </a:p>
        </p:txBody>
      </p:sp>
      <p:cxnSp>
        <p:nvCxnSpPr>
          <p:cNvPr id="14" name="Пряма сполучна лінія 13">
            <a:extLst>
              <a:ext uri="{FF2B5EF4-FFF2-40B4-BE49-F238E27FC236}">
                <a16:creationId xmlns:a16="http://schemas.microsoft.com/office/drawing/2014/main" id="{F5E0955D-AB2A-4222-A0F8-B4E1634BFC6E}"/>
              </a:ext>
            </a:extLst>
          </p:cNvPr>
          <p:cNvCxnSpPr/>
          <p:nvPr/>
        </p:nvCxnSpPr>
        <p:spPr>
          <a:xfrm>
            <a:off x="322216" y="1402080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 сполучна лінія 14">
            <a:extLst>
              <a:ext uri="{FF2B5EF4-FFF2-40B4-BE49-F238E27FC236}">
                <a16:creationId xmlns:a16="http://schemas.microsoft.com/office/drawing/2014/main" id="{3E5977D4-79EE-4112-A427-D570525A2152}"/>
              </a:ext>
            </a:extLst>
          </p:cNvPr>
          <p:cNvCxnSpPr/>
          <p:nvPr/>
        </p:nvCxnSpPr>
        <p:spPr>
          <a:xfrm>
            <a:off x="313506" y="1767838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5E31A5E-A9E7-4588-8D63-6CE9D79998F7}"/>
              </a:ext>
            </a:extLst>
          </p:cNvPr>
          <p:cNvSpPr txBox="1"/>
          <p:nvPr/>
        </p:nvSpPr>
        <p:spPr>
          <a:xfrm>
            <a:off x="435428" y="1088571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ПІБ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BC0A10-259F-4D6A-9CEE-4E28D6B36752}"/>
              </a:ext>
            </a:extLst>
          </p:cNvPr>
          <p:cNvSpPr txBox="1"/>
          <p:nvPr/>
        </p:nvSpPr>
        <p:spPr>
          <a:xfrm>
            <a:off x="435428" y="143691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паспорт* </a:t>
            </a:r>
          </a:p>
        </p:txBody>
      </p:sp>
      <p:cxnSp>
        <p:nvCxnSpPr>
          <p:cNvPr id="18" name="Пряма сполучна лінія 17">
            <a:extLst>
              <a:ext uri="{FF2B5EF4-FFF2-40B4-BE49-F238E27FC236}">
                <a16:creationId xmlns:a16="http://schemas.microsoft.com/office/drawing/2014/main" id="{6A27C120-105F-425E-8730-F5E8AFD4DF92}"/>
              </a:ext>
            </a:extLst>
          </p:cNvPr>
          <p:cNvCxnSpPr/>
          <p:nvPr/>
        </p:nvCxnSpPr>
        <p:spPr>
          <a:xfrm flipV="1">
            <a:off x="313508" y="1010194"/>
            <a:ext cx="0" cy="757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Ромб 18">
            <a:extLst>
              <a:ext uri="{FF2B5EF4-FFF2-40B4-BE49-F238E27FC236}">
                <a16:creationId xmlns:a16="http://schemas.microsoft.com/office/drawing/2014/main" id="{9B688856-D55B-4C78-8219-E8AF9320B4A9}"/>
              </a:ext>
            </a:extLst>
          </p:cNvPr>
          <p:cNvSpPr/>
          <p:nvPr/>
        </p:nvSpPr>
        <p:spPr>
          <a:xfrm>
            <a:off x="2219894" y="265611"/>
            <a:ext cx="1166949" cy="93181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err="1"/>
              <a:t>ке-рує</a:t>
            </a:r>
            <a:endParaRPr lang="uk-UA" dirty="0"/>
          </a:p>
        </p:txBody>
      </p:sp>
      <p:cxnSp>
        <p:nvCxnSpPr>
          <p:cNvPr id="34" name="Пряма сполучна лінія 33">
            <a:extLst>
              <a:ext uri="{FF2B5EF4-FFF2-40B4-BE49-F238E27FC236}">
                <a16:creationId xmlns:a16="http://schemas.microsoft.com/office/drawing/2014/main" id="{06A68C1D-8BE4-4052-910A-94BFD1D786AB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386843" y="731520"/>
            <a:ext cx="812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D8DE1C6-4F9F-4704-8E4D-3F555CAB855C}"/>
              </a:ext>
            </a:extLst>
          </p:cNvPr>
          <p:cNvSpPr txBox="1"/>
          <p:nvPr/>
        </p:nvSpPr>
        <p:spPr>
          <a:xfrm>
            <a:off x="1817001" y="378682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A7C2AF-0A3F-4232-A3BC-9DCDA1B6B6A6}"/>
              </a:ext>
            </a:extLst>
          </p:cNvPr>
          <p:cNvSpPr txBox="1"/>
          <p:nvPr/>
        </p:nvSpPr>
        <p:spPr>
          <a:xfrm>
            <a:off x="3601391" y="383177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cxnSp>
        <p:nvCxnSpPr>
          <p:cNvPr id="62" name="Пряма сполучна лінія 61">
            <a:extLst>
              <a:ext uri="{FF2B5EF4-FFF2-40B4-BE49-F238E27FC236}">
                <a16:creationId xmlns:a16="http://schemas.microsoft.com/office/drawing/2014/main" id="{C9985368-0B33-40A7-82D9-7BAAE5BE369E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1828800" y="731520"/>
            <a:ext cx="391094" cy="0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Прямокутник 66">
            <a:extLst>
              <a:ext uri="{FF2B5EF4-FFF2-40B4-BE49-F238E27FC236}">
                <a16:creationId xmlns:a16="http://schemas.microsoft.com/office/drawing/2014/main" id="{9B251BEA-E261-4A7B-921F-CA2144AACE13}"/>
              </a:ext>
            </a:extLst>
          </p:cNvPr>
          <p:cNvSpPr/>
          <p:nvPr/>
        </p:nvSpPr>
        <p:spPr>
          <a:xfrm>
            <a:off x="3687377" y="2836746"/>
            <a:ext cx="1567543" cy="600892"/>
          </a:xfrm>
          <a:prstGeom prst="rect">
            <a:avLst/>
          </a:prstGeom>
          <a:ln w="79375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Підрозділи</a:t>
            </a:r>
          </a:p>
        </p:txBody>
      </p:sp>
      <p:cxnSp>
        <p:nvCxnSpPr>
          <p:cNvPr id="68" name="Пряма сполучна лінія 67">
            <a:extLst>
              <a:ext uri="{FF2B5EF4-FFF2-40B4-BE49-F238E27FC236}">
                <a16:creationId xmlns:a16="http://schemas.microsoft.com/office/drawing/2014/main" id="{BCA60D05-E4A0-4C15-A4A1-8EAC7E9A72AC}"/>
              </a:ext>
            </a:extLst>
          </p:cNvPr>
          <p:cNvCxnSpPr/>
          <p:nvPr/>
        </p:nvCxnSpPr>
        <p:spPr>
          <a:xfrm>
            <a:off x="3734290" y="3778115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 сполучна лінія 68">
            <a:extLst>
              <a:ext uri="{FF2B5EF4-FFF2-40B4-BE49-F238E27FC236}">
                <a16:creationId xmlns:a16="http://schemas.microsoft.com/office/drawing/2014/main" id="{59449DAF-111D-4318-8CAB-1A24C930EB8B}"/>
              </a:ext>
            </a:extLst>
          </p:cNvPr>
          <p:cNvCxnSpPr/>
          <p:nvPr/>
        </p:nvCxnSpPr>
        <p:spPr>
          <a:xfrm>
            <a:off x="3725580" y="4143873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93C5A0E-EAFD-4722-B951-EFD9B684AA86}"/>
              </a:ext>
            </a:extLst>
          </p:cNvPr>
          <p:cNvSpPr txBox="1"/>
          <p:nvPr/>
        </p:nvSpPr>
        <p:spPr>
          <a:xfrm>
            <a:off x="3847502" y="3464606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назва *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91E75E-43FE-45B7-A7A1-340935AFF810}"/>
              </a:ext>
            </a:extLst>
          </p:cNvPr>
          <p:cNvSpPr txBox="1"/>
          <p:nvPr/>
        </p:nvSpPr>
        <p:spPr>
          <a:xfrm>
            <a:off x="3847502" y="3812947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к-ть працівників</a:t>
            </a:r>
          </a:p>
        </p:txBody>
      </p:sp>
      <p:cxnSp>
        <p:nvCxnSpPr>
          <p:cNvPr id="72" name="Пряма сполучна лінія 71">
            <a:extLst>
              <a:ext uri="{FF2B5EF4-FFF2-40B4-BE49-F238E27FC236}">
                <a16:creationId xmlns:a16="http://schemas.microsoft.com/office/drawing/2014/main" id="{9339957A-254A-4E79-80AA-077FB258AD48}"/>
              </a:ext>
            </a:extLst>
          </p:cNvPr>
          <p:cNvCxnSpPr/>
          <p:nvPr/>
        </p:nvCxnSpPr>
        <p:spPr>
          <a:xfrm flipV="1">
            <a:off x="3725582" y="3386229"/>
            <a:ext cx="0" cy="757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Ромб 72">
            <a:extLst>
              <a:ext uri="{FF2B5EF4-FFF2-40B4-BE49-F238E27FC236}">
                <a16:creationId xmlns:a16="http://schemas.microsoft.com/office/drawing/2014/main" id="{27FA8268-D8D0-41E2-B50B-51DEA3877E6A}"/>
              </a:ext>
            </a:extLst>
          </p:cNvPr>
          <p:cNvSpPr/>
          <p:nvPr/>
        </p:nvSpPr>
        <p:spPr>
          <a:xfrm>
            <a:off x="2074606" y="1681316"/>
            <a:ext cx="1366685" cy="894736"/>
          </a:xfrm>
          <a:prstGeom prst="diamond">
            <a:avLst/>
          </a:prstGeom>
          <a:ln w="6985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містить</a:t>
            </a:r>
          </a:p>
        </p:txBody>
      </p:sp>
      <p:cxnSp>
        <p:nvCxnSpPr>
          <p:cNvPr id="75" name="Пряма сполучна лінія 74">
            <a:extLst>
              <a:ext uri="{FF2B5EF4-FFF2-40B4-BE49-F238E27FC236}">
                <a16:creationId xmlns:a16="http://schemas.microsoft.com/office/drawing/2014/main" id="{8CD66B8A-C8C8-47B8-ACB3-FBA416E5411D}"/>
              </a:ext>
            </a:extLst>
          </p:cNvPr>
          <p:cNvCxnSpPr>
            <a:stCxn id="36" idx="2"/>
            <a:endCxn id="36" idx="2"/>
          </p:cNvCxnSpPr>
          <p:nvPr/>
        </p:nvCxnSpPr>
        <p:spPr>
          <a:xfrm>
            <a:off x="3784271" y="75250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 сполучна лінія 78">
            <a:extLst>
              <a:ext uri="{FF2B5EF4-FFF2-40B4-BE49-F238E27FC236}">
                <a16:creationId xmlns:a16="http://schemas.microsoft.com/office/drawing/2014/main" id="{BEAE08B7-0270-40EE-8DF5-3D8926C8E197}"/>
              </a:ext>
            </a:extLst>
          </p:cNvPr>
          <p:cNvCxnSpPr>
            <a:cxnSpLocks/>
            <a:stCxn id="73" idx="0"/>
            <a:endCxn id="5" idx="1"/>
          </p:cNvCxnSpPr>
          <p:nvPr/>
        </p:nvCxnSpPr>
        <p:spPr>
          <a:xfrm flipV="1">
            <a:off x="2757949" y="718457"/>
            <a:ext cx="1110240" cy="962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6792CB1-9157-4652-A97F-954D28D64AFC}"/>
              </a:ext>
            </a:extLst>
          </p:cNvPr>
          <p:cNvSpPr txBox="1"/>
          <p:nvPr/>
        </p:nvSpPr>
        <p:spPr>
          <a:xfrm>
            <a:off x="3577640" y="83546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033F0C6-A6EB-410A-8CF7-E23DD02AA5AB}"/>
              </a:ext>
            </a:extLst>
          </p:cNvPr>
          <p:cNvSpPr txBox="1"/>
          <p:nvPr/>
        </p:nvSpPr>
        <p:spPr>
          <a:xfrm>
            <a:off x="3253048" y="2982979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cxnSp>
        <p:nvCxnSpPr>
          <p:cNvPr id="88" name="Пряма сполучна лінія 87">
            <a:extLst>
              <a:ext uri="{FF2B5EF4-FFF2-40B4-BE49-F238E27FC236}">
                <a16:creationId xmlns:a16="http://schemas.microsoft.com/office/drawing/2014/main" id="{C92DB4B4-1D8C-4BEF-A08E-E24521D29FB4}"/>
              </a:ext>
            </a:extLst>
          </p:cNvPr>
          <p:cNvCxnSpPr>
            <a:cxnSpLocks/>
            <a:stCxn id="73" idx="2"/>
            <a:endCxn id="67" idx="1"/>
          </p:cNvCxnSpPr>
          <p:nvPr/>
        </p:nvCxnSpPr>
        <p:spPr>
          <a:xfrm>
            <a:off x="2757949" y="2576052"/>
            <a:ext cx="929428" cy="561140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Прямокутник 91">
            <a:extLst>
              <a:ext uri="{FF2B5EF4-FFF2-40B4-BE49-F238E27FC236}">
                <a16:creationId xmlns:a16="http://schemas.microsoft.com/office/drawing/2014/main" id="{96FC8525-470F-4FD0-9AFB-B588867F30BB}"/>
              </a:ext>
            </a:extLst>
          </p:cNvPr>
          <p:cNvSpPr/>
          <p:nvPr/>
        </p:nvSpPr>
        <p:spPr>
          <a:xfrm>
            <a:off x="7572500" y="296883"/>
            <a:ext cx="1686296" cy="783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Стрічки</a:t>
            </a:r>
          </a:p>
        </p:txBody>
      </p:sp>
      <p:cxnSp>
        <p:nvCxnSpPr>
          <p:cNvPr id="93" name="Пряма сполучна лінія 92">
            <a:extLst>
              <a:ext uri="{FF2B5EF4-FFF2-40B4-BE49-F238E27FC236}">
                <a16:creationId xmlns:a16="http://schemas.microsoft.com/office/drawing/2014/main" id="{EE74EDFE-EDF8-494A-ACC1-BB657BEB1B1E}"/>
              </a:ext>
            </a:extLst>
          </p:cNvPr>
          <p:cNvCxnSpPr/>
          <p:nvPr/>
        </p:nvCxnSpPr>
        <p:spPr>
          <a:xfrm>
            <a:off x="7634251" y="1428207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 сполучна лінія 93">
            <a:extLst>
              <a:ext uri="{FF2B5EF4-FFF2-40B4-BE49-F238E27FC236}">
                <a16:creationId xmlns:a16="http://schemas.microsoft.com/office/drawing/2014/main" id="{CF3C657D-C90E-445F-B530-61953F33E314}"/>
              </a:ext>
            </a:extLst>
          </p:cNvPr>
          <p:cNvCxnSpPr/>
          <p:nvPr/>
        </p:nvCxnSpPr>
        <p:spPr>
          <a:xfrm>
            <a:off x="7625541" y="1793965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242B3AC8-7A31-42D2-81DD-133AA7493C1D}"/>
              </a:ext>
            </a:extLst>
          </p:cNvPr>
          <p:cNvSpPr txBox="1"/>
          <p:nvPr/>
        </p:nvSpPr>
        <p:spPr>
          <a:xfrm>
            <a:off x="7747463" y="1114698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назва *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E3250F2-4406-4F2E-959B-D7EDA7D2F428}"/>
              </a:ext>
            </a:extLst>
          </p:cNvPr>
          <p:cNvSpPr txBox="1"/>
          <p:nvPr/>
        </p:nvSpPr>
        <p:spPr>
          <a:xfrm>
            <a:off x="7747463" y="1463039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тривалість</a:t>
            </a:r>
          </a:p>
        </p:txBody>
      </p:sp>
      <p:cxnSp>
        <p:nvCxnSpPr>
          <p:cNvPr id="97" name="Пряма сполучна лінія 96">
            <a:extLst>
              <a:ext uri="{FF2B5EF4-FFF2-40B4-BE49-F238E27FC236}">
                <a16:creationId xmlns:a16="http://schemas.microsoft.com/office/drawing/2014/main" id="{F91CFB98-68EF-4BED-B6CD-B25BC9DE2475}"/>
              </a:ext>
            </a:extLst>
          </p:cNvPr>
          <p:cNvCxnSpPr>
            <a:cxnSpLocks/>
          </p:cNvCxnSpPr>
          <p:nvPr/>
        </p:nvCxnSpPr>
        <p:spPr>
          <a:xfrm flipV="1">
            <a:off x="7625543" y="1036321"/>
            <a:ext cx="0" cy="1528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 сполучна лінія 97">
            <a:extLst>
              <a:ext uri="{FF2B5EF4-FFF2-40B4-BE49-F238E27FC236}">
                <a16:creationId xmlns:a16="http://schemas.microsoft.com/office/drawing/2014/main" id="{91C93F6B-739D-4E6C-8FB3-87205DAA0EE4}"/>
              </a:ext>
            </a:extLst>
          </p:cNvPr>
          <p:cNvCxnSpPr/>
          <p:nvPr/>
        </p:nvCxnSpPr>
        <p:spPr>
          <a:xfrm>
            <a:off x="7622375" y="2176352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 сполучна лінія 98">
            <a:extLst>
              <a:ext uri="{FF2B5EF4-FFF2-40B4-BE49-F238E27FC236}">
                <a16:creationId xmlns:a16="http://schemas.microsoft.com/office/drawing/2014/main" id="{3CA6F9FA-F38B-4EF0-A7BA-C77B395140FF}"/>
              </a:ext>
            </a:extLst>
          </p:cNvPr>
          <p:cNvCxnSpPr/>
          <p:nvPr/>
        </p:nvCxnSpPr>
        <p:spPr>
          <a:xfrm>
            <a:off x="7613665" y="2542110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F92A41D-54AC-4042-9608-6DACEF96465F}"/>
              </a:ext>
            </a:extLst>
          </p:cNvPr>
          <p:cNvSpPr txBox="1"/>
          <p:nvPr/>
        </p:nvSpPr>
        <p:spPr>
          <a:xfrm>
            <a:off x="7735587" y="2211184"/>
            <a:ext cx="95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бюджет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F221EB6-F048-4AC8-B72D-380554E46F67}"/>
              </a:ext>
            </a:extLst>
          </p:cNvPr>
          <p:cNvSpPr txBox="1"/>
          <p:nvPr/>
        </p:nvSpPr>
        <p:spPr>
          <a:xfrm>
            <a:off x="7723711" y="1819298"/>
            <a:ext cx="140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рік випуску*</a:t>
            </a:r>
          </a:p>
        </p:txBody>
      </p:sp>
      <p:sp>
        <p:nvSpPr>
          <p:cNvPr id="103" name="Прямокутник 102">
            <a:extLst>
              <a:ext uri="{FF2B5EF4-FFF2-40B4-BE49-F238E27FC236}">
                <a16:creationId xmlns:a16="http://schemas.microsoft.com/office/drawing/2014/main" id="{8205497D-52FF-429C-86BB-529C8A3CF623}"/>
              </a:ext>
            </a:extLst>
          </p:cNvPr>
          <p:cNvSpPr/>
          <p:nvPr/>
        </p:nvSpPr>
        <p:spPr>
          <a:xfrm>
            <a:off x="10470079" y="344384"/>
            <a:ext cx="1686296" cy="534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Мультфільми</a:t>
            </a:r>
          </a:p>
        </p:txBody>
      </p:sp>
      <p:cxnSp>
        <p:nvCxnSpPr>
          <p:cNvPr id="105" name="Пряма сполучна лінія 104">
            <a:extLst>
              <a:ext uri="{FF2B5EF4-FFF2-40B4-BE49-F238E27FC236}">
                <a16:creationId xmlns:a16="http://schemas.microsoft.com/office/drawing/2014/main" id="{87AC8AE3-5D0A-4A70-BD14-7546D8A41002}"/>
              </a:ext>
            </a:extLst>
          </p:cNvPr>
          <p:cNvCxnSpPr/>
          <p:nvPr/>
        </p:nvCxnSpPr>
        <p:spPr>
          <a:xfrm>
            <a:off x="10546870" y="1390204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A0A0E1B-B304-4D72-8E9C-898D14C088C4}"/>
              </a:ext>
            </a:extLst>
          </p:cNvPr>
          <p:cNvSpPr txBox="1"/>
          <p:nvPr/>
        </p:nvSpPr>
        <p:spPr>
          <a:xfrm>
            <a:off x="10704418" y="1059278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тип</a:t>
            </a:r>
          </a:p>
        </p:txBody>
      </p:sp>
      <p:cxnSp>
        <p:nvCxnSpPr>
          <p:cNvPr id="107" name="Пряма сполучна лінія 106">
            <a:extLst>
              <a:ext uri="{FF2B5EF4-FFF2-40B4-BE49-F238E27FC236}">
                <a16:creationId xmlns:a16="http://schemas.microsoft.com/office/drawing/2014/main" id="{B9B093DA-7EDF-4193-9424-D00CE9FA97C5}"/>
              </a:ext>
            </a:extLst>
          </p:cNvPr>
          <p:cNvCxnSpPr>
            <a:cxnSpLocks/>
          </p:cNvCxnSpPr>
          <p:nvPr/>
        </p:nvCxnSpPr>
        <p:spPr>
          <a:xfrm flipV="1">
            <a:off x="10546872" y="786941"/>
            <a:ext cx="0" cy="626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Рівнобедрений трикутник 108">
            <a:extLst>
              <a:ext uri="{FF2B5EF4-FFF2-40B4-BE49-F238E27FC236}">
                <a16:creationId xmlns:a16="http://schemas.microsoft.com/office/drawing/2014/main" id="{F6F199CD-5D3A-4821-8285-80AEFFB88485}"/>
              </a:ext>
            </a:extLst>
          </p:cNvPr>
          <p:cNvSpPr/>
          <p:nvPr/>
        </p:nvSpPr>
        <p:spPr>
          <a:xfrm rot="16200000">
            <a:off x="9519433" y="481966"/>
            <a:ext cx="497856" cy="4136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111" name="Пряма сполучна лінія 110">
            <a:extLst>
              <a:ext uri="{FF2B5EF4-FFF2-40B4-BE49-F238E27FC236}">
                <a16:creationId xmlns:a16="http://schemas.microsoft.com/office/drawing/2014/main" id="{022E1EE8-5B9C-42D0-ACED-A97490DAA7BD}"/>
              </a:ext>
            </a:extLst>
          </p:cNvPr>
          <p:cNvCxnSpPr>
            <a:stCxn id="109" idx="0"/>
            <a:endCxn id="92" idx="3"/>
          </p:cNvCxnSpPr>
          <p:nvPr/>
        </p:nvCxnSpPr>
        <p:spPr>
          <a:xfrm flipH="1">
            <a:off x="9258796" y="688768"/>
            <a:ext cx="30276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Прямокутник 119">
            <a:extLst>
              <a:ext uri="{FF2B5EF4-FFF2-40B4-BE49-F238E27FC236}">
                <a16:creationId xmlns:a16="http://schemas.microsoft.com/office/drawing/2014/main" id="{8687653D-E3EC-4DC5-BE30-84C2DA1FF65D}"/>
              </a:ext>
            </a:extLst>
          </p:cNvPr>
          <p:cNvSpPr/>
          <p:nvPr/>
        </p:nvSpPr>
        <p:spPr>
          <a:xfrm>
            <a:off x="10446328" y="1721922"/>
            <a:ext cx="1686296" cy="534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Документальні</a:t>
            </a:r>
          </a:p>
        </p:txBody>
      </p:sp>
      <p:cxnSp>
        <p:nvCxnSpPr>
          <p:cNvPr id="121" name="Пряма сполучна лінія 120">
            <a:extLst>
              <a:ext uri="{FF2B5EF4-FFF2-40B4-BE49-F238E27FC236}">
                <a16:creationId xmlns:a16="http://schemas.microsoft.com/office/drawing/2014/main" id="{7248735C-79BE-4CEE-B486-39DD24D1C32D}"/>
              </a:ext>
            </a:extLst>
          </p:cNvPr>
          <p:cNvCxnSpPr/>
          <p:nvPr/>
        </p:nvCxnSpPr>
        <p:spPr>
          <a:xfrm>
            <a:off x="10523119" y="2767742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9531522-FD6D-4ADE-80A9-2F4A657C09CB}"/>
              </a:ext>
            </a:extLst>
          </p:cNvPr>
          <p:cNvSpPr txBox="1"/>
          <p:nvPr/>
        </p:nvSpPr>
        <p:spPr>
          <a:xfrm>
            <a:off x="10680667" y="2436816"/>
            <a:ext cx="1081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тематика</a:t>
            </a:r>
          </a:p>
        </p:txBody>
      </p:sp>
      <p:cxnSp>
        <p:nvCxnSpPr>
          <p:cNvPr id="123" name="Пряма сполучна лінія 122">
            <a:extLst>
              <a:ext uri="{FF2B5EF4-FFF2-40B4-BE49-F238E27FC236}">
                <a16:creationId xmlns:a16="http://schemas.microsoft.com/office/drawing/2014/main" id="{A0ED0E50-877D-4A7C-A80C-1619021F98BF}"/>
              </a:ext>
            </a:extLst>
          </p:cNvPr>
          <p:cNvCxnSpPr>
            <a:cxnSpLocks/>
          </p:cNvCxnSpPr>
          <p:nvPr/>
        </p:nvCxnSpPr>
        <p:spPr>
          <a:xfrm flipV="1">
            <a:off x="10523121" y="2164479"/>
            <a:ext cx="0" cy="626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665DAB50-9107-4369-93D2-613926D884D3}"/>
              </a:ext>
            </a:extLst>
          </p:cNvPr>
          <p:cNvSpPr txBox="1"/>
          <p:nvPr/>
        </p:nvSpPr>
        <p:spPr>
          <a:xfrm>
            <a:off x="9270671" y="332509"/>
            <a:ext cx="34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sp>
        <p:nvSpPr>
          <p:cNvPr id="125" name="Прямокутник 124">
            <a:extLst>
              <a:ext uri="{FF2B5EF4-FFF2-40B4-BE49-F238E27FC236}">
                <a16:creationId xmlns:a16="http://schemas.microsoft.com/office/drawing/2014/main" id="{5169CAAB-44BB-4637-9CE0-09249B8D6A5C}"/>
              </a:ext>
            </a:extLst>
          </p:cNvPr>
          <p:cNvSpPr/>
          <p:nvPr/>
        </p:nvSpPr>
        <p:spPr>
          <a:xfrm>
            <a:off x="10505704" y="3467594"/>
            <a:ext cx="1686296" cy="534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Художні</a:t>
            </a:r>
          </a:p>
        </p:txBody>
      </p:sp>
      <p:cxnSp>
        <p:nvCxnSpPr>
          <p:cNvPr id="126" name="Пряма сполучна лінія 125">
            <a:extLst>
              <a:ext uri="{FF2B5EF4-FFF2-40B4-BE49-F238E27FC236}">
                <a16:creationId xmlns:a16="http://schemas.microsoft.com/office/drawing/2014/main" id="{EBB576FD-83F3-4CE2-AA20-BB3C3891BEF6}"/>
              </a:ext>
            </a:extLst>
          </p:cNvPr>
          <p:cNvCxnSpPr/>
          <p:nvPr/>
        </p:nvCxnSpPr>
        <p:spPr>
          <a:xfrm>
            <a:off x="10582495" y="4513414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59502F7-23ED-45ED-A5F8-EA2554F87AFB}"/>
              </a:ext>
            </a:extLst>
          </p:cNvPr>
          <p:cNvSpPr txBox="1"/>
          <p:nvPr/>
        </p:nvSpPr>
        <p:spPr>
          <a:xfrm>
            <a:off x="10740043" y="4182488"/>
            <a:ext cx="1081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тематика</a:t>
            </a:r>
          </a:p>
        </p:txBody>
      </p:sp>
      <p:cxnSp>
        <p:nvCxnSpPr>
          <p:cNvPr id="128" name="Пряма сполучна лінія 127">
            <a:extLst>
              <a:ext uri="{FF2B5EF4-FFF2-40B4-BE49-F238E27FC236}">
                <a16:creationId xmlns:a16="http://schemas.microsoft.com/office/drawing/2014/main" id="{1FBC1D62-3BF8-4AF3-86FE-2227D6F8608A}"/>
              </a:ext>
            </a:extLst>
          </p:cNvPr>
          <p:cNvCxnSpPr>
            <a:cxnSpLocks/>
          </p:cNvCxnSpPr>
          <p:nvPr/>
        </p:nvCxnSpPr>
        <p:spPr>
          <a:xfrm flipV="1">
            <a:off x="10582497" y="3910151"/>
            <a:ext cx="0" cy="626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21AE43C-F1D1-47BB-9531-E11F623C54B4}"/>
              </a:ext>
            </a:extLst>
          </p:cNvPr>
          <p:cNvSpPr txBox="1"/>
          <p:nvPr/>
        </p:nvSpPr>
        <p:spPr>
          <a:xfrm>
            <a:off x="10161320" y="296883"/>
            <a:ext cx="34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cxnSp>
        <p:nvCxnSpPr>
          <p:cNvPr id="130" name="Пряма сполучна лінія 129">
            <a:extLst>
              <a:ext uri="{FF2B5EF4-FFF2-40B4-BE49-F238E27FC236}">
                <a16:creationId xmlns:a16="http://schemas.microsoft.com/office/drawing/2014/main" id="{72FC9D72-4389-408A-8412-A73CFC9B1696}"/>
              </a:ext>
            </a:extLst>
          </p:cNvPr>
          <p:cNvCxnSpPr>
            <a:cxnSpLocks/>
            <a:stCxn id="109" idx="3"/>
            <a:endCxn id="103" idx="1"/>
          </p:cNvCxnSpPr>
          <p:nvPr/>
        </p:nvCxnSpPr>
        <p:spPr>
          <a:xfrm flipV="1">
            <a:off x="9975163" y="611579"/>
            <a:ext cx="494916" cy="77188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Рівнобедрений трикутник 132">
            <a:extLst>
              <a:ext uri="{FF2B5EF4-FFF2-40B4-BE49-F238E27FC236}">
                <a16:creationId xmlns:a16="http://schemas.microsoft.com/office/drawing/2014/main" id="{5B23FFE8-985A-4011-A6FE-DC31AFB1372F}"/>
              </a:ext>
            </a:extLst>
          </p:cNvPr>
          <p:cNvSpPr/>
          <p:nvPr/>
        </p:nvSpPr>
        <p:spPr>
          <a:xfrm rot="18062364">
            <a:off x="9697565" y="1105875"/>
            <a:ext cx="497856" cy="4136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134" name="Пряма сполучна лінія 133">
            <a:extLst>
              <a:ext uri="{FF2B5EF4-FFF2-40B4-BE49-F238E27FC236}">
                <a16:creationId xmlns:a16="http://schemas.microsoft.com/office/drawing/2014/main" id="{13DF649A-3192-48F2-9227-83A41E3C2A83}"/>
              </a:ext>
            </a:extLst>
          </p:cNvPr>
          <p:cNvCxnSpPr>
            <a:cxnSpLocks/>
            <a:stCxn id="133" idx="0"/>
            <a:endCxn id="92" idx="3"/>
          </p:cNvCxnSpPr>
          <p:nvPr/>
        </p:nvCxnSpPr>
        <p:spPr>
          <a:xfrm flipH="1" flipV="1">
            <a:off x="9258796" y="688769"/>
            <a:ext cx="510507" cy="517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 сполучна лінія 136">
            <a:extLst>
              <a:ext uri="{FF2B5EF4-FFF2-40B4-BE49-F238E27FC236}">
                <a16:creationId xmlns:a16="http://schemas.microsoft.com/office/drawing/2014/main" id="{C5A7C277-FFDC-4DE2-B2BD-D435446F9B1E}"/>
              </a:ext>
            </a:extLst>
          </p:cNvPr>
          <p:cNvCxnSpPr>
            <a:cxnSpLocks/>
            <a:stCxn id="133" idx="3"/>
            <a:endCxn id="120" idx="1"/>
          </p:cNvCxnSpPr>
          <p:nvPr/>
        </p:nvCxnSpPr>
        <p:spPr>
          <a:xfrm>
            <a:off x="10123683" y="1419309"/>
            <a:ext cx="322645" cy="569808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Рівнобедрений трикутник 145">
            <a:extLst>
              <a:ext uri="{FF2B5EF4-FFF2-40B4-BE49-F238E27FC236}">
                <a16:creationId xmlns:a16="http://schemas.microsoft.com/office/drawing/2014/main" id="{FCA0889A-2FFE-432A-9FB4-34C9E7293250}"/>
              </a:ext>
            </a:extLst>
          </p:cNvPr>
          <p:cNvSpPr/>
          <p:nvPr/>
        </p:nvSpPr>
        <p:spPr>
          <a:xfrm rot="19608004">
            <a:off x="9721316" y="2542790"/>
            <a:ext cx="497856" cy="4136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147" name="Пряма сполучна лінія 146">
            <a:extLst>
              <a:ext uri="{FF2B5EF4-FFF2-40B4-BE49-F238E27FC236}">
                <a16:creationId xmlns:a16="http://schemas.microsoft.com/office/drawing/2014/main" id="{EBDCD0D9-978D-4094-9945-9F4F9F8BE0E7}"/>
              </a:ext>
            </a:extLst>
          </p:cNvPr>
          <p:cNvCxnSpPr>
            <a:cxnSpLocks/>
            <a:stCxn id="146" idx="0"/>
            <a:endCxn id="92" idx="3"/>
          </p:cNvCxnSpPr>
          <p:nvPr/>
        </p:nvCxnSpPr>
        <p:spPr>
          <a:xfrm flipH="1" flipV="1">
            <a:off x="9258796" y="688769"/>
            <a:ext cx="598211" cy="1887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 сполучна лінія 147">
            <a:extLst>
              <a:ext uri="{FF2B5EF4-FFF2-40B4-BE49-F238E27FC236}">
                <a16:creationId xmlns:a16="http://schemas.microsoft.com/office/drawing/2014/main" id="{193722C7-04F5-4F62-A07B-F2C91DA16936}"/>
              </a:ext>
            </a:extLst>
          </p:cNvPr>
          <p:cNvCxnSpPr>
            <a:cxnSpLocks/>
            <a:stCxn id="146" idx="3"/>
          </p:cNvCxnSpPr>
          <p:nvPr/>
        </p:nvCxnSpPr>
        <p:spPr>
          <a:xfrm>
            <a:off x="10083481" y="2922636"/>
            <a:ext cx="540977" cy="818092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Ромб 160">
            <a:extLst>
              <a:ext uri="{FF2B5EF4-FFF2-40B4-BE49-F238E27FC236}">
                <a16:creationId xmlns:a16="http://schemas.microsoft.com/office/drawing/2014/main" id="{125C981B-F46B-4966-9240-FFA390E4CC47}"/>
              </a:ext>
            </a:extLst>
          </p:cNvPr>
          <p:cNvSpPr/>
          <p:nvPr/>
        </p:nvSpPr>
        <p:spPr>
          <a:xfrm>
            <a:off x="5997038" y="0"/>
            <a:ext cx="961901" cy="110440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володіє</a:t>
            </a:r>
          </a:p>
        </p:txBody>
      </p:sp>
      <p:cxnSp>
        <p:nvCxnSpPr>
          <p:cNvPr id="164" name="Пряма сполучна лінія 163">
            <a:extLst>
              <a:ext uri="{FF2B5EF4-FFF2-40B4-BE49-F238E27FC236}">
                <a16:creationId xmlns:a16="http://schemas.microsoft.com/office/drawing/2014/main" id="{2A1BF214-732A-4A79-A6A2-35C64427CBF5}"/>
              </a:ext>
            </a:extLst>
          </p:cNvPr>
          <p:cNvCxnSpPr>
            <a:cxnSpLocks/>
            <a:stCxn id="5" idx="3"/>
            <a:endCxn id="161" idx="1"/>
          </p:cNvCxnSpPr>
          <p:nvPr/>
        </p:nvCxnSpPr>
        <p:spPr>
          <a:xfrm flipV="1">
            <a:off x="5435732" y="552203"/>
            <a:ext cx="561306" cy="166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90F3D2BD-73AA-4C4F-B52D-5C267E3250F3}"/>
              </a:ext>
            </a:extLst>
          </p:cNvPr>
          <p:cNvSpPr txBox="1"/>
          <p:nvPr/>
        </p:nvSpPr>
        <p:spPr>
          <a:xfrm>
            <a:off x="5399315" y="320634"/>
            <a:ext cx="34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11D02B8-403C-4632-807C-90407EFFEB6B}"/>
              </a:ext>
            </a:extLst>
          </p:cNvPr>
          <p:cNvSpPr txBox="1"/>
          <p:nvPr/>
        </p:nvSpPr>
        <p:spPr>
          <a:xfrm>
            <a:off x="7207531" y="28728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cxnSp>
        <p:nvCxnSpPr>
          <p:cNvPr id="169" name="Пряма сполучна лінія 168">
            <a:extLst>
              <a:ext uri="{FF2B5EF4-FFF2-40B4-BE49-F238E27FC236}">
                <a16:creationId xmlns:a16="http://schemas.microsoft.com/office/drawing/2014/main" id="{45E8DDE3-4A09-485E-8268-CD22EEC103D3}"/>
              </a:ext>
            </a:extLst>
          </p:cNvPr>
          <p:cNvCxnSpPr>
            <a:cxnSpLocks/>
            <a:stCxn id="161" idx="3"/>
            <a:endCxn id="92" idx="1"/>
          </p:cNvCxnSpPr>
          <p:nvPr/>
        </p:nvCxnSpPr>
        <p:spPr>
          <a:xfrm>
            <a:off x="6958939" y="552203"/>
            <a:ext cx="613561" cy="136566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Ромб 173">
            <a:extLst>
              <a:ext uri="{FF2B5EF4-FFF2-40B4-BE49-F238E27FC236}">
                <a16:creationId xmlns:a16="http://schemas.microsoft.com/office/drawing/2014/main" id="{C76D02F6-CD1B-471F-BC2B-0DC297F0F5DC}"/>
              </a:ext>
            </a:extLst>
          </p:cNvPr>
          <p:cNvSpPr/>
          <p:nvPr/>
        </p:nvSpPr>
        <p:spPr>
          <a:xfrm>
            <a:off x="5818910" y="1579419"/>
            <a:ext cx="1140030" cy="110440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Уч у вир</a:t>
            </a:r>
          </a:p>
        </p:txBody>
      </p:sp>
      <p:cxnSp>
        <p:nvCxnSpPr>
          <p:cNvPr id="176" name="Пряма сполучна лінія 175">
            <a:extLst>
              <a:ext uri="{FF2B5EF4-FFF2-40B4-BE49-F238E27FC236}">
                <a16:creationId xmlns:a16="http://schemas.microsoft.com/office/drawing/2014/main" id="{A99DCD30-148F-46B0-BBDE-95DE81D2F222}"/>
              </a:ext>
            </a:extLst>
          </p:cNvPr>
          <p:cNvCxnSpPr>
            <a:cxnSpLocks/>
            <a:stCxn id="174" idx="3"/>
            <a:endCxn id="92" idx="1"/>
          </p:cNvCxnSpPr>
          <p:nvPr/>
        </p:nvCxnSpPr>
        <p:spPr>
          <a:xfrm flipV="1">
            <a:off x="6958940" y="688769"/>
            <a:ext cx="613560" cy="1442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Пряма сполучна лінія 177">
            <a:extLst>
              <a:ext uri="{FF2B5EF4-FFF2-40B4-BE49-F238E27FC236}">
                <a16:creationId xmlns:a16="http://schemas.microsoft.com/office/drawing/2014/main" id="{65B0E991-E214-43A8-80BA-26143413D0B0}"/>
              </a:ext>
            </a:extLst>
          </p:cNvPr>
          <p:cNvCxnSpPr>
            <a:cxnSpLocks/>
            <a:stCxn id="174" idx="1"/>
            <a:endCxn id="5" idx="3"/>
          </p:cNvCxnSpPr>
          <p:nvPr/>
        </p:nvCxnSpPr>
        <p:spPr>
          <a:xfrm flipH="1" flipV="1">
            <a:off x="5435732" y="718457"/>
            <a:ext cx="383178" cy="1413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FB1DDE24-F9E7-42F2-88D8-32B1B67E52EB}"/>
              </a:ext>
            </a:extLst>
          </p:cNvPr>
          <p:cNvSpPr txBox="1"/>
          <p:nvPr/>
        </p:nvSpPr>
        <p:spPr>
          <a:xfrm>
            <a:off x="7243157" y="1249181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28B2B90-68D5-4D0F-AC1B-64AD5EA9F5D7}"/>
              </a:ext>
            </a:extLst>
          </p:cNvPr>
          <p:cNvSpPr txBox="1"/>
          <p:nvPr/>
        </p:nvSpPr>
        <p:spPr>
          <a:xfrm>
            <a:off x="5533111" y="102355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sp>
        <p:nvSpPr>
          <p:cNvPr id="185" name="Прямокутник 184">
            <a:extLst>
              <a:ext uri="{FF2B5EF4-FFF2-40B4-BE49-F238E27FC236}">
                <a16:creationId xmlns:a16="http://schemas.microsoft.com/office/drawing/2014/main" id="{D8A0AC6C-0657-4A7F-A61A-5170E733CA37}"/>
              </a:ext>
            </a:extLst>
          </p:cNvPr>
          <p:cNvSpPr/>
          <p:nvPr/>
        </p:nvSpPr>
        <p:spPr>
          <a:xfrm>
            <a:off x="6756269" y="3980608"/>
            <a:ext cx="1532708" cy="627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Актори</a:t>
            </a:r>
          </a:p>
        </p:txBody>
      </p:sp>
      <p:cxnSp>
        <p:nvCxnSpPr>
          <p:cNvPr id="186" name="Пряма сполучна лінія 185">
            <a:extLst>
              <a:ext uri="{FF2B5EF4-FFF2-40B4-BE49-F238E27FC236}">
                <a16:creationId xmlns:a16="http://schemas.microsoft.com/office/drawing/2014/main" id="{EAD1AE18-B273-407D-BC3E-5CF480AC1958}"/>
              </a:ext>
            </a:extLst>
          </p:cNvPr>
          <p:cNvCxnSpPr/>
          <p:nvPr/>
        </p:nvCxnSpPr>
        <p:spPr>
          <a:xfrm>
            <a:off x="6782393" y="4964677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Пряма сполучна лінія 186">
            <a:extLst>
              <a:ext uri="{FF2B5EF4-FFF2-40B4-BE49-F238E27FC236}">
                <a16:creationId xmlns:a16="http://schemas.microsoft.com/office/drawing/2014/main" id="{AC596BEE-2F97-4AC1-BD69-74B8C66285FE}"/>
              </a:ext>
            </a:extLst>
          </p:cNvPr>
          <p:cNvCxnSpPr/>
          <p:nvPr/>
        </p:nvCxnSpPr>
        <p:spPr>
          <a:xfrm>
            <a:off x="6809309" y="6114206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C2104B02-E1EA-4B98-8F40-28089D804A6C}"/>
              </a:ext>
            </a:extLst>
          </p:cNvPr>
          <p:cNvSpPr txBox="1"/>
          <p:nvPr/>
        </p:nvSpPr>
        <p:spPr>
          <a:xfrm>
            <a:off x="6895605" y="4651168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ПІБ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24367FC-F186-4B48-AAF3-1148A2CF4C53}"/>
              </a:ext>
            </a:extLst>
          </p:cNvPr>
          <p:cNvSpPr txBox="1"/>
          <p:nvPr/>
        </p:nvSpPr>
        <p:spPr>
          <a:xfrm>
            <a:off x="6931231" y="57832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паспорт* </a:t>
            </a:r>
          </a:p>
        </p:txBody>
      </p:sp>
      <p:cxnSp>
        <p:nvCxnSpPr>
          <p:cNvPr id="190" name="Пряма сполучна лінія 189">
            <a:extLst>
              <a:ext uri="{FF2B5EF4-FFF2-40B4-BE49-F238E27FC236}">
                <a16:creationId xmlns:a16="http://schemas.microsoft.com/office/drawing/2014/main" id="{1501DF55-385D-4E17-BD4F-F443C791C3BB}"/>
              </a:ext>
            </a:extLst>
          </p:cNvPr>
          <p:cNvCxnSpPr>
            <a:cxnSpLocks/>
          </p:cNvCxnSpPr>
          <p:nvPr/>
        </p:nvCxnSpPr>
        <p:spPr>
          <a:xfrm flipV="1">
            <a:off x="6773685" y="4572791"/>
            <a:ext cx="0" cy="1531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90D6AD54-D745-4FDA-A670-0B3B6D571FD1}"/>
              </a:ext>
            </a:extLst>
          </p:cNvPr>
          <p:cNvSpPr txBox="1"/>
          <p:nvPr/>
        </p:nvSpPr>
        <p:spPr>
          <a:xfrm>
            <a:off x="6907480" y="4983677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вік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9EE9186-1B98-45D2-924C-1AED6EE17A10}"/>
              </a:ext>
            </a:extLst>
          </p:cNvPr>
          <p:cNvSpPr txBox="1"/>
          <p:nvPr/>
        </p:nvSpPr>
        <p:spPr>
          <a:xfrm>
            <a:off x="6907480" y="5363688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стать</a:t>
            </a:r>
          </a:p>
        </p:txBody>
      </p:sp>
      <p:cxnSp>
        <p:nvCxnSpPr>
          <p:cNvPr id="194" name="Пряма сполучна лінія 193">
            <a:extLst>
              <a:ext uri="{FF2B5EF4-FFF2-40B4-BE49-F238E27FC236}">
                <a16:creationId xmlns:a16="http://schemas.microsoft.com/office/drawing/2014/main" id="{2A2C2F8D-C4A0-4EF9-916F-F93BCE1972D9}"/>
              </a:ext>
            </a:extLst>
          </p:cNvPr>
          <p:cNvCxnSpPr/>
          <p:nvPr/>
        </p:nvCxnSpPr>
        <p:spPr>
          <a:xfrm>
            <a:off x="6785559" y="5710445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Пряма сполучна лінія 194">
            <a:extLst>
              <a:ext uri="{FF2B5EF4-FFF2-40B4-BE49-F238E27FC236}">
                <a16:creationId xmlns:a16="http://schemas.microsoft.com/office/drawing/2014/main" id="{20B90EF4-4B91-4F46-AE18-14652C723541}"/>
              </a:ext>
            </a:extLst>
          </p:cNvPr>
          <p:cNvCxnSpPr/>
          <p:nvPr/>
        </p:nvCxnSpPr>
        <p:spPr>
          <a:xfrm>
            <a:off x="6749933" y="5342310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Прямокутник 195">
            <a:extLst>
              <a:ext uri="{FF2B5EF4-FFF2-40B4-BE49-F238E27FC236}">
                <a16:creationId xmlns:a16="http://schemas.microsoft.com/office/drawing/2014/main" id="{FCD98248-0967-4EEC-A6B3-43A63B8240BA}"/>
              </a:ext>
            </a:extLst>
          </p:cNvPr>
          <p:cNvSpPr/>
          <p:nvPr/>
        </p:nvSpPr>
        <p:spPr>
          <a:xfrm>
            <a:off x="9748852" y="5339146"/>
            <a:ext cx="1532708" cy="627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Амплуа</a:t>
            </a:r>
          </a:p>
        </p:txBody>
      </p:sp>
      <p:cxnSp>
        <p:nvCxnSpPr>
          <p:cNvPr id="197" name="Пряма сполучна лінія 196">
            <a:extLst>
              <a:ext uri="{FF2B5EF4-FFF2-40B4-BE49-F238E27FC236}">
                <a16:creationId xmlns:a16="http://schemas.microsoft.com/office/drawing/2014/main" id="{EF210D5E-83EA-4A1E-B835-B492F70DD85C}"/>
              </a:ext>
            </a:extLst>
          </p:cNvPr>
          <p:cNvCxnSpPr/>
          <p:nvPr/>
        </p:nvCxnSpPr>
        <p:spPr>
          <a:xfrm>
            <a:off x="9846227" y="6287589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Пряма сполучна лінія 197">
            <a:extLst>
              <a:ext uri="{FF2B5EF4-FFF2-40B4-BE49-F238E27FC236}">
                <a16:creationId xmlns:a16="http://schemas.microsoft.com/office/drawing/2014/main" id="{466A2257-87AD-46DE-9A49-BB5100DDAB22}"/>
              </a:ext>
            </a:extLst>
          </p:cNvPr>
          <p:cNvCxnSpPr/>
          <p:nvPr/>
        </p:nvCxnSpPr>
        <p:spPr>
          <a:xfrm>
            <a:off x="9837517" y="6653347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2783F30A-0420-4282-89C7-0A521D45785B}"/>
              </a:ext>
            </a:extLst>
          </p:cNvPr>
          <p:cNvSpPr txBox="1"/>
          <p:nvPr/>
        </p:nvSpPr>
        <p:spPr>
          <a:xfrm>
            <a:off x="9959439" y="5974080"/>
            <a:ext cx="107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назва*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4000E55-9D53-4F84-A259-B88DC960B178}"/>
              </a:ext>
            </a:extLst>
          </p:cNvPr>
          <p:cNvSpPr txBox="1"/>
          <p:nvPr/>
        </p:nvSpPr>
        <p:spPr>
          <a:xfrm>
            <a:off x="9959439" y="6322421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опис</a:t>
            </a:r>
          </a:p>
        </p:txBody>
      </p:sp>
      <p:cxnSp>
        <p:nvCxnSpPr>
          <p:cNvPr id="201" name="Пряма сполучна лінія 200">
            <a:extLst>
              <a:ext uri="{FF2B5EF4-FFF2-40B4-BE49-F238E27FC236}">
                <a16:creationId xmlns:a16="http://schemas.microsoft.com/office/drawing/2014/main" id="{23678578-EA1C-44FD-88DF-E059F785DFD9}"/>
              </a:ext>
            </a:extLst>
          </p:cNvPr>
          <p:cNvCxnSpPr/>
          <p:nvPr/>
        </p:nvCxnSpPr>
        <p:spPr>
          <a:xfrm flipV="1">
            <a:off x="9837519" y="5895703"/>
            <a:ext cx="0" cy="757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BF649657-5478-4184-BCF4-38E19614C439}"/>
              </a:ext>
            </a:extLst>
          </p:cNvPr>
          <p:cNvSpPr/>
          <p:nvPr/>
        </p:nvSpPr>
        <p:spPr>
          <a:xfrm>
            <a:off x="8905704" y="4096987"/>
            <a:ext cx="843148" cy="92627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роль</a:t>
            </a:r>
          </a:p>
        </p:txBody>
      </p:sp>
      <p:cxnSp>
        <p:nvCxnSpPr>
          <p:cNvPr id="204" name="Пряма сполучна лінія 203">
            <a:extLst>
              <a:ext uri="{FF2B5EF4-FFF2-40B4-BE49-F238E27FC236}">
                <a16:creationId xmlns:a16="http://schemas.microsoft.com/office/drawing/2014/main" id="{2EEED79F-E686-481D-8AC4-3383DA6A9B57}"/>
              </a:ext>
            </a:extLst>
          </p:cNvPr>
          <p:cNvCxnSpPr>
            <a:stCxn id="185" idx="3"/>
            <a:endCxn id="202" idx="1"/>
          </p:cNvCxnSpPr>
          <p:nvPr/>
        </p:nvCxnSpPr>
        <p:spPr>
          <a:xfrm>
            <a:off x="8288977" y="4294117"/>
            <a:ext cx="616727" cy="266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Пряма сполучна лінія 205">
            <a:extLst>
              <a:ext uri="{FF2B5EF4-FFF2-40B4-BE49-F238E27FC236}">
                <a16:creationId xmlns:a16="http://schemas.microsoft.com/office/drawing/2014/main" id="{04A00768-4066-4FC2-9B68-99D490B4D922}"/>
              </a:ext>
            </a:extLst>
          </p:cNvPr>
          <p:cNvCxnSpPr>
            <a:cxnSpLocks/>
            <a:stCxn id="202" idx="2"/>
            <a:endCxn id="196" idx="1"/>
          </p:cNvCxnSpPr>
          <p:nvPr/>
        </p:nvCxnSpPr>
        <p:spPr>
          <a:xfrm>
            <a:off x="9327278" y="5023262"/>
            <a:ext cx="421574" cy="629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ряма сполучна лінія 215">
            <a:extLst>
              <a:ext uri="{FF2B5EF4-FFF2-40B4-BE49-F238E27FC236}">
                <a16:creationId xmlns:a16="http://schemas.microsoft.com/office/drawing/2014/main" id="{59F1C443-DA92-4EA7-A09D-51347E1B3042}"/>
              </a:ext>
            </a:extLst>
          </p:cNvPr>
          <p:cNvCxnSpPr>
            <a:cxnSpLocks/>
            <a:stCxn id="202" idx="3"/>
            <a:endCxn id="125" idx="1"/>
          </p:cNvCxnSpPr>
          <p:nvPr/>
        </p:nvCxnSpPr>
        <p:spPr>
          <a:xfrm flipV="1">
            <a:off x="9748852" y="3734789"/>
            <a:ext cx="756852" cy="825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B520D2A3-F01C-437E-88CE-4155F7EEA359}"/>
              </a:ext>
            </a:extLst>
          </p:cNvPr>
          <p:cNvSpPr txBox="1"/>
          <p:nvPr/>
        </p:nvSpPr>
        <p:spPr>
          <a:xfrm>
            <a:off x="8323811" y="4016131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0D9C40E-9549-4BDF-9C2D-916A076E82FD}"/>
              </a:ext>
            </a:extLst>
          </p:cNvPr>
          <p:cNvSpPr txBox="1"/>
          <p:nvPr/>
        </p:nvSpPr>
        <p:spPr>
          <a:xfrm>
            <a:off x="10033858" y="3647996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DED6788-2EB4-42FC-B3C5-E2E3CF4D1C1D}"/>
              </a:ext>
            </a:extLst>
          </p:cNvPr>
          <p:cNvSpPr txBox="1"/>
          <p:nvPr/>
        </p:nvSpPr>
        <p:spPr>
          <a:xfrm>
            <a:off x="9333214" y="5500547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sp>
        <p:nvSpPr>
          <p:cNvPr id="242" name="Ромб 241">
            <a:extLst>
              <a:ext uri="{FF2B5EF4-FFF2-40B4-BE49-F238E27FC236}">
                <a16:creationId xmlns:a16="http://schemas.microsoft.com/office/drawing/2014/main" id="{6C875395-8D8C-4874-84B3-B8A609184C72}"/>
              </a:ext>
            </a:extLst>
          </p:cNvPr>
          <p:cNvSpPr/>
          <p:nvPr/>
        </p:nvSpPr>
        <p:spPr>
          <a:xfrm>
            <a:off x="8205060" y="2523506"/>
            <a:ext cx="1283324" cy="92627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контракт</a:t>
            </a:r>
          </a:p>
        </p:txBody>
      </p:sp>
      <p:cxnSp>
        <p:nvCxnSpPr>
          <p:cNvPr id="244" name="Пряма сполучна лінія 243">
            <a:extLst>
              <a:ext uri="{FF2B5EF4-FFF2-40B4-BE49-F238E27FC236}">
                <a16:creationId xmlns:a16="http://schemas.microsoft.com/office/drawing/2014/main" id="{F8D2A4CE-8510-4137-9A0D-071C8A96A0BC}"/>
              </a:ext>
            </a:extLst>
          </p:cNvPr>
          <p:cNvCxnSpPr>
            <a:cxnSpLocks/>
            <a:stCxn id="242" idx="1"/>
            <a:endCxn id="185" idx="0"/>
          </p:cNvCxnSpPr>
          <p:nvPr/>
        </p:nvCxnSpPr>
        <p:spPr>
          <a:xfrm flipH="1">
            <a:off x="7522623" y="2986644"/>
            <a:ext cx="682437" cy="993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Пряма сполучна лінія 249">
            <a:extLst>
              <a:ext uri="{FF2B5EF4-FFF2-40B4-BE49-F238E27FC236}">
                <a16:creationId xmlns:a16="http://schemas.microsoft.com/office/drawing/2014/main" id="{AE7777AB-56BE-41C3-B01E-EEE9F4C0CE0B}"/>
              </a:ext>
            </a:extLst>
          </p:cNvPr>
          <p:cNvCxnSpPr>
            <a:cxnSpLocks/>
            <a:stCxn id="125" idx="1"/>
            <a:endCxn id="242" idx="3"/>
          </p:cNvCxnSpPr>
          <p:nvPr/>
        </p:nvCxnSpPr>
        <p:spPr>
          <a:xfrm flipH="1" flipV="1">
            <a:off x="9488384" y="2986644"/>
            <a:ext cx="1017320" cy="748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244D79B6-4DB7-4196-87F8-E55DB809F720}"/>
              </a:ext>
            </a:extLst>
          </p:cNvPr>
          <p:cNvSpPr txBox="1"/>
          <p:nvPr/>
        </p:nvSpPr>
        <p:spPr>
          <a:xfrm>
            <a:off x="7409410" y="3446116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DE19848-F982-46B9-B6FC-2AF13594FDBC}"/>
              </a:ext>
            </a:extLst>
          </p:cNvPr>
          <p:cNvSpPr txBox="1"/>
          <p:nvPr/>
        </p:nvSpPr>
        <p:spPr>
          <a:xfrm>
            <a:off x="9891353" y="3184859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  <p:cxnSp>
        <p:nvCxnSpPr>
          <p:cNvPr id="260" name="Пряма сполучна лінія 259">
            <a:extLst>
              <a:ext uri="{FF2B5EF4-FFF2-40B4-BE49-F238E27FC236}">
                <a16:creationId xmlns:a16="http://schemas.microsoft.com/office/drawing/2014/main" id="{FE0B65FB-9FDB-42E4-9254-B417F094D5CD}"/>
              </a:ext>
            </a:extLst>
          </p:cNvPr>
          <p:cNvCxnSpPr/>
          <p:nvPr/>
        </p:nvCxnSpPr>
        <p:spPr>
          <a:xfrm>
            <a:off x="8222473" y="3720142"/>
            <a:ext cx="1471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F66DB5AE-8EAC-4C14-9E0C-0AF089FF430C}"/>
              </a:ext>
            </a:extLst>
          </p:cNvPr>
          <p:cNvSpPr txBox="1"/>
          <p:nvPr/>
        </p:nvSpPr>
        <p:spPr>
          <a:xfrm>
            <a:off x="8427521" y="3389216"/>
            <a:ext cx="983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гонорар</a:t>
            </a:r>
          </a:p>
        </p:txBody>
      </p:sp>
      <p:sp>
        <p:nvSpPr>
          <p:cNvPr id="262" name="Ромб 261">
            <a:extLst>
              <a:ext uri="{FF2B5EF4-FFF2-40B4-BE49-F238E27FC236}">
                <a16:creationId xmlns:a16="http://schemas.microsoft.com/office/drawing/2014/main" id="{DD17FB75-7FB9-47FD-81D2-6E1AA4F9D72A}"/>
              </a:ext>
            </a:extLst>
          </p:cNvPr>
          <p:cNvSpPr/>
          <p:nvPr/>
        </p:nvSpPr>
        <p:spPr>
          <a:xfrm>
            <a:off x="3135086" y="4643252"/>
            <a:ext cx="1282535" cy="9856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шлюб</a:t>
            </a:r>
          </a:p>
        </p:txBody>
      </p:sp>
      <p:cxnSp>
        <p:nvCxnSpPr>
          <p:cNvPr id="264" name="Пряма сполучна лінія 263">
            <a:extLst>
              <a:ext uri="{FF2B5EF4-FFF2-40B4-BE49-F238E27FC236}">
                <a16:creationId xmlns:a16="http://schemas.microsoft.com/office/drawing/2014/main" id="{383815A2-CA3D-4C9F-AD3D-BD79F67616F4}"/>
              </a:ext>
            </a:extLst>
          </p:cNvPr>
          <p:cNvCxnSpPr>
            <a:stCxn id="262" idx="0"/>
          </p:cNvCxnSpPr>
          <p:nvPr/>
        </p:nvCxnSpPr>
        <p:spPr>
          <a:xfrm flipV="1">
            <a:off x="3776354" y="4013860"/>
            <a:ext cx="3051958" cy="629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 сполучна лінія 265">
            <a:extLst>
              <a:ext uri="{FF2B5EF4-FFF2-40B4-BE49-F238E27FC236}">
                <a16:creationId xmlns:a16="http://schemas.microsoft.com/office/drawing/2014/main" id="{336BBC63-C509-4351-B32E-BB832790D4F6}"/>
              </a:ext>
            </a:extLst>
          </p:cNvPr>
          <p:cNvCxnSpPr>
            <a:stCxn id="262" idx="2"/>
          </p:cNvCxnSpPr>
          <p:nvPr/>
        </p:nvCxnSpPr>
        <p:spPr>
          <a:xfrm flipV="1">
            <a:off x="3776354" y="4453247"/>
            <a:ext cx="3004456" cy="1175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1A787EC4-45A8-4A60-B3C0-98D930391096}"/>
              </a:ext>
            </a:extLst>
          </p:cNvPr>
          <p:cNvSpPr txBox="1"/>
          <p:nvPr/>
        </p:nvSpPr>
        <p:spPr>
          <a:xfrm>
            <a:off x="6254339" y="3752603"/>
            <a:ext cx="34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C554A52-7A33-49A9-9730-A2BDFA038F89}"/>
              </a:ext>
            </a:extLst>
          </p:cNvPr>
          <p:cNvSpPr txBox="1"/>
          <p:nvPr/>
        </p:nvSpPr>
        <p:spPr>
          <a:xfrm>
            <a:off x="6218713" y="4275118"/>
            <a:ext cx="34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</a:p>
        </p:txBody>
      </p:sp>
      <p:sp>
        <p:nvSpPr>
          <p:cNvPr id="269" name="Прямокутник: округлені кути 268">
            <a:extLst>
              <a:ext uri="{FF2B5EF4-FFF2-40B4-BE49-F238E27FC236}">
                <a16:creationId xmlns:a16="http://schemas.microsoft.com/office/drawing/2014/main" id="{46C47CBE-58DB-4598-AC3E-3919881A537E}"/>
              </a:ext>
            </a:extLst>
          </p:cNvPr>
          <p:cNvSpPr/>
          <p:nvPr/>
        </p:nvSpPr>
        <p:spPr>
          <a:xfrm>
            <a:off x="451262" y="4548249"/>
            <a:ext cx="2137559" cy="5462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err="1"/>
              <a:t>Чол</a:t>
            </a:r>
            <a:r>
              <a:rPr lang="uk-UA" dirty="0"/>
              <a:t>. Стать != </a:t>
            </a:r>
            <a:r>
              <a:rPr lang="uk-UA" dirty="0" err="1"/>
              <a:t>Жін.Стать</a:t>
            </a:r>
            <a:endParaRPr lang="uk-UA" dirty="0"/>
          </a:p>
        </p:txBody>
      </p:sp>
      <p:cxnSp>
        <p:nvCxnSpPr>
          <p:cNvPr id="271" name="Пряма сполучна лінія 270">
            <a:extLst>
              <a:ext uri="{FF2B5EF4-FFF2-40B4-BE49-F238E27FC236}">
                <a16:creationId xmlns:a16="http://schemas.microsoft.com/office/drawing/2014/main" id="{14BC12FF-5BE8-4782-8CD3-F45CD19446D8}"/>
              </a:ext>
            </a:extLst>
          </p:cNvPr>
          <p:cNvCxnSpPr>
            <a:cxnSpLocks/>
            <a:stCxn id="269" idx="3"/>
            <a:endCxn id="262" idx="1"/>
          </p:cNvCxnSpPr>
          <p:nvPr/>
        </p:nvCxnSpPr>
        <p:spPr>
          <a:xfrm>
            <a:off x="2588821" y="4821382"/>
            <a:ext cx="546265" cy="3146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387B45CF-B54C-465F-A7D6-3427814AFDB0}"/>
              </a:ext>
            </a:extLst>
          </p:cNvPr>
          <p:cNvSpPr txBox="1"/>
          <p:nvPr/>
        </p:nvSpPr>
        <p:spPr>
          <a:xfrm>
            <a:off x="4762005" y="4393870"/>
            <a:ext cx="68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err="1"/>
              <a:t>чол</a:t>
            </a:r>
            <a:endParaRPr lang="uk-UA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BE5B54A4-E814-445C-BE21-F53F2BB5FA3B}"/>
              </a:ext>
            </a:extLst>
          </p:cNvPr>
          <p:cNvSpPr txBox="1"/>
          <p:nvPr/>
        </p:nvSpPr>
        <p:spPr>
          <a:xfrm>
            <a:off x="4465122" y="4868883"/>
            <a:ext cx="68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err="1"/>
              <a:t>жін</a:t>
            </a:r>
            <a:endParaRPr lang="uk-UA" dirty="0"/>
          </a:p>
        </p:txBody>
      </p:sp>
      <p:sp>
        <p:nvSpPr>
          <p:cNvPr id="276" name="Ромб 275">
            <a:extLst>
              <a:ext uri="{FF2B5EF4-FFF2-40B4-BE49-F238E27FC236}">
                <a16:creationId xmlns:a16="http://schemas.microsoft.com/office/drawing/2014/main" id="{5B661710-7CD7-475C-B729-0B57BD11DCD5}"/>
              </a:ext>
            </a:extLst>
          </p:cNvPr>
          <p:cNvSpPr/>
          <p:nvPr/>
        </p:nvSpPr>
        <p:spPr>
          <a:xfrm>
            <a:off x="4013860" y="5765470"/>
            <a:ext cx="1282535" cy="9856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батьківство</a:t>
            </a:r>
          </a:p>
        </p:txBody>
      </p:sp>
      <p:cxnSp>
        <p:nvCxnSpPr>
          <p:cNvPr id="278" name="Пряма сполучна лінія 277">
            <a:extLst>
              <a:ext uri="{FF2B5EF4-FFF2-40B4-BE49-F238E27FC236}">
                <a16:creationId xmlns:a16="http://schemas.microsoft.com/office/drawing/2014/main" id="{2CB7316F-34E1-45CD-9698-B5D482EB5AF4}"/>
              </a:ext>
            </a:extLst>
          </p:cNvPr>
          <p:cNvCxnSpPr>
            <a:stCxn id="276" idx="0"/>
          </p:cNvCxnSpPr>
          <p:nvPr/>
        </p:nvCxnSpPr>
        <p:spPr>
          <a:xfrm flipV="1">
            <a:off x="4655128" y="4465122"/>
            <a:ext cx="2113807" cy="1300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Пряма сполучна лінія 279">
            <a:extLst>
              <a:ext uri="{FF2B5EF4-FFF2-40B4-BE49-F238E27FC236}">
                <a16:creationId xmlns:a16="http://schemas.microsoft.com/office/drawing/2014/main" id="{D55B2854-D320-4A8C-8A3E-1AAC00BA307C}"/>
              </a:ext>
            </a:extLst>
          </p:cNvPr>
          <p:cNvCxnSpPr>
            <a:stCxn id="276" idx="3"/>
          </p:cNvCxnSpPr>
          <p:nvPr/>
        </p:nvCxnSpPr>
        <p:spPr>
          <a:xfrm flipV="1">
            <a:off x="5296395" y="4572000"/>
            <a:ext cx="1531917" cy="1686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76388CBC-E7C1-4447-8146-0FA295C20E3E}"/>
              </a:ext>
            </a:extLst>
          </p:cNvPr>
          <p:cNvSpPr txBox="1"/>
          <p:nvPr/>
        </p:nvSpPr>
        <p:spPr>
          <a:xfrm>
            <a:off x="4603669" y="5367647"/>
            <a:ext cx="34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2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01D0442A-0E1A-4EB5-86AC-790F0B2B0353}"/>
              </a:ext>
            </a:extLst>
          </p:cNvPr>
          <p:cNvSpPr txBox="1"/>
          <p:nvPr/>
        </p:nvSpPr>
        <p:spPr>
          <a:xfrm>
            <a:off x="5390605" y="6070563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</a:t>
            </a:r>
          </a:p>
        </p:txBody>
      </p:sp>
    </p:spTree>
    <p:extLst>
      <p:ext uri="{BB962C8B-B14F-4D97-AF65-F5344CB8AC3E}">
        <p14:creationId xmlns:p14="http://schemas.microsoft.com/office/powerpoint/2010/main" val="42857847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76</Words>
  <Application>Microsoft Office PowerPoint</Application>
  <PresentationFormat>Широкий екран</PresentationFormat>
  <Paragraphs>59</Paragraphs>
  <Slides>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Ігор Завадський</dc:creator>
  <cp:lastModifiedBy>Ігор Завадський</cp:lastModifiedBy>
  <cp:revision>1</cp:revision>
  <dcterms:created xsi:type="dcterms:W3CDTF">2026-09-09T14:55:14Z</dcterms:created>
  <dcterms:modified xsi:type="dcterms:W3CDTF">2026-09-09T18:20:25Z</dcterms:modified>
</cp:coreProperties>
</file>