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68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icon_brain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692640" y="548640"/>
            <a:ext cx="1554480" cy="1554480"/>
          </a:xfrm>
          <a:prstGeom prst="rect">
            <a:avLst/>
          </a:prstGeom>
        </p:spPr>
      </p:pic>
      <p:pic>
        <p:nvPicPr>
          <p:cNvPr id="3" name="Image 1" descr="/home/claude/pptx_work/icon_balanc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0607040" y="201168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92024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СПІВВІДНОШЕННЯ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ІНТЕЛЕКТУАЛЬНОЇ ТА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ТВОРЧОЇ ДІЯЛЬНОСТІ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Вербицький Артем та </a:t>
            </a:r>
            <a:r>
              <a:rPr lang="uk-UA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Оніщенко</a:t>
            </a:r>
            <a:r>
              <a:rPr lang="uk-UA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Дар’я, </a:t>
            </a:r>
            <a:r>
              <a:rPr lang="uk-UA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ШІ-1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31520" y="5029200"/>
            <a:ext cx="822960" cy="54864"/>
          </a:xfrm>
          <a:prstGeom prst="rect">
            <a:avLst/>
          </a:prstGeom>
          <a:solidFill>
            <a:srgbClr val="E8B54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Актуальність теми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pptx_work/icon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70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Ототожнення понять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011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побуті інтелект і творчість часто вважають синонімами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x_work/icon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26440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017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Складніший зв'язок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Наукові дослідження показують неоднозначність цього співвідношення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480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ptx_work/icon_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8172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4348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Правове значення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4846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Розрізнення важливе для системи права інтелектуальної власності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48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/home/claude/pptx_work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9659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749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Інтелектуальна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діяльність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57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Поняття інтелектуальної діяльності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128016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Пізнання дійсності, розв'язання задач і накопичення знань за допомогою логічного мислення.
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послідовність, аналітичність, робота з абстрактними поняттями, причинно-наслідкові зв'язки.
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0" y="3566160"/>
            <a:ext cx="7132320" cy="237744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pic>
        <p:nvPicPr>
          <p:cNvPr id="8" name="Image 1" descr="/home/claude/pptx_work/icon_gave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94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38221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Правовий аспект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4343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uk-UA" sz="135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Технічні, раціональні результати — винаходи, корисні моделі, промислові зразки регулюються Книгою четвертою ЦК України та Законом України «Про охорону прав на винаходи і корисні моделі» (патентне право).</a:t>
            </a:r>
            <a:endParaRPr lang="uk-UA" sz="13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7200" y="0"/>
            <a:ext cx="42048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/home/claude/pptx_work/icon_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9659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85760" y="37947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Творча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діяльність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Поняття творчої діяльності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принципово нового, а не пізнання вже наявного.
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оригінальність, новизна результату, вихід за межі шаблонів, уява та інтуїція.
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7132320" cy="2377440"/>
          </a:xfrm>
          <a:prstGeom prst="roundRect">
            <a:avLst>
              <a:gd name="adj" fmla="val 4615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pic>
        <p:nvPicPr>
          <p:cNvPr id="8" name="Image 1" descr="/home/claude/pptx_work/icon_boo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4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8221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Правовий аспект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343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Літературні, музичні, художні, аудіовізуальні твори охороняються Законом України «Про авторське право і суміжні права». Головний критерій охорони — оригінальність (творчий характер), а не складність праці.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Спільні риси інтелекту й творчості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51660" y="2240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496312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 мислення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процеси — форми мисленнєвої активності людини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92140" y="2240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work/icon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308" y="2496312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Потреба у знаннях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Потребують знань, досвіду, вміння працювати з інформацією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32620" y="2240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work/icon_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2496312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Взаємне живлення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39776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Творчість спирається на знання; складні задачі часто вимагають нестандартних підходів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Конвергентне та дивергентне мислення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pic>
        <p:nvPicPr>
          <p:cNvPr id="4" name="Image 0" descr="/home/claude/pptx_work/icon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9202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Конвергентне мислення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6616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єдиного правильного розв'язку задачі за наявними даними й алгоритмами. Основа інтелектуальної діяльності.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7F8FC"/>
          </a:solidFill>
          <a:ln w="25400">
            <a:solidFill>
              <a:srgbClr val="E8B54D"/>
            </a:solidFill>
            <a:prstDash val="solid"/>
          </a:ln>
        </p:spPr>
      </p:sp>
      <p:pic>
        <p:nvPicPr>
          <p:cNvPr id="8" name="Image 1" descr="/home/claude/pptx_work/icon_lightbul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92024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Дивергентне мислення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356616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Генерування безлічі можливих варіантів розв'язання без єдиної «правильної» відповіді. Основа творчої діяльності, значна роль інтуїції.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«Теорія порогу»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0" cy="3291840"/>
          </a:xfrm>
          <a:prstGeom prst="line">
            <a:avLst/>
          </a:prstGeom>
          <a:noFill/>
          <a:ln w="19050">
            <a:solidFill>
              <a:srgbClr val="5A62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120640"/>
            <a:ext cx="6035040" cy="0"/>
          </a:xfrm>
          <a:prstGeom prst="line">
            <a:avLst/>
          </a:prstGeom>
          <a:noFill/>
          <a:ln w="19050">
            <a:solidFill>
              <a:srgbClr val="5A62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2960" y="2651760"/>
            <a:ext cx="2715768" cy="246888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38728" y="2651760"/>
            <a:ext cx="3319272" cy="0"/>
          </a:xfrm>
          <a:prstGeom prst="line">
            <a:avLst/>
          </a:prstGeom>
          <a:noFill/>
          <a:ln w="38100">
            <a:solidFill>
              <a:srgbClr val="E8B5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38728" y="1828800"/>
            <a:ext cx="0" cy="3291840"/>
          </a:xfrm>
          <a:prstGeom prst="line">
            <a:avLst/>
          </a:prstGeom>
          <a:noFill/>
          <a:ln w="12700">
            <a:solidFill>
              <a:srgbClr val="5A627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172968" y="5166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 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Творчість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82880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Певний рівень інтелекту — необхідна, але не достатня умова творчих досягнень.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досягнення порогу подальше зростання IQ вже не гарантує пропорційного зростання творчих здібностей.
Тому трапляються люди з високим IQ без творчої іскри — і видатні митці із середніми показниками тестів інтелекту.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Приклади прояву в різних сферах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141B4D"/>
          </a:solidFill>
          <a:ln/>
        </p:spPr>
      </p:sp>
      <p:pic>
        <p:nvPicPr>
          <p:cNvPr id="4" name="Image 0" descr="/home/claude/pptx_work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2194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Наука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Глибокі знання предметної галузі + сміливість висувати нові гіпотези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8912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141B4D"/>
          </a:solidFill>
          <a:ln/>
        </p:spPr>
      </p:sp>
      <p:pic>
        <p:nvPicPr>
          <p:cNvPr id="8" name="Image 1" descr="/home/claude/pptx_work/icon_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580" y="21945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1772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Мистецтво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Домінує творчий компонент, але технічна майстерність — результат інтелектуальної роботи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0" y="173736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141B4D"/>
          </a:solidFill>
          <a:ln/>
        </p:spPr>
      </p:sp>
      <p:pic>
        <p:nvPicPr>
          <p:cNvPr id="12" name="Image 2" descr="/home/claude/pptx_work/icon_ch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19456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5820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8549640" y="37490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Точний розрахунок поєднується з нестандартним інженерним рішенням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_work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Правове регулювання: авторське право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231136"/>
            <a:ext cx="603504" cy="603504"/>
          </a:xfrm>
          <a:prstGeom prst="ellipse">
            <a:avLst/>
          </a:prstGeom>
          <a:solidFill>
            <a:srgbClr val="E8B54D"/>
          </a:solidFill>
          <a:ln/>
        </p:spPr>
      </p:sp>
      <p:pic>
        <p:nvPicPr>
          <p:cNvPr id="7" name="Image 1" descr="/home/claude/pptx_work/icon_con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3774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057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20574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України «Про авторське право і суміжні права»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3694176"/>
            <a:ext cx="603504" cy="603504"/>
          </a:xfrm>
          <a:prstGeom prst="ellipse">
            <a:avLst/>
          </a:prstGeom>
          <a:solidFill>
            <a:srgbClr val="E8B54D"/>
          </a:solidFill>
          <a:ln/>
        </p:spPr>
      </p:sp>
      <p:pic>
        <p:nvPicPr>
          <p:cNvPr id="12" name="Image 2" descr="/home/claude/pptx_work/icon_pal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404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охорони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35204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Оригінальність — творчий характер діяльності автора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5157216"/>
            <a:ext cx="603504" cy="603504"/>
          </a:xfrm>
          <a:prstGeom prst="ellipse">
            <a:avLst/>
          </a:prstGeom>
          <a:solidFill>
            <a:srgbClr val="E8B54D"/>
          </a:solidFill>
          <a:ln/>
        </p:spPr>
      </p:sp>
      <p:pic>
        <p:nvPicPr>
          <p:cNvPr id="17" name="Image 3" descr="/home/claude/pptx_work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30352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Об'єкти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4983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Літературні, музичні, художні, аудіовізуальні твори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_work/icon_g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Правове регулювання: патентне право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23113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pptx_work/icon_con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3774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057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20574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України «Про охорону прав на винаходи і корисні моделі»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369417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ptx_work/icon_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404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охорони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206240" y="35204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Винахідницький рівень — неочевидність рішення для фахівця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515721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x_work/icon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30352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Об'єкти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498348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Винаходи, корисні моделі, промислові зразки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Гібридні об'єкти права інтелектуальної власності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Межа між «чистою» інтелектуальною й «чистою» творчою діяльністю на практиці умовна — охорона будується на функціональному критерії, а не на психологічному механізмі створення.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3154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Комп'ютерні програми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Охороняються як об'єкти авторського права, попри значну частку алгоритмічного (інтелектуального) мислення у їх створенні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651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_con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3154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Топографії мікросхем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Окремий об'єкт правової охорони, що поєднує технічну точність і оригінальність рішення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6517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578340" y="2971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work/icon_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0" y="3154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Раціоналізаторські пропозиції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470916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Практичні вдосконалення на межі інтелектуального розрахунку та творчого підходу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icon_balance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692640" y="54864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Висновок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1520" y="1417320"/>
            <a:ext cx="822960" cy="54864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993392"/>
            <a:ext cx="164592" cy="16459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81051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 і творчість — не протилежні, а взаємопов'язані складові мислення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044952"/>
            <a:ext cx="164592" cy="16459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286207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 створює базу знань; творчість дозволяє вийти за межі відомого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096512"/>
            <a:ext cx="164592" cy="16459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391363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Дуалізм авторського й патентного права відображає цю ж діалектику на рівні норм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5148072"/>
            <a:ext cx="164592" cy="164592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34440" y="4965192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Гармонійне поєднання обох типів мислення — умова прогресу науки, культури й техніки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564</Words>
  <Application>Microsoft Office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Артем Вербицький</cp:lastModifiedBy>
  <cp:revision>4</cp:revision>
  <dcterms:created xsi:type="dcterms:W3CDTF">2026-09-12T11:20:51Z</dcterms:created>
  <dcterms:modified xsi:type="dcterms:W3CDTF">2026-09-12T11:43:51Z</dcterms:modified>
</cp:coreProperties>
</file>